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1A1612"/>
                </a:solidFill>
                <a:latin typeface="Helvetica Neue"/>
              </a:rPr>
              <a:t>From Nanostores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B8332A"/>
                </a:solidFill>
                <a:latin typeface="Helvetica Neue"/>
              </a:rPr>
              <a:t>to Classrooms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7315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584448"/>
            <a:ext cx="7132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4EFE6"/>
                </a:solidFill>
                <a:latin typeface="Helvetica Neue"/>
              </a:rPr>
              <a:t>What keeps people from buying healthy products in Mexico's nanostores?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Fernanda Ita · Alexis Marcos · Carlos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206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Helvetica Neue"/>
              </a:rPr>
              <a:t>MIT LiftLab 2026  ·  Tec de Monterrey, Campus SLP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E8E2D8"/>
          </a:solidFill>
          <a:ln w="6350">
            <a:solidFill>
              <a:srgbClr val="8A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DATA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612"/>
                </a:solidFill>
                <a:latin typeface="Helvetica Neue"/>
              </a:rPr>
              <a:t>3,040 real field records
(MIT dataset: 4 actor types)
+ 104 own survey responses
(San Luis Potosí)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7D6E"/>
                </a:solidFill>
                <a:latin typeface="Helvetica Neue"/>
              </a:rPr>
              <a:t>"We start with a failure — because the failure was the first answer."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METHODOLOGY &amp;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E8E2D8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332A"/>
                </a:solidFill>
                <a:latin typeface="Helvetica Neue"/>
              </a:rPr>
              <a:t>ACT 1 — The model that failed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Helvetica Neue"/>
              </a:rPr>
              <a:t>Linear regression: predict spending from demographics &amp; budget.
R² = 0.032 — explains almost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97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332A"/>
                </a:solidFill>
                <a:latin typeface="Helvetica Neue"/>
              </a:rPr>
              <a:t>R² = 0.032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29000"/>
            <a:ext cx="5029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021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Helvetica Neue"/>
              </a:rPr>
              <a:t>Not a failure. Our first finding:
behavior doesn't depend on WHO you 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62A"/>
                </a:solidFill>
                <a:latin typeface="Helvetica Neue"/>
              </a:rPr>
              <a:t>ACT 2 — We changed 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612"/>
                </a:solidFill>
                <a:latin typeface="Helvetica Neue"/>
              </a:rPr>
              <a:t>Instead of how much someone spends,
we asked: what gets bought, and 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8862A"/>
                </a:solidFill>
                <a:latin typeface="Helvetica Neue"/>
              </a:rPr>
              <a:t>AUC = 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Random Forest (AI) → AUC = 0.55
Barely better than a coin flip.
The barrier is systemic, not personal.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Helvetica Neue"/>
              </a:rPr>
              <a:t>1 of 2 — QUANTITATIVE METHODS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886200"/>
            <a:ext cx="55778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RESULTS — THE REAL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612"/>
                </a:solidFill>
                <a:latin typeface="Helvetica Neue"/>
              </a:rPr>
              <a:t>What the data actually shows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8046720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78240" y="1371600"/>
            <a:ext cx="3108960" cy="25603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5087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EFE6"/>
                </a:solidFill>
                <a:latin typeface="Helvetica Neue"/>
              </a:rPr>
              <a:t>85% know it's unhealthy
63% say they'd buy healthier
Only 24% actually do
→ 39-point intention-action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4069080"/>
            <a:ext cx="3108960" cy="12801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16052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EFE6"/>
                </a:solidFill>
                <a:latin typeface="Helvetica Neue"/>
              </a:rPr>
              <a:t>The problem is NOT who they are.
The problem is what the system offers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Helvetica Neue"/>
              </a:rPr>
              <a:t>2 of 2 —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OWN SURVEY — INDEPENDENT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E8E2D8"/>
                </a:solidFill>
                <a:latin typeface="Helvetica Neu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612"/>
                </a:solidFill>
                <a:latin typeface="Helvetica Neue"/>
              </a:rPr>
              <a:t>Two independent sources. Same answer.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6858000" cy="2926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31920" y="4480560"/>
            <a:ext cx="2560320" cy="100584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45262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612"/>
                </a:solidFill>
                <a:latin typeface="Helvetica Neue"/>
              </a:rPr>
              <a:t>MIT dataset
+
Our own survey
→ Same diagnosis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4480560" cy="27432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4206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EFE6"/>
                </a:solidFill>
                <a:latin typeface="Helvetica Neue"/>
              </a:rPr>
              <a:t>Our respondents named
nutrition education
as their #1 solution —
the exact intervention
we were designing.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251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D5E3E"/>
                </a:solidFill>
                <a:latin typeface="Helvetica Neue"/>
              </a:rPr>
              <a:t>80 / 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343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  <a:latin typeface="Helvetica Neue"/>
              </a:rPr>
              <a:t>would change habits
with more time or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ACT 4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Helvetica Neue"/>
              </a:rPr>
              <a:t>The structural answer: educate future shoppers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029200" cy="10058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  <a:latin typeface="Helvetica Neue"/>
              </a:rPr>
              <a:t>People already know and already want.
The system doesn't give them the conditions.
High-leverage fix: form habits at ages 12–15.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63040"/>
            <a:ext cx="6217920" cy="1005840"/>
          </a:xfrm>
          <a:prstGeom prst="rect">
            <a:avLst/>
          </a:prstGeom>
          <a:solidFill>
            <a:srgbClr val="E8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WHY SECONDARY SCHOOL?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0136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612"/>
                </a:solidFill>
                <a:latin typeface="Helvetica Neue"/>
              </a:rPr>
              <a:t>Ages 12–15 already:
• Handle their own money
• Visit nanostores independently
• Form lifelong habits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7D6E"/>
                </a:solidFill>
                <a:latin typeface="Helvetica Neue"/>
              </a:rPr>
              <a:t>4 COMPONENTS — within Mexico's National Curriculum (NEM)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B83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332A"/>
                </a:solidFill>
                <a:latin typeface="Helvetica Neue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Extra PE hour: label literacy + healthy snack planning with real 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B88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862A"/>
                </a:solidFill>
                <a:latin typeface="Helvetica Neue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Environment audit: students map nanostores around their school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2D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5E3E"/>
                </a:solidFill>
                <a:latin typeface="Helvetica Neue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Teacher training: without prepared teachers, nothing reaches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017520"/>
            <a:ext cx="2743200" cy="1463040"/>
          </a:xfrm>
          <a:prstGeom prst="rect">
            <a:avLst/>
          </a:prstGeom>
          <a:solidFill>
            <a:srgbClr val="E8E2D8"/>
          </a:solidFill>
          <a:ln w="25400">
            <a:solidFill>
              <a:srgbClr val="8A7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A7D6E"/>
                </a:solidFill>
                <a:latin typeface="Helvetica Neue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6118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612"/>
                </a:solidFill>
                <a:latin typeface="Helvetica Neue"/>
              </a:rPr>
              <a:t>Monthly family bridge: respects the time constraints families named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572000"/>
            <a:ext cx="4572000" cy="77724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EFE6"/>
                </a:solidFill>
                <a:latin typeface="Helvetica Neue"/>
              </a:rPr>
              <a:t>MXN 9,500 / school / year
&lt; 0.05% federal education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EFE6"/>
                </a:solidFill>
                <a:latin typeface="Helvetica Neue"/>
              </a:rPr>
              <a:t>IMPACT PROJECTION —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09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D6E"/>
                </a:solidFill>
                <a:latin typeface="Helvetica Neue"/>
              </a:rPr>
              <a:t>MIT LiftLab 2026  ·  Tec de Monterrey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612"/>
                </a:solidFill>
                <a:latin typeface="Helvetica Neue"/>
              </a:rPr>
              <a:t>Projected impact at 5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0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Helvetica Neue"/>
              </a:rPr>
              <a:t>1,000 students · 5,000 simulation runs · effect sizes from published meta-analyses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7772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960120"/>
            <a:ext cx="3566160" cy="32004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7D6E"/>
                </a:solidFill>
                <a:latin typeface="Helvetica Neue"/>
              </a:rPr>
              <a:t>EPISTEMIC HONESTY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00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EFE6"/>
                </a:solidFill>
                <a:latin typeface="Helvetica Neue"/>
              </a:rPr>
              <a:t>We know:
Purchasing behavior + system stats
We assume:
Effect sizes from literature
(not measured in Mexico)
We don't know yet:
Long-term maintenance
Teacher fidelity at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4251960"/>
            <a:ext cx="3566160" cy="14173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43434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EFE6"/>
                </a:solidFill>
                <a:latin typeface="Helvetica Neue"/>
              </a:rPr>
              <a:t>"Being honest about limitations
doesn't weaken the proposal.
It makes it credible."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A7D6E"/>
                </a:solidFill>
                <a:latin typeface="Helvetica Neue"/>
              </a:rPr>
              <a:t>Not ignorance. Not lack of willpower.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EFE6"/>
                </a:solidFill>
                <a:latin typeface="Helvetica Neue"/>
              </a:rPr>
              <a:t>The system is structured to push unhealthy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A7D6E"/>
                </a:solidFill>
                <a:latin typeface="Helvetica Neue"/>
              </a:rPr>
              <a:t>The solution is not in the nanostores.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B8332A"/>
                </a:solidFill>
                <a:latin typeface="Helvetica Neue"/>
              </a:rPr>
              <a:t>It's in the classrooms.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APPLICABILITY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Latin America · 1M+ nanostores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754880"/>
            <a:ext cx="2743200" cy="2286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Structural diagnosis, not behavioral blame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754880"/>
            <a:ext cx="2743200" cy="22860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QUANT.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R²=0.032 · AUC=0.55 · Monte Carlo 5k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754880"/>
            <a:ext cx="2743200" cy="22860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612"/>
                </a:solidFill>
                <a:latin typeface="Helvetica Neue"/>
              </a:rPr>
              <a:t>ACADEMIC 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EFE6"/>
                </a:solidFill>
                <a:latin typeface="Helvetica Neue"/>
              </a:rPr>
              <a:t>Scalable model · NEM-aligned · costed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7D6E"/>
                </a:solidFill>
                <a:latin typeface="Helvetica Neue"/>
              </a:rPr>
              <a:t>Thank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Helvetica Neue"/>
              </a:rPr>
              <a:t>MIT LiftLab 2026  ·  Tec de Monterrey, Campus SLP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