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 i="0">
                <a:solidFill>
                  <a:srgbClr val="1A1612"/>
                </a:solidFill>
                <a:latin typeface="Helvetica Neue"/>
              </a:rPr>
              <a:t>De las Tienditas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286000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 i="0">
                <a:solidFill>
                  <a:srgbClr val="B8332A"/>
                </a:solidFill>
                <a:latin typeface="Helvetica Neue"/>
              </a:rPr>
              <a:t>a las Aulas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520440"/>
            <a:ext cx="7315200" cy="100584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3584448"/>
            <a:ext cx="71323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4EFE6"/>
                </a:solidFill>
                <a:latin typeface="Helvetica Neue"/>
              </a:rPr>
              <a:t>¿Qué impide que la gente compre productos saludables en las nanostores de México?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7D6E"/>
                </a:solidFill>
                <a:latin typeface="Helvetica Neue"/>
              </a:rPr>
              <a:t>Fernanda Ita · Alexis Marcos · Carlos Torres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206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7D6E"/>
                </a:solidFill>
                <a:latin typeface="Helvetica Neue"/>
              </a:rPr>
              <a:t>MIT LiftLab 2026  ·  Tec de Monterrey, Campus SLP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1371600"/>
            <a:ext cx="3474720" cy="4114800"/>
          </a:xfrm>
          <a:prstGeom prst="rect">
            <a:avLst/>
          </a:prstGeom>
          <a:solidFill>
            <a:srgbClr val="E8E2D8"/>
          </a:solidFill>
          <a:ln w="6350">
            <a:solidFill>
              <a:srgbClr val="8A7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7D6E"/>
                </a:solidFill>
                <a:latin typeface="Helvetica Neue"/>
              </a:rPr>
              <a:t>BASE DE DATOS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9202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612"/>
                </a:solidFill>
                <a:latin typeface="Helvetica Neue"/>
              </a:rPr>
              <a:t>3,040 registros de campo reales
(Dataset MIT: 4 tipos de actores)
+ 104 encuestas propias
(San Luis Potosí)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9436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A7D6E"/>
                </a:solidFill>
                <a:latin typeface="Helvetica Neue"/>
              </a:rPr>
              <a:t>"Empezamos por el fracaso — porque ese fracaso fue la primera respuesta."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EFE6"/>
                </a:solidFill>
                <a:latin typeface="Helvetica Neue"/>
              </a:rPr>
              <a:t>METODOLOGÍA Y ANÁLISIS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7D6E"/>
                </a:solidFill>
                <a:latin typeface="Helvetica Neue"/>
              </a:rPr>
              <a:t>MIT LiftLab 2026  ·  Tec de Monterrey SLP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72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0" b="1" i="0">
                <a:solidFill>
                  <a:srgbClr val="E8E2D8"/>
                </a:solidFill>
                <a:latin typeface="Helvetica Neue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8332A"/>
                </a:solidFill>
                <a:latin typeface="Helvetica Neue"/>
              </a:rPr>
              <a:t>ACTO 1 — El modelo que primero falló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4173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612"/>
                </a:solidFill>
                <a:latin typeface="Helvetica Neue"/>
              </a:rPr>
              <a:t>Regresión lineal: predecir el gasto con datos demográficos y presupuesto.
R² = 0.032 — no explica casi nada.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974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B8332A"/>
                </a:solidFill>
                <a:latin typeface="Helvetica Neue"/>
              </a:rPr>
              <a:t>R² = 0.032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429000"/>
            <a:ext cx="5029200" cy="100584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502152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Helvetica Neue"/>
              </a:rPr>
              <a:t>No es un fracaso. Es el primer hallazgo:
el comportamiento no depende de QUIÉN eres.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601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8862A"/>
                </a:solidFill>
                <a:latin typeface="Helvetica Neue"/>
              </a:rPr>
              <a:t>ACTO 2 — Cambiamos la pregunta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417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612"/>
                </a:solidFill>
                <a:latin typeface="Helvetica Neue"/>
              </a:rPr>
              <a:t>En vez de cuánto gasta alguien,
preguntamos: ¿qué se compra y por qué?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603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B8862A"/>
                </a:solidFill>
                <a:latin typeface="Helvetica Neue"/>
              </a:rPr>
              <a:t>AUC = 0.55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29184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7D6E"/>
                </a:solidFill>
                <a:latin typeface="Helvetica Neue"/>
              </a:rPr>
              <a:t>Random Forest (IA) → AUC = 0.55
Casi igual que lanzar una moneda.
La barrera es sistémica, no personal.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7D6E"/>
                </a:solidFill>
                <a:latin typeface="Helvetica Neue"/>
              </a:rPr>
              <a:t>1 de 2 — MÉTODOS CUANTITATIVOS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886200"/>
            <a:ext cx="557784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EFE6"/>
                </a:solidFill>
                <a:latin typeface="Helvetica Neue"/>
              </a:rPr>
              <a:t>RESULTADOS — EL PANORAMA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7D6E"/>
                </a:solidFill>
                <a:latin typeface="Helvetica Neue"/>
              </a:rPr>
              <a:t>MIT LiftLab 2026  ·  Tec de Monterrey SLP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612"/>
                </a:solidFill>
                <a:latin typeface="Helvetica Neue"/>
              </a:rPr>
              <a:t>Lo que los datos realmente muestran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8046720" cy="33832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778240" y="1371600"/>
            <a:ext cx="3108960" cy="25603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0" y="150876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Helvetica Neue"/>
              </a:rPr>
              <a:t>85% sabe que es dañino
63% dice que compraría más sano
Solo 24% realmente lo hace
→ Brecha de 39 puntos intención-acción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4069080"/>
            <a:ext cx="3108960" cy="128016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4160520"/>
            <a:ext cx="2834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EFE6"/>
                </a:solidFill>
                <a:latin typeface="Helvetica Neue"/>
              </a:rPr>
              <a:t>El problema NO es quiénes son.
El problema es lo que el sistema les ofrece.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7D6E"/>
                </a:solidFill>
                <a:latin typeface="Helvetica Neue"/>
              </a:rPr>
              <a:t>2 de 2 — HALLAZGOS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EFE6"/>
                </a:solidFill>
                <a:latin typeface="Helvetica Neue"/>
              </a:rPr>
              <a:t>ENCUESTA PROPIA — VALIDACIÓN INDEPENDIENTE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7D6E"/>
                </a:solidFill>
                <a:latin typeface="Helvetica Neue"/>
              </a:rPr>
              <a:t>MIT LiftLab 2026  ·  Tec de Monterrey SLP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72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0" b="1" i="0">
                <a:solidFill>
                  <a:srgbClr val="E8E2D8"/>
                </a:solidFill>
                <a:latin typeface="Helvetica Neue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612"/>
                </a:solidFill>
                <a:latin typeface="Helvetica Neue"/>
              </a:rPr>
              <a:t>Dos fuentes independientes. La misma respuesta.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6858000" cy="2926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931920" y="4480560"/>
            <a:ext cx="2560320" cy="1005840"/>
          </a:xfrm>
          <a:prstGeom prst="rect">
            <a:avLst/>
          </a:prstGeom>
          <a:solidFill>
            <a:srgbClr val="B8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69080" y="45262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612"/>
                </a:solidFill>
                <a:latin typeface="Helvetica Neue"/>
              </a:rPr>
              <a:t>Dataset MIT
+
Encuesta propia
→ Mismo diagnóstico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417320"/>
            <a:ext cx="4480560" cy="274320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1554480"/>
            <a:ext cx="4206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EFE6"/>
                </a:solidFill>
                <a:latin typeface="Helvetica Neue"/>
              </a:rPr>
              <a:t>Los encuestados nombraron
la educación nutricional
como su solución #1 —
exactamente la intervención
que íbamos a diseñar.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42519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2D5E3E"/>
                </a:solidFill>
                <a:latin typeface="Helvetica Neue"/>
              </a:rPr>
              <a:t>80 / 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43434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7D6E"/>
                </a:solidFill>
                <a:latin typeface="Helvetica Neue"/>
              </a:rPr>
              <a:t>cambiarían hábitos
con más tiempo o recursos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EFE6"/>
                </a:solidFill>
                <a:latin typeface="Helvetica Neue"/>
              </a:rPr>
              <a:t>ACTO 4 — 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7D6E"/>
                </a:solidFill>
                <a:latin typeface="Helvetica Neue"/>
              </a:rPr>
              <a:t>MIT LiftLab 2026  ·  Tec de Monterrey SLP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612"/>
                </a:solidFill>
                <a:latin typeface="Helvetica Neue"/>
              </a:rPr>
              <a:t>La respuesta estructural: educar a los compradores del futuro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63040"/>
            <a:ext cx="5029200" cy="100584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27048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EFE6"/>
                </a:solidFill>
                <a:latin typeface="Helvetica Neue"/>
              </a:rPr>
              <a:t>La gente ya sabe y ya quiere.
El sistema no les da las condiciones.
Palanca de mayor impacto: formar hábitos a los 12–15 años.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463040"/>
            <a:ext cx="6217920" cy="1005840"/>
          </a:xfrm>
          <a:prstGeom prst="rect">
            <a:avLst/>
          </a:prstGeom>
          <a:solidFill>
            <a:srgbClr val="E8E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508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7D6E"/>
                </a:solidFill>
                <a:latin typeface="Helvetica Neue"/>
              </a:rPr>
              <a:t>¿POR QUÉ SECUNDARIA?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801368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612"/>
                </a:solidFill>
                <a:latin typeface="Helvetica Neue"/>
              </a:rPr>
              <a:t>A los 12–15 años ya:
• Manejan dinero propio
• Visitan tienditas solos
• Forman hábitos para toda la vida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0604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A7D6E"/>
                </a:solidFill>
                <a:latin typeface="Helvetica Neue"/>
              </a:rPr>
              <a:t>4 COMPONENTES — dentro del Currículo de la Nueva Escuela Mexicana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017520"/>
            <a:ext cx="2743200" cy="1463040"/>
          </a:xfrm>
          <a:prstGeom prst="rect">
            <a:avLst/>
          </a:prstGeom>
          <a:solidFill>
            <a:srgbClr val="E8E2D8"/>
          </a:solidFill>
          <a:ln w="25400">
            <a:solidFill>
              <a:srgbClr val="B83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632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8332A"/>
                </a:solidFill>
                <a:latin typeface="Helvetica Neue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6118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12"/>
                </a:solidFill>
                <a:latin typeface="Helvetica Neue"/>
              </a:rPr>
              <a:t>Hora extra de EF: alfabetización de etiquetas + snack sano con presupuesto real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3017520"/>
            <a:ext cx="2743200" cy="1463040"/>
          </a:xfrm>
          <a:prstGeom prst="rect">
            <a:avLst/>
          </a:prstGeom>
          <a:solidFill>
            <a:srgbClr val="E8E2D8"/>
          </a:solidFill>
          <a:ln w="25400">
            <a:solidFill>
              <a:srgbClr val="B88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30632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8862A"/>
                </a:solidFill>
                <a:latin typeface="Helvetica Neue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6118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12"/>
                </a:solidFill>
                <a:latin typeface="Helvetica Neue"/>
              </a:rPr>
              <a:t>Módulo de auditoría: estudiantes mapean las tienditas cerca de su escuela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017520"/>
            <a:ext cx="2743200" cy="1463040"/>
          </a:xfrm>
          <a:prstGeom prst="rect">
            <a:avLst/>
          </a:prstGeom>
          <a:solidFill>
            <a:srgbClr val="E8E2D8"/>
          </a:solidFill>
          <a:ln w="25400">
            <a:solidFill>
              <a:srgbClr val="2D5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30632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D5E3E"/>
                </a:solidFill>
                <a:latin typeface="Helvetica Neue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6118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12"/>
                </a:solidFill>
                <a:latin typeface="Helvetica Neue"/>
              </a:rPr>
              <a:t>Capacitación docente: sin profesores preparados, nada funciona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3017520"/>
            <a:ext cx="2743200" cy="1463040"/>
          </a:xfrm>
          <a:prstGeom prst="rect">
            <a:avLst/>
          </a:prstGeom>
          <a:solidFill>
            <a:srgbClr val="E8E2D8"/>
          </a:solidFill>
          <a:ln w="25400">
            <a:solidFill>
              <a:srgbClr val="8A7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30632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A7D6E"/>
                </a:solidFill>
                <a:latin typeface="Helvetica Neue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6118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12"/>
                </a:solidFill>
                <a:latin typeface="Helvetica Neue"/>
              </a:rPr>
              <a:t>Puente familiar mensual: respeta las limitaciones de tiempo que las familias nombraron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572000"/>
            <a:ext cx="4572000" cy="777240"/>
          </a:xfrm>
          <a:prstGeom prst="rect">
            <a:avLst/>
          </a:prstGeom>
          <a:solidFill>
            <a:srgbClr val="2D5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61772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EFE6"/>
                </a:solidFill>
                <a:latin typeface="Helvetica Neue"/>
              </a:rPr>
              <a:t>MXN 9,500 / escuela / año
&lt; 0.05% del presupuesto federal educativo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EFE6"/>
                </a:solidFill>
                <a:latin typeface="Helvetica Neue"/>
              </a:rPr>
              <a:t>PROYECCIÓN DE IMPACTO — MONTE CARLO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7D6E"/>
                </a:solidFill>
                <a:latin typeface="Helvetica Neue"/>
              </a:rPr>
              <a:t>MIT LiftLab 2026  ·  Tec de Monterrey SLP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612"/>
                </a:solidFill>
                <a:latin typeface="Helvetica Neue"/>
              </a:rPr>
              <a:t>Impacto proyectado a 5 años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8074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D6E"/>
                </a:solidFill>
                <a:latin typeface="Helvetica Neue"/>
              </a:rPr>
              <a:t>1,000 estudiantes · 5,000 corridas · tamaños de efecto de meta-análisis publicados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37360"/>
            <a:ext cx="777240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321040" y="960120"/>
            <a:ext cx="3566160" cy="320040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051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7D6E"/>
                </a:solidFill>
                <a:latin typeface="Helvetica Neue"/>
              </a:rPr>
              <a:t>HONESTIDAD EPISTÉMICA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417320"/>
            <a:ext cx="32004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EFE6"/>
                </a:solidFill>
                <a:latin typeface="Helvetica Neue"/>
              </a:rPr>
              <a:t>Sabemos:
Comportamiento de compra + estadísticas del sistema
Asumimos:
Tamaños de efecto de la literatura
(no medidos en México)
No sabemos aún:
Mantenimiento a largo plazo
Fidelidad docente a escala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4251960"/>
            <a:ext cx="3566160" cy="141732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43434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4EFE6"/>
                </a:solidFill>
                <a:latin typeface="Helvetica Neue"/>
              </a:rPr>
              <a:t>"La honestidad sobre las limitaciones
no debilita la propuesta.
La hace creíble."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8A7D6E"/>
                </a:solidFill>
                <a:latin typeface="Helvetica Neue"/>
              </a:rPr>
              <a:t>No es ignorancia. No es falta de voluntad.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4EFE6"/>
                </a:solidFill>
                <a:latin typeface="Helvetica Neue"/>
              </a:rPr>
              <a:t>El sistema está diseñado para empujar lo no saludable.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A7D6E"/>
                </a:solidFill>
                <a:latin typeface="Helvetica Neue"/>
              </a:rPr>
              <a:t>La solución no está en las tienditas.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B8332A"/>
                </a:solidFill>
                <a:latin typeface="Helvetica Neue"/>
              </a:rPr>
              <a:t>Está en las aulas.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754880"/>
            <a:ext cx="2743200" cy="22860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4754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612"/>
                </a:solidFill>
                <a:latin typeface="Helvetica Neue"/>
              </a:rPr>
              <a:t>APLICABILIDAD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49926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4EFE6"/>
                </a:solidFill>
                <a:latin typeface="Helvetica Neue"/>
              </a:rPr>
              <a:t>América Latina · +1M tienditas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4754880"/>
            <a:ext cx="2743200" cy="228600"/>
          </a:xfrm>
          <a:prstGeom prst="rect">
            <a:avLst/>
          </a:prstGeom>
          <a:solidFill>
            <a:srgbClr val="B8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6432" y="4754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612"/>
                </a:solidFill>
                <a:latin typeface="Helvetica Neue"/>
              </a:rPr>
              <a:t>INNOVACIÓN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49926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4EFE6"/>
                </a:solidFill>
                <a:latin typeface="Helvetica Neue"/>
              </a:rPr>
              <a:t>Diagnóstico estructural, no culpa conductual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4754880"/>
            <a:ext cx="2743200" cy="228600"/>
          </a:xfrm>
          <a:prstGeom prst="rect">
            <a:avLst/>
          </a:prstGeom>
          <a:solidFill>
            <a:srgbClr val="2D5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4754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612"/>
                </a:solidFill>
                <a:latin typeface="Helvetica Neue"/>
              </a:rPr>
              <a:t>CONOCIM. CUANT.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9926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4EFE6"/>
                </a:solidFill>
                <a:latin typeface="Helvetica Neue"/>
              </a:rPr>
              <a:t>R²=0.032 · AUC=0.55 · Monte Carlo 5k corridas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4754880"/>
            <a:ext cx="2743200" cy="228600"/>
          </a:xfrm>
          <a:prstGeom prst="rect">
            <a:avLst/>
          </a:prstGeom>
          <a:solidFill>
            <a:srgbClr val="8A7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08592" y="4754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612"/>
                </a:solidFill>
                <a:latin typeface="Helvetica Neue"/>
              </a:rPr>
              <a:t>POTENCIAL ACADÉMICO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8592" y="49926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4EFE6"/>
                </a:solidFill>
                <a:latin typeface="Helvetica Neue"/>
              </a:rPr>
              <a:t>Modelo escalable · alineado NEM · costeado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577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7D6E"/>
                </a:solidFill>
                <a:latin typeface="Helvetica Neue"/>
              </a:rPr>
              <a:t>Muchas gracias.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7D6E"/>
                </a:solidFill>
                <a:latin typeface="Helvetica Neue"/>
              </a:rPr>
              <a:t>MIT LiftLab 2026  ·  Tec de Monterrey, Campus SLP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