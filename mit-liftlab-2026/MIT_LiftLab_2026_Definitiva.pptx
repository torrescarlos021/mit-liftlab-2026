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— TITLE]</a:t>
            </a:r>
          </a:p>
          <a:p>
            <a:r>
              <a:t>Fernanda abre: 'MIT nos lanzó una pregunta. Esta es nuestra respuesta en cuatro actos.'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 — DATASET]</a:t>
            </a:r>
          </a:p>
          <a:p>
            <a:r>
              <a:t>Carlos: 'El MIT nos dio acceso a 3,040 registros de campo reales. Con eso arrancamos.'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— ACT 1]</a:t>
            </a:r>
          </a:p>
          <a:p>
            <a:r>
              <a:t>Carlos: 'Como todo analista, empezamos con una regresión lineal. Resultado: R²=0.032. El modelo no explica nada. Eso no es un error — es nuestro primer hallazgo.'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 — ACT 2 INTRO]</a:t>
            </a:r>
          </a:p>
          <a:p>
            <a:r>
              <a:t>Carlos: 'En vez de seguir prediciendo cuánto gasta alguien, cambiamos la pregunta. Y los cuatro insights que surgieron nos dieron la historia real.'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— INSIGHTS 1+2]</a:t>
            </a:r>
          </a:p>
          <a:p>
            <a:r>
              <a:t>Carlos: 'El 85% sabe. El 63% querría. Pero solo el 24% lo hace. La brecha de 39 puntos porcentuales nos dice que esto no es un problema de conocimiento.'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— INSIGHTS 3+4]</a:t>
            </a:r>
          </a:p>
          <a:p>
            <a:r>
              <a:t>Carlos: 'Aplicamos Random Forest para predecir quién compra sano. AUC=0.55 — también falla. Porque no es cuestión de quién eres: es lo que el sistema te ofrece.'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— SYNTHESIS]</a:t>
            </a:r>
          </a:p>
          <a:p>
            <a:r>
              <a:t>Fernanda: 'El Acto 2 nos dejó esto: el problema no es informativo — es sistémico. Eso nos obligó a diseñar una solución sistémica.'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8 — ACT 3]</a:t>
            </a:r>
          </a:p>
          <a:p>
            <a:r>
              <a:t>Alexis: 'Para no depender de un solo dataset, salimos a campo. 104 personas en SLP. El resultado convergió exactamente con lo que el MIT dataset nos dijo.'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9 — EL PUENTE]</a:t>
            </a:r>
          </a:p>
          <a:p>
            <a:r>
              <a:t>Fernanda: 'Nuestros datos son de adultos — somos honestos con eso. Pero si la gente ya sabe y ya quiere, el punto de palanca es formarlos antes de que lleguen al mostrador.'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 — PROPUESTA]</a:t>
            </a:r>
          </a:p>
          <a:p>
            <a:r>
              <a:t>Fernanda: 'Cuatro componentes. Ninguno requiere crear una materia nueva — todo se alinea con lo que la NEM ya nombra como Vida Saludable.'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 — MONTE CARLO]</a:t>
            </a:r>
          </a:p>
          <a:p>
            <a:r>
              <a:t>Carlos: 'Proyectamos el impacto sobre 1,000 estudiantes, 5,000 corridas. El escenario central: la obesidad baja de 31.9% a 26.2% a 5 años. E incluimos el escenario nulo — porque la honestidad no es opcional.'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— HONESTIDAD]</a:t>
            </a:r>
          </a:p>
          <a:p>
            <a:r>
              <a:t>Carlos: 'En el MIT esperan rigor intelectual. Por eso somos explícitos sobre lo que sabemos, lo que asumimos y lo que no sabemos.'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13 — EXPERTOS]</a:t>
            </a:r>
          </a:p>
          <a:p>
            <a:r>
              <a:t>Alexis: 'Para no quedarnos solo con nuestros propios datos, llevamos la propuesta a cinco expertos con perspectivas radicalmente distintas. Aquí sus testimonios.'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14 — CIERRE]</a:t>
            </a:r>
          </a:p>
          <a:p>
            <a:r>
              <a:t>Fernanda: 'La pregunta del MIT fue: ¿qué impide la compra saludable? Nuestra respuesta: no es ignorancia. Es estructura. Y la solución más efectiva no está en regular las tienditas — está en las aulas.'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862A"/>
                </a:solidFill>
              </a:rPr>
              <a:t>MIT LiftLab 2026  ·  Tec de Monterrey, Campus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59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DF8F1"/>
                </a:solidFill>
              </a:rPr>
              <a:t>De las Tienditas
a las Aulas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4612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BEB0"/>
                </a:solidFill>
              </a:rPr>
              <a:t>¿Qué factores impiden la compra de productos saludables
en las nanostores de México?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862A"/>
                </a:solidFill>
              </a:rPr>
              <a:t>Fernanda Ita · Alexis Marcos · Carlos Torres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EL PUNTO DE PARTIDA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612"/>
                </a:solidFill>
              </a:rPr>
              <a:t>El dataset de campo más grande del MIT LiftLab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A7368"/>
                </a:solidFill>
              </a:rPr>
              <a:t>3,040 registros de campo · Estudio nacional · ~13 campus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51760" cy="21031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8862A"/>
                </a:solidFill>
              </a:rPr>
              <a:t>221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DF8F1"/>
                </a:solidFill>
              </a:rPr>
              <a:t>Nanostores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651760" cy="21031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65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8862A"/>
                </a:solidFill>
              </a:rPr>
              <a:t>1,135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DF8F1"/>
                </a:solidFill>
              </a:rPr>
              <a:t>Compradores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2651760" cy="21031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65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8862A"/>
                </a:solidFill>
              </a:rPr>
              <a:t>236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80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DF8F1"/>
                </a:solidFill>
              </a:rPr>
              <a:t>Tenderos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651760" cy="21031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965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8862A"/>
                </a:solidFill>
              </a:rPr>
              <a:t>1,448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880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DF8F1"/>
                </a:solidFill>
              </a:rPr>
              <a:t>Entregas
(última milla)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612"/>
                </a:solidFill>
              </a:rPr>
              <a:t>+ Encuesta propia: 104 respuestas · San Luis Potosí · dic 2025 – ene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A7368"/>
                </a:solidFill>
              </a:rPr>
              <a:t>La historia que sigue es el camino real que recorrimos — incluyendo el modelo que NO funcionó.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332A"/>
                </a:solidFill>
              </a:rPr>
              <a:t>Porque ese fracaso fue justo lo que nos llevó a la respuesta correcta.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ACTO 1 — LA REGRESIÓN QUE NO FUNCIONÓ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Empezamos donde todo analista empieza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7368"/>
                </a:solidFill>
              </a:rPr>
              <a:t>Regresión lineal · Predecir el gasto del comprador a partir de su demografía y presupuesto</a:t>
            </a:r>
          </a:p>
        </p:txBody>
      </p:sp>
      <p:pic>
        <p:nvPicPr>
          <p:cNvPr id="7" name="Picture 6" descr="act1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8580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737360"/>
            <a:ext cx="4114800" cy="109728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8288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DF8F1"/>
                </a:solidFill>
              </a:rPr>
              <a:t>R² = 0.032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F8F1"/>
                </a:solidFill>
              </a:rPr>
              <a:t>El modelo no explica casi nada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017520"/>
            <a:ext cx="4114800" cy="1371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1089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2A"/>
                </a:solidFill>
              </a:rPr>
              <a:t>Esto no es un fracaso de esfuerzo.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5204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DF8F1"/>
                </a:solidFill>
              </a:rPr>
              <a:t>Es el primer hallazgo real:
el comportamiento del comprador
no es una función lineal de
quién eres.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332A"/>
                </a:solidFill>
              </a:rPr>
              <a:t>→ Algo más estructural está pasando. Eso nos llevó al Acto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ACTO 2 — EL ML Y EL INSIGHT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612"/>
                </a:solidFill>
              </a:rPr>
              <a:t>Cambiamos la pregunta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DF8F1"/>
                </a:solidFill>
              </a:rPr>
              <a:t>¿Qué se compra realmente en las nanostores?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8862A"/>
                </a:solidFill>
              </a:rPr>
              <a:t>Insight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solidFill>
            <a:srgbClr val="28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DF8F1"/>
                </a:solidFill>
              </a:rPr>
              <a:t>¿Puede el ML predecir quién compra sano?  (y si no, ¿por qué no?)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971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8862A"/>
                </a:solidFill>
              </a:rPr>
              <a:t>Insight 2–3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1247120" cy="10972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DF8F1"/>
                </a:solidFill>
              </a:rPr>
              <a:t>¿Cómo se ve el sistema completo — compradores, tenderos, cadena?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343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8862A"/>
                </a:solidFill>
              </a:rPr>
              <a:t>Insight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40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7368"/>
                </a:solidFill>
              </a:rPr>
              <a:t>Datos: shopper (n=1,135) + shopkeeper (n=236) + lastmile (n=1,448)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332A"/>
                </a:solidFill>
              </a:rPr>
              <a:t>Los cuatro insights convergen en una sola historia.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ACTO 2 — INSIGHTS 1 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612"/>
                </a:solidFill>
              </a:rPr>
              <a:t>Lo que se compra  ·  y la paradoja que lo explica</a:t>
            </a:r>
          </a:p>
        </p:txBody>
      </p:sp>
      <p:pic>
        <p:nvPicPr>
          <p:cNvPr id="6" name="Picture 5" descr="act2_produc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3657600"/>
          </a:xfrm>
          <a:prstGeom prst="rect">
            <a:avLst/>
          </a:prstGeom>
        </p:spPr>
      </p:pic>
      <p:pic>
        <p:nvPicPr>
          <p:cNvPr id="7" name="Picture 6" descr="act2_intention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76072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029200"/>
            <a:ext cx="11612880" cy="15544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862A"/>
                </a:solidFill>
              </a:rPr>
              <a:t>La gente NO es ignorante y NO es indiferente.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F8F1"/>
                </a:solidFill>
              </a:rPr>
              <a:t>85% sabe que lo que compra le hace daño · 63% compraría más sano · 65% lo ve como más caro · Pero solo 24% compra algo sano.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BEB0"/>
                </a:solidFill>
              </a:rPr>
              <a:t>La barrera es estructural: precio y disponibilidad — no información.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ACTO 2 — INSIGHTS 3 Y 4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612"/>
                </a:solidFill>
              </a:rPr>
              <a:t>Ni el ML lo predice  ·  El problema empieza antes del mostrador</a:t>
            </a:r>
          </a:p>
        </p:txBody>
      </p:sp>
      <p:pic>
        <p:nvPicPr>
          <p:cNvPr id="6" name="Picture 5" descr="act2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3840480"/>
          </a:xfrm>
          <a:prstGeom prst="rect">
            <a:avLst/>
          </a:prstGeom>
        </p:spPr>
      </p:pic>
      <p:pic>
        <p:nvPicPr>
          <p:cNvPr id="7" name="Picture 6" descr="act2_supply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760720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166360"/>
            <a:ext cx="11612880" cy="14630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862A"/>
                </a:solidFill>
              </a:rPr>
              <a:t>Random Forest AUC ≈ 0.55 — apenas mejor que lanzar una moneda.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DF8F1"/>
                </a:solidFill>
              </a:rPr>
              <a:t>La compra saludable no se explica por quién eres. Está condicionada por lo que el sistema te pone enfrente.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332A"/>
                </a:solidFill>
              </a:rPr>
              <a:t>66% de las entregas de última milla ni siquiera ofrecieron opciones sanas a la tienda.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LA SÍNTESIS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La respuesta del Acto 2 en una frase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1645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50" b="0" i="1">
                <a:solidFill>
                  <a:srgbClr val="FDF8F1"/>
                </a:solidFill>
              </a:rPr>
              <a:t>"No es ignorancia ni falta de voluntad.
Es una barrera estructural — percepción de precio y disponibilidad —
reforzada por una cadena de suministro que apenas ofrece productos saludables."</a:t>
            </a:r>
          </a:p>
        </p:txBody>
      </p:sp>
      <p:pic>
        <p:nvPicPr>
          <p:cNvPr id="8" name="Picture 7" descr="system_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11247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ACTO 3 — NUESTRA PROPIA ENCUESTA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Un solo dataset es un solo lente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368"/>
                </a:solidFill>
              </a:rPr>
              <a:t>Levantamos nuestra propia encuesta para triangular — sin anclar con los resultados del Acto 2</a:t>
            </a:r>
          </a:p>
        </p:txBody>
      </p:sp>
      <p:pic>
        <p:nvPicPr>
          <p:cNvPr id="7" name="Picture 6" descr="act3_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00200"/>
            <a:ext cx="11612880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532120"/>
            <a:ext cx="11612880" cy="109728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12"/>
                </a:solidFill>
              </a:rPr>
              <a:t>Convergencia:  mismo diagnóstico desde una muestra independiente.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612"/>
                </a:solidFill>
              </a:rPr>
              <a:t>Causa raíz estructural (tiempo/costo) · 80/94 cambiarían hábitos con más tiempo o recursos · Los propios encuestados piden educación nutricional.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EL PUENTE LÓGICO — HACIA LA SOLUCIÓN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612"/>
                </a:solidFill>
              </a:rPr>
              <a:t>Los datos son de adultos. La intervención apunta a adolescentes.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7368"/>
                </a:solidFill>
              </a:rPr>
              <a:t>El puente es honesto y explícito: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3200400" cy="16459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011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DF8F1"/>
                </a:solidFill>
              </a:rPr>
              <a:t>Ecosistema actual
empuja consumo
no saludable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828800"/>
            <a:ext cx="3474720" cy="1645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62A"/>
                </a:solidFill>
              </a:rPr>
              <a:t>Gente sabe y quiere —
pero NO logra cerrar
la brecha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828800"/>
            <a:ext cx="4206240" cy="164592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20116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DF8F1"/>
                </a:solidFill>
              </a:rPr>
              <a:t>Palanca: formar a los
compradores del futuro
(adolescentes de hoy)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651760"/>
            <a:ext cx="320040" cy="18288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42048" y="2651760"/>
            <a:ext cx="320040" cy="18288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5054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1612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25054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1612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94760"/>
            <a:ext cx="11612880" cy="1920240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587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12"/>
                </a:solidFill>
              </a:rPr>
              <a:t>¿Por qué secundaria (12–15 años)?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</a:rPr>
              <a:t>·  Mayor prevalencia de sobrepeso en adolescentes (40.1 %) que en niños (36.6 %) — ENSANUT 2020–2024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7258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</a:rPr>
              <a:t>·  Manejan dinero propio y visitan tienditas de forma autónoma: son los compradores de mañana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9320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612"/>
                </a:solidFill>
              </a:rPr>
              <a:t>·  Los hábitos adolescentes se consolidan hacia la adultez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8332A"/>
                </a:solidFill>
              </a:rPr>
              <a:t>No regulamos las tienditas. Educamos a quienes las visitarán toda su vida.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ACTO 4 — LA SOLUCIÓN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612"/>
                </a:solidFill>
              </a:rPr>
              <a:t>Reforzar Educación Física y Vida Saludable en secundaria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612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7368"/>
                </a:solidFill>
              </a:rPr>
              <a:t>Complemento al currículo NEM Plan 2022 · No es materia nueva — es reforzar lo que ya existe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5669280" cy="17373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8862A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8F1"/>
                </a:solidFill>
              </a:rPr>
              <a:t>EF ampliada
(2h → 3h)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9631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BEB0"/>
                </a:solidFill>
              </a:rPr>
              <a:t>Alfabetización de estilo de vida activo: leer etiquetas, planear snack sano con presupuesto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669280" cy="17373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78308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8862A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01368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8F1"/>
                </a:solidFill>
              </a:rPr>
              <a:t>Módulo de
entorno crítico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9631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BEB0"/>
                </a:solidFill>
              </a:rPr>
              <a:t>Auditoría de las tienditas alrededor de la escuela · Cada dos semanas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5669280" cy="17373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9476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8862A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13048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8F1"/>
                </a:solidFill>
              </a:rPr>
              <a:t>Capacitación
docente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0799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BEB0"/>
                </a:solidFill>
              </a:rPr>
              <a:t>Paquete asincrónico 8h + taller 4h · Sin docentes preparados, nada funciona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5669280" cy="17373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379476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8862A"/>
                </a:solidFill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813048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F8F1"/>
                </a:solidFill>
              </a:rPr>
              <a:t>Puente
familiar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50799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BEB0"/>
                </a:solidFill>
              </a:rPr>
              <a:t>Actividad mensual: conversación guiada + receta económica · Respeta el tiempo de la familia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760720"/>
            <a:ext cx="11612880" cy="82296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704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612"/>
                </a:solidFill>
              </a:rPr>
              <a:t>Costo estimado: ~MXN 9,500 / escuela / año  ·  A escala (~35,000 secundarias) ≈ MXN 330 M/año  ·  &lt;0.05% del presupuesto federal educativo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ACTO 4 — PROYECCIÓN DE IMPACTO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612"/>
                </a:solidFill>
              </a:rPr>
              <a:t>Monte Carlo · 1,000 estudiantes · 5,000 corridas por escenario</a:t>
            </a:r>
          </a:p>
        </p:txBody>
      </p:sp>
      <p:pic>
        <p:nvPicPr>
          <p:cNvPr id="6" name="Picture 5" descr="act4_montecar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955279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143000"/>
            <a:ext cx="3383280" cy="51206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862A"/>
                </a:solidFill>
              </a:rPr>
              <a:t>Año 5 · % obesidad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8"/>
                </a:solidFill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6916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7A7368"/>
                </a:solidFill>
              </a:rPr>
              <a:t>36.4%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49631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BEB0"/>
                </a:solidFill>
              </a:rPr>
              <a:t>Nulo (Hodder)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4963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8BEB0"/>
                </a:solidFill>
              </a:rPr>
              <a:t>32.0%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30098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862A"/>
                </a:solidFill>
              </a:rPr>
              <a:t>Conservador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330098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B8862A"/>
                </a:solidFill>
              </a:rPr>
              <a:t>29.8%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1056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DF8F1"/>
                </a:solidFill>
              </a:rPr>
              <a:t>Central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410565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DF8F1"/>
                </a:solidFill>
              </a:rPr>
              <a:t>26.2%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9103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5E3E"/>
                </a:solidFill>
              </a:rPr>
              <a:t>Optimista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491032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D5E3E"/>
                </a:solidFill>
              </a:rPr>
              <a:t>22.7%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5760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DF8F1"/>
                </a:solidFill>
              </a:rPr>
              <a:t>★ Central: −5.7 pp vs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400800"/>
            <a:ext cx="11612880" cy="2743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2823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DF8F1"/>
                </a:solidFill>
              </a:rPr>
              <a:t>El escenario de resultado nulo está incluido a propósito — honestidad sobre hype.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HONESTIDAD EPISTÉMICA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612"/>
                </a:solidFill>
              </a:rPr>
              <a:t>Lo que sabemos · Lo que no sabemos · Lo que asumimos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54864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984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8F1"/>
                </a:solidFill>
              </a:rPr>
              <a:t>Lo que
sabemos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Barrera estructural confirmada en 2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R²=0.032 — el modelo lineal falla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AUC=0.55 — el ML tampoco predice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66% last-mile sin opciones sanas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6634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Efecto central −0.17 kg/m² (Cochrane)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80160"/>
            <a:ext cx="3657600" cy="54864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2984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8F1"/>
                </a:solidFill>
              </a:rPr>
              <a:t>Lo que
asumimos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9202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Los efectos de la literatura son trasladables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26060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Adherencia del 80% (supuesto del modelo)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32918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1h extra/semana de EF (dosis mínima)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3977639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El eje Vida Saludable existe — falta refuerzo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3657600" cy="54864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2984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DF8F1"/>
                </a:solidFill>
              </a:rPr>
              <a:t>Lo que
no sabemos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202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Si los efectos se mantienen &gt;5 años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060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Cómo se escala a 35,000 secundarias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918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Qué pasa con la fidelidad docente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977639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</a:rPr>
              <a:t>· Si Hodder 2021 aplica a México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A7368"/>
                </a:solidFill>
              </a:rPr>
              <a:t>Esta simulación es una proyección, no una predicción. Cualquier despliegue requiere un piloto con seguimiento.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8"/>
                </a:solidFill>
              </a:rPr>
              <a:t>VALIDACIÓN EXPERTA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02920"/>
            <a:ext cx="11640312" cy="1371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Cinco perspectivas independientes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103120" cy="3657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828800" cy="2194560"/>
          </a:xfrm>
          <a:prstGeom prst="rect">
            <a:avLst/>
          </a:prstGeom>
          <a:solidFill>
            <a:srgbClr val="33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BEB0"/>
                </a:solidFill>
              </a:rPr>
              <a:t>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703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Dr. José Manuel
Olais Govea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480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BEB0"/>
                </a:solidFill>
              </a:rPr>
              <a:t>Tec de Monterrey
Investigación educativa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280160"/>
            <a:ext cx="2103120" cy="3657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417320"/>
            <a:ext cx="1828800" cy="2194560"/>
          </a:xfrm>
          <a:prstGeom prst="rect">
            <a:avLst/>
          </a:prstGeom>
          <a:solidFill>
            <a:srgbClr val="33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011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BEB0"/>
                </a:solidFill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03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Dr. Leopoldo
Zúñiga Silva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80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BEB0"/>
                </a:solidFill>
              </a:rPr>
              <a:t>Tec de Monterrey
Investigación educativa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79" y="1280160"/>
            <a:ext cx="2103120" cy="3657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417320"/>
            <a:ext cx="1828800" cy="2194560"/>
          </a:xfrm>
          <a:prstGeom prst="rect">
            <a:avLst/>
          </a:prstGeom>
          <a:solidFill>
            <a:srgbClr val="33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011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BEB0"/>
                </a:solidFill>
              </a:rPr>
              <a:t>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3703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Director
Sec. Técnica 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4480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BEB0"/>
                </a:solidFill>
              </a:rPr>
              <a:t>Matehuala, SLP
Implementación institucional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199" y="1280160"/>
            <a:ext cx="2103120" cy="3657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59" y="1417320"/>
            <a:ext cx="1828800" cy="2194560"/>
          </a:xfrm>
          <a:prstGeom prst="rect">
            <a:avLst/>
          </a:prstGeom>
          <a:solidFill>
            <a:srgbClr val="33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59" y="2011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BEB0"/>
                </a:solidFill>
              </a:rPr>
              <a:t>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703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Docente EF
(practicante fitness)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480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BEB0"/>
                </a:solidFill>
              </a:rPr>
              <a:t>Secundaria
Práctica en aula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19" y="1280160"/>
            <a:ext cx="2103120" cy="36576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1417320"/>
            <a:ext cx="1828800" cy="2194560"/>
          </a:xfrm>
          <a:prstGeom prst="rect">
            <a:avLst/>
          </a:prstGeom>
          <a:solidFill>
            <a:srgbClr val="33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0116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BEB0"/>
                </a:solidFill>
              </a:rPr>
              <a:t>VIDEO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59" y="3703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Estudiante
Educ. (fitness)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44805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BEB0"/>
                </a:solidFill>
              </a:rPr>
              <a:t>Tec de Monterrey
Voz estudiantil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7368"/>
                </a:solidFill>
              </a:rPr>
              <a:t>Semi-estructurado · 30–45 min · 8 preguntas core + 2–3 específicas por perfil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612"/>
                </a:solidFill>
              </a:rPr>
              <a:t>Convergencia: 4/5 expertos nombran el mismo tema → tema fuertemente convergente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DF8F1"/>
                </a:solidFill>
              </a:rPr>
              <a:t>De las Tienditas a las Aulas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332A"/>
                </a:solidFill>
              </a:rPr>
              <a:t>Acto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560320" cy="36576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F8F1"/>
                </a:solidFill>
              </a:rPr>
              <a:t>La regresión
no funcionó
(R²=0.032)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862A"/>
                </a:solidFill>
              </a:rPr>
              <a:t>Acto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03120"/>
            <a:ext cx="2560320" cy="36576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2402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F8F1"/>
                </a:solidFill>
              </a:rPr>
              <a:t>Hallazgo real:
barrera estructural
y conductual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BEB0"/>
                </a:solidFill>
              </a:rPr>
              <a:t>Acto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2560320" cy="36576"/>
          </a:xfrm>
          <a:prstGeom prst="rect">
            <a:avLst/>
          </a:prstGeom>
          <a:solidFill>
            <a:srgbClr val="C8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F8F1"/>
                </a:solidFill>
              </a:rPr>
              <a:t>Encuesta propia
confirma:
piden educación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E3E"/>
                </a:solidFill>
              </a:rPr>
              <a:t>Acto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103120"/>
            <a:ext cx="2560320" cy="36576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2402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F8F1"/>
                </a:solidFill>
              </a:rPr>
              <a:t>Intervención
+26.2% → central
Monte Carlo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DF8F1"/>
                </a:solidFill>
              </a:rPr>
              <a:t>"El ecosistema actual empuja el consumo no saludable.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B8862A"/>
                </a:solidFill>
              </a:rPr>
              <a:t>La palanca más efectiva a largo plazo es formar a los compradores del futuro."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177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862A"/>
                </a:solidFill>
              </a:rPr>
              <a:t>Fernanda Ita · Alexis Marcos · Carlos Torres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7492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BEB0"/>
                </a:solidFill>
              </a:rPr>
              <a:t>Tecnológico de Monterrey · Campus SLP · MIT LiftLab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9788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7368"/>
                </a:solidFill>
              </a:rPr>
              <a:t>Código abierto · Datos reproducibles · Semilla fija (seed=42) · github.com/torrescarlos021/mit-liftlab-2026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