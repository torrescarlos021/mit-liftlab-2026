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386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[SLIDE 1 — TÍTULO]</a:t>
            </a:r>
          </a:p>
          <a:p>
            <a:r>
              <a:t>Fernanda: 'MIT nos lanzó una pregunta. Esta es nuestra respuesta en cuatro actos — y empezamos por el fracaso.'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[S2 — DATASET]</a:t>
            </a:r>
          </a:p>
          <a:p>
            <a:r>
              <a:t>Carlos: 'El MIT nos dio acceso a 3,040 registros de campo reales.'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[S3 — ACTO 1]</a:t>
            </a:r>
          </a:p>
          <a:p>
            <a:r>
              <a:t>Carlos: 'R²=0.032. El modelo no explica casi nada. Ese fracaso fue el primer hallazgo real.'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[S4 — ACTO 2 STATS]</a:t>
            </a:r>
          </a:p>
          <a:p>
            <a:r>
              <a:t>Carlos: '60.8% compra al menos un producto no saludable. 50.3% SOLO no saludable. Solo 23.7% compra algo sano.'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[S5 — CALLOUT]</a:t>
            </a:r>
          </a:p>
          <a:p>
            <a:r>
              <a:t>Carlos: 'El sistema está diseñado para empujar lo no saludable — no es una falla de las personas.'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[S6 — ACTO 3]</a:t>
            </a:r>
          </a:p>
          <a:p>
            <a:r>
              <a:t>Alexis: '104 personas en SLP. El resultado convergió exactamente con lo que el MIT nos dijo.'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[S7 — PUENTE]</a:t>
            </a:r>
          </a:p>
          <a:p>
            <a:r>
              <a:t>Fernanda: 'Nuestros datos son de adultos — somos honestos con eso. El punto de palanca es formarlos antes de que lleguen al mostrador.'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[S8 — PROPUESTA]</a:t>
            </a:r>
          </a:p>
          <a:p>
            <a:r>
              <a:t>Fernanda: 'Cuatro componentes. Ninguno requiere crear una materia nueva — todo se alinea con Vida Saludable de la NEM.'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[S9 — MONTE CARLO]</a:t>
            </a:r>
          </a:p>
          <a:p>
            <a:r>
              <a:t>Carlos: 'El escenario central: la obesidad baja de 31.9% a 26.2% a 5 años. Incluimos el resultado nulo porque la honestidad no es opcional.'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[S10 — HONESTIDAD]</a:t>
            </a:r>
          </a:p>
          <a:p>
            <a:r>
              <a:t>Carlos: 'En el MIT esperan rigor intelectual. Por eso somos explícitos sobre lo que sabemos, asumimos y no sabemos.'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[S11 — EXPERTOS]</a:t>
            </a:r>
          </a:p>
          <a:p>
            <a:r>
              <a:t>Alexis: 'Para no quedarnos solo con nuestros datos, llevamos la propuesta a cinco expertos con perspectivas radicalmente distintas.'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[S12 — CIERRE]</a:t>
            </a:r>
          </a:p>
          <a:p>
            <a:r>
              <a:t>Fernanda: 'La pregunta del MIT fue: ¿qué impide la compra saludable? Nuestra respuesta: no es ignorancia — es estructura. Y la solución más efectiva está en las aulas.'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27" y="13365"/>
            <a:ext cx="12188952" cy="685800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B8862A"/>
                </a:solidFill>
              </a:rPr>
              <a:t>MIT LiftLab 2026  ·  Tec de Monterrey, Campus SLP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53500"/>
            <a:ext cx="103601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 dirty="0">
                <a:solidFill>
                  <a:srgbClr val="F4EFE6"/>
                </a:solidFill>
              </a:rPr>
              <a:t>From nanostores</a:t>
            </a:r>
            <a:r>
              <a:rPr sz="9600" b="1" i="0" dirty="0" err="1">
                <a:solidFill>
                  <a:srgbClr val="F4EFE6"/>
                </a:solidFill>
              </a:rPr>
              <a:t/>
            </a:r>
            <a:endParaRPr sz="9600" b="1" i="0" dirty="0">
              <a:solidFill>
                <a:srgbClr val="F4EFE6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36015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 dirty="0">
                <a:solidFill>
                  <a:srgbClr val="B8332A"/>
                </a:solidFill>
              </a:rPr>
              <a:t>to classrooms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6210" y="3580906"/>
            <a:ext cx="61762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 dirty="0">
                <a:solidFill>
                  <a:srgbClr val="8A7D6E"/>
                </a:solidFill>
              </a:rPr>
              <a:t>What keeps people from buying healthy products
in Mexico's nanostores?</a:t>
            </a:r>
            <a:r>
              <a:rPr sz="2000" b="0" i="1" dirty="0" err="1">
                <a:solidFill>
                  <a:srgbClr val="8A7D6E"/>
                </a:solidFill>
              </a:rPr>
              <a:t/>
            </a:r>
            <a:r>
              <a:rPr sz="2000" b="0" i="1" dirty="0">
                <a:solidFill>
                  <a:srgbClr val="8A7D6E"/>
                </a:solidFill>
              </a:rPr>
              <a:t/>
            </a:r>
            <a:r>
              <a:rPr sz="2000" b="0" i="1" dirty="0" err="1">
                <a:solidFill>
                  <a:srgbClr val="8A7D6E"/>
                </a:solidFill>
              </a:rPr>
              <a:t/>
            </a:r>
            <a:r>
              <a:rPr sz="2000" b="0" i="1" dirty="0">
                <a:solidFill>
                  <a:srgbClr val="8A7D6E"/>
                </a:solidFill>
              </a:rPr>
              <a:t/>
            </a:r>
            <a:r>
              <a:rPr sz="2000" b="0" i="1" dirty="0" err="1">
                <a:solidFill>
                  <a:srgbClr val="8A7D6E"/>
                </a:solidFill>
              </a:rPr>
              <a:t/>
            </a:r>
            <a:r>
              <a:rPr sz="2000" b="0" i="1" dirty="0">
                <a:solidFill>
                  <a:srgbClr val="8A7D6E"/>
                </a:solidFill>
              </a:rPr>
              <a:t/>
            </a:r>
            <a:r>
              <a:rPr sz="2000" b="0" i="1" dirty="0" err="1">
                <a:solidFill>
                  <a:srgbClr val="8A7D6E"/>
                </a:solidFill>
              </a:rPr>
              <a:t/>
            </a:r>
            <a:r>
              <a:rPr sz="2000" b="0" i="1" dirty="0">
                <a:solidFill>
                  <a:srgbClr val="8A7D6E"/>
                </a:solidFill>
              </a:rPr>
              <a:t/>
            </a:r>
            <a:r>
              <a:rPr sz="2000" b="0" i="1" dirty="0" err="1">
                <a:solidFill>
                  <a:srgbClr val="8A7D6E"/>
                </a:solidFill>
              </a:rPr>
              <a:t/>
            </a:r>
            <a:r>
              <a:rPr sz="2000" b="0" i="1" dirty="0">
                <a:solidFill>
                  <a:srgbClr val="8A7D6E"/>
                </a:solidFill>
              </a:rPr>
              <a:t/>
            </a:r>
            <a:r>
              <a:rPr sz="2000" b="0" i="1" dirty="0" err="1">
                <a:solidFill>
                  <a:srgbClr val="8A7D6E"/>
                </a:solidFill>
              </a:rPr>
              <a:t/>
            </a:r>
            <a:r>
              <a:rPr sz="2000" b="0" i="1" dirty="0">
                <a:solidFill>
                  <a:srgbClr val="8A7D6E"/>
                </a:solidFill>
              </a:rPr>
              <a:t/>
            </a:r>
            <a:r>
              <a:rPr sz="2000" b="0" i="1" dirty="0" err="1">
                <a:solidFill>
                  <a:srgbClr val="8A7D6E"/>
                </a:solidFill>
              </a:rPr>
              <a:t/>
            </a:r>
            <a:r>
              <a:rPr sz="2000" b="0" i="1" dirty="0">
                <a:solidFill>
                  <a:srgbClr val="8A7D6E"/>
                </a:solidFill>
              </a:rPr>
              <a:t/>
            </a:r>
            <a:r>
              <a:rPr sz="2000" b="0" i="1" dirty="0" err="1">
                <a:solidFill>
                  <a:srgbClr val="8A7D6E"/>
                </a:solidFill>
              </a:rPr>
              <a:t/>
            </a:r>
            <a:r>
              <a:rPr sz="2000" b="0" i="1" dirty="0">
                <a:solidFill>
                  <a:srgbClr val="8A7D6E"/>
                </a:solidFill>
              </a:rPr>
              <a:t/>
            </a:r>
            <a:r>
              <a:rPr sz="2000" b="0" i="1" dirty="0" err="1">
                <a:solidFill>
                  <a:srgbClr val="8A7D6E"/>
                </a:solidFill>
              </a:rPr>
              <a:t/>
            </a:r>
            <a:r>
              <a:rPr sz="2000" b="0" i="1" dirty="0">
                <a:solidFill>
                  <a:srgbClr val="8A7D6E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760720"/>
            <a:ext cx="944575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300" b="1" dirty="0">
                <a:solidFill>
                  <a:srgbClr val="B8862A"/>
                </a:solidFill>
              </a:rPr>
              <a:t>Carlos Torres  · </a:t>
            </a:r>
            <a:r>
              <a:rPr lang="pt-BR" sz="1300" b="1" i="0" dirty="0">
                <a:solidFill>
                  <a:srgbClr val="B8862A"/>
                </a:solidFill>
              </a:rPr>
              <a:t>Fernanda Ita  ·  Alexis Marcos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6217920"/>
            <a:ext cx="94457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8A7D6E"/>
                </a:solidFill>
              </a:rPr>
              <a:t>Campus SLP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STARTING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-274320" y="27432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0" b="1">
                <a:solidFill>
                  <a:srgbClr val="DFD8CC"/>
                </a:solidFill>
              </a:rPr>
              <a:t>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612"/>
                </a:solidFill>
              </a:rPr>
              <a:t>The MIT LiftLab field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D6E"/>
                </a:solidFill>
              </a:rPr>
              <a:t>3,040 real records from Mexican nanostores · National study · ~13 campuses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2606040" cy="201168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783080"/>
            <a:ext cx="2606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B8332A"/>
                </a:solidFill>
              </a:rPr>
              <a:t>221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0048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4EFE6"/>
                </a:solidFill>
              </a:rPr>
              <a:t>Nanostores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691640"/>
            <a:ext cx="2606040" cy="201168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783080"/>
            <a:ext cx="2606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D4E89"/>
                </a:solidFill>
              </a:rPr>
              <a:t>1,135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670048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4EFE6"/>
                </a:solidFill>
              </a:rPr>
              <a:t>Shoppers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691640"/>
            <a:ext cx="2606040" cy="201168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783080"/>
            <a:ext cx="2606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B8862A"/>
                </a:solidFill>
              </a:rPr>
              <a:t>236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670048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4EFE6"/>
                </a:solidFill>
              </a:rPr>
              <a:t>Shopkeepers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691640"/>
            <a:ext cx="2606040" cy="201168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06840" y="1783080"/>
            <a:ext cx="2606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2D5E3E"/>
                </a:solidFill>
              </a:rPr>
              <a:t>1,448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670048"/>
            <a:ext cx="2606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4EFE6"/>
                </a:solidFill>
              </a:rPr>
              <a:t>Last-mile
deliveries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931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612"/>
                </a:solidFill>
              </a:rPr>
              <a:t>+ 104 own survey responses · San Luis Potosí · Dec 2025–Jan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54864" cy="16459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" y="4572000"/>
            <a:ext cx="110825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1A1612"/>
                </a:solidFill>
              </a:rPr>
              <a:t>The story that follows is the real path we took: including the model that failed. Because that failure was exactly what led us to the right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ACT 1 — THE REGRESSION THAT FAILED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0" y="-18288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0" b="1">
                <a:solidFill>
                  <a:srgbClr val="DFD8CC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612"/>
                </a:solidFill>
              </a:rPr>
              <a:t>We started where every analyst starts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D6E"/>
                </a:solidFill>
              </a:rPr>
              <a:t>Linear regression · Predicting shopper spend from demographics and budget</a:t>
            </a:r>
          </a:p>
        </p:txBody>
      </p:sp>
      <p:pic>
        <p:nvPicPr>
          <p:cNvPr id="8" name="Picture 7" descr="v2_act1_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72768"/>
            <a:ext cx="6583680" cy="3840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223760" y="1572768"/>
            <a:ext cx="4663440" cy="123444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23760" y="169164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4EFE6"/>
                </a:solidFill>
              </a:rPr>
              <a:t>R² = 0.032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39572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4EFE6"/>
                </a:solidFill>
              </a:rPr>
              <a:t>the model explains nothing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944368"/>
            <a:ext cx="4663440" cy="228600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06640" y="3035808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8862A"/>
                </a:solidFill>
              </a:rPr>
              <a:t>FIRST REAL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401568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EFE6"/>
                </a:solidFill>
              </a:rPr>
              <a:t>An R² of 0.03 is not a mistake —
it's evidence that shopper behaviour
is not a simple linear function of who you are.
Something more structural is at play.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60720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B8332A"/>
                </a:solidFill>
              </a:rPr>
              <a:t>→ Something more structural is going on.</a:t>
            </a:r>
            <a:r>
              <a:rPr sz="1300" b="1" i="0" dirty="0" err="1">
                <a:solidFill>
                  <a:srgbClr val="B8332A"/>
                </a:solidFill>
              </a:rPr>
              <a:t/>
            </a:r>
            <a:r>
              <a:rPr sz="1300" b="1" i="0" dirty="0">
                <a:solidFill>
                  <a:srgbClr val="B8332A"/>
                </a:solidFill>
              </a:rPr>
              <a:t/>
            </a:r>
            <a:r>
              <a:rPr sz="1300" b="1" i="0" dirty="0" err="1">
                <a:solidFill>
                  <a:srgbClr val="B8332A"/>
                </a:solidFill>
              </a:rPr>
              <a:t/>
            </a:r>
            <a:r>
              <a:rPr sz="1300" b="1" i="0" dirty="0">
                <a:solidFill>
                  <a:srgbClr val="B8332A"/>
                </a:solidFill>
              </a:rPr>
              <a:t/>
            </a:r>
            <a:r>
              <a:rPr sz="1300" b="1" i="0" dirty="0" err="1">
                <a:solidFill>
                  <a:srgbClr val="B8332A"/>
                </a:solidFill>
              </a:rPr>
              <a:t/>
            </a:r>
            <a:r>
              <a:rPr sz="1300" b="1" i="0" dirty="0">
                <a:solidFill>
                  <a:srgbClr val="B8332A"/>
                </a:solidFill>
              </a:rPr>
              <a:t/>
            </a:r>
            <a:r>
              <a:rPr sz="1300" b="1" i="0" dirty="0" err="1">
                <a:solidFill>
                  <a:srgbClr val="B8332A"/>
                </a:solidFill>
              </a:rPr>
              <a:t/>
            </a:r>
            <a:r>
              <a:rPr sz="1300" b="1" i="0" dirty="0">
                <a:solidFill>
                  <a:srgbClr val="B8332A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ACT 2 — THE REAL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0" y="-18288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0" b="1">
                <a:solidFill>
                  <a:srgbClr val="DFD8CC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612"/>
                </a:solidFill>
              </a:rPr>
              <a:t>We changed the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D6E"/>
                </a:solidFill>
              </a:rPr>
              <a:t>Instead of 'how much does this person spend?', we asked what really gets bought and how the whole system looks.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11640312" cy="18288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0896" y="1801368"/>
            <a:ext cx="2836926" cy="155448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896" y="1856231"/>
            <a:ext cx="283692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B8332A"/>
                </a:solidFill>
              </a:rPr>
              <a:t>60.8%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2697480"/>
            <a:ext cx="283692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D6E"/>
                </a:solidFill>
              </a:rPr>
              <a:t>buys ≥1 unhealthy item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0974" y="1801368"/>
            <a:ext cx="2836926" cy="155448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20974" y="1856231"/>
            <a:ext cx="283692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B8332A"/>
                </a:solidFill>
              </a:rPr>
              <a:t>50.3%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0974" y="2697480"/>
            <a:ext cx="283692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D6E"/>
                </a:solidFill>
              </a:rPr>
              <a:t>buys ONLY unhealthy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1052" y="1801368"/>
            <a:ext cx="2836926" cy="155448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31052" y="1856231"/>
            <a:ext cx="283692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D5E3E"/>
                </a:solidFill>
              </a:rPr>
              <a:t>23.7%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1052" y="2697480"/>
            <a:ext cx="283692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D6E"/>
                </a:solidFill>
              </a:rPr>
              <a:t>buys something healthy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41130" y="1801368"/>
            <a:ext cx="2836926" cy="155448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41130" y="1856231"/>
            <a:ext cx="283692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4E89"/>
                </a:solidFill>
              </a:rPr>
              <a:t>66%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1130" y="2697480"/>
            <a:ext cx="283692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A7D6E"/>
                </a:solidFill>
              </a:rPr>
              <a:t>deliveries w/o healthy offer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355848"/>
            <a:ext cx="11640312" cy="18288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v2_act2_bas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520440"/>
            <a:ext cx="5760720" cy="3063240"/>
          </a:xfrm>
          <a:prstGeom prst="rect">
            <a:avLst/>
          </a:prstGeom>
        </p:spPr>
      </p:pic>
      <p:pic>
        <p:nvPicPr>
          <p:cNvPr id="23" name="Picture 22" descr="v2_act2_intention_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483865"/>
            <a:ext cx="576072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ACT 2 — THE HEART OF THE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612"/>
                </a:solidFill>
              </a:rPr>
              <a:t>People are not ignorant and not indifferent.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11640312" cy="2099253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59" y="1691639"/>
            <a:ext cx="11000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B8862A"/>
                </a:solidFill>
              </a:rPr>
              <a:t>THE HEART OF THE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59" y="2039112"/>
            <a:ext cx="110002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4EFE6"/>
                </a:solidFill>
              </a:rPr>
              <a:t>85% know · 63% would buy healthier · 65% want more options.
But only 24% actually buy anything healthy.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59" y="2834639"/>
            <a:ext cx="110002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D6CCB9"/>
                </a:solidFill>
              </a:rPr>
              <a:t>The dominant declared barrier is price perception. Neither the regression (R²=0.032) nor a Random Forest (AUC≈0.55) predicts healthy purchasing from individual traits. The problem is not the people — it's the conditions around them.</a:t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  <a:r>
              <a:rPr sz="1200" b="0" i="0" dirty="0" err="1">
                <a:solidFill>
                  <a:srgbClr val="D6CCB9"/>
                </a:solidFill>
              </a:rPr>
              <a:t/>
            </a:r>
            <a:r>
              <a:rPr sz="1200" b="0" i="0" dirty="0">
                <a:solidFill>
                  <a:srgbClr val="D6CCB9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021394"/>
            <a:ext cx="5577840" cy="2534854"/>
          </a:xfrm>
          <a:prstGeom prst="rect">
            <a:avLst/>
          </a:prstGeom>
          <a:solidFill>
            <a:srgbClr val="EBE3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3464" y="4021394"/>
            <a:ext cx="45719" cy="2534854"/>
          </a:xfrm>
          <a:prstGeom prst="rect">
            <a:avLst/>
          </a:prstGeom>
          <a:solidFill>
            <a:srgbClr val="1D4E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415327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1A1612"/>
                </a:solidFill>
              </a:rPr>
              <a:t>Random Forest · AUC ≈ 0.55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4507991"/>
            <a:ext cx="507059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4A4138"/>
                </a:solidFill>
              </a:rPr>
              <a:t>Barely better than a coin flip. Healthy purchasing is not explained by who you are.</a:t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  <a:r>
              <a:rPr sz="1600" b="0" i="0" dirty="0" err="1">
                <a:solidFill>
                  <a:srgbClr val="4A4138"/>
                </a:solidFill>
              </a:rPr>
              <a:t/>
            </a:r>
            <a:r>
              <a:rPr sz="1600" b="0" i="0" dirty="0">
                <a:solidFill>
                  <a:srgbClr val="4A4138"/>
                </a:solidFill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08192" y="4021394"/>
            <a:ext cx="5797169" cy="2534854"/>
          </a:xfrm>
          <a:prstGeom prst="rect">
            <a:avLst/>
          </a:prstGeom>
          <a:solidFill>
            <a:srgbClr val="EBE3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08192" y="4021394"/>
            <a:ext cx="54864" cy="2534854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233" y="414183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1612"/>
                </a:solidFill>
              </a:rPr>
              <a:t>Last mile · 66% with no healthy offer</a:t>
            </a:r>
            <a:r>
              <a:rPr sz="1300" b="1" i="0" dirty="0">
                <a:solidFill>
                  <a:srgbClr val="1A1612"/>
                </a:solidFill>
              </a:rPr>
              <a:t/>
            </a:r>
            <a:r>
              <a:rPr sz="1300" b="1" i="0" dirty="0" err="1">
                <a:solidFill>
                  <a:srgbClr val="1A1612"/>
                </a:solidFill>
              </a:rPr>
              <a:t/>
            </a:r>
            <a:r>
              <a:rPr sz="1300" b="1" i="0" dirty="0">
                <a:solidFill>
                  <a:srgbClr val="1A1612"/>
                </a:solidFill>
              </a:rPr>
              <a:t/>
            </a:r>
            <a:r>
              <a:rPr sz="1300" b="1" i="0" dirty="0" err="1">
                <a:solidFill>
                  <a:srgbClr val="1A1612"/>
                </a:solidFill>
              </a:rPr>
              <a:t/>
            </a:r>
            <a:r>
              <a:rPr sz="1300" b="1" i="0" dirty="0">
                <a:solidFill>
                  <a:srgbClr val="1A1612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233" y="4458583"/>
            <a:ext cx="44295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dirty="0">
                <a:solidFill>
                  <a:srgbClr val="4A4138"/>
                </a:solidFill>
              </a:rPr>
              <a:t>2 out of 3 deliveries offered no healthy products to the store. The problem starts before the counter.</a:t>
            </a:r>
            <a:r>
              <a:rPr sz="1600" dirty="0" err="1">
                <a:solidFill>
                  <a:srgbClr val="4A4138"/>
                </a:solidFill>
              </a:rPr>
              <a:t/>
            </a:r>
            <a:r>
              <a:rPr sz="1600" dirty="0">
                <a:solidFill>
                  <a:srgbClr val="4A4138"/>
                </a:solidFill>
              </a:rPr>
              <a:t/>
            </a:r>
            <a:r>
              <a:rPr sz="1600" dirty="0" err="1">
                <a:solidFill>
                  <a:srgbClr val="4A4138"/>
                </a:solidFill>
              </a:rPr>
              <a:t/>
            </a:r>
            <a:r>
              <a:rPr sz="1600" dirty="0">
                <a:solidFill>
                  <a:srgbClr val="4A4138"/>
                </a:solidFill>
              </a:rPr>
              <a:t/>
            </a:r>
            <a:r>
              <a:rPr sz="1600" dirty="0" err="1">
                <a:solidFill>
                  <a:srgbClr val="4A4138"/>
                </a:solidFill>
              </a:rPr>
              <a:t/>
            </a:r>
            <a:r>
              <a:rPr sz="1600" dirty="0">
                <a:solidFill>
                  <a:srgbClr val="4A4138"/>
                </a:solidFill>
              </a:rPr>
              <a:t/>
            </a:r>
            <a:r>
              <a:rPr sz="1600" dirty="0" err="1">
                <a:solidFill>
                  <a:srgbClr val="4A4138"/>
                </a:solidFill>
              </a:rPr>
              <a:t/>
            </a:r>
            <a:r>
              <a:rPr sz="1600" dirty="0">
                <a:solidFill>
                  <a:srgbClr val="4A4138"/>
                </a:solidFill>
              </a:rPr>
              <a:t/>
            </a:r>
            <a:r>
              <a:rPr sz="1600" dirty="0" err="1">
                <a:solidFill>
                  <a:srgbClr val="4A4138"/>
                </a:solidFill>
              </a:rPr>
              <a:t/>
            </a:r>
            <a:r>
              <a:rPr sz="1600" dirty="0">
                <a:solidFill>
                  <a:srgbClr val="4A4138"/>
                </a:solidFill>
              </a:rPr>
              <a:t/>
            </a:r>
            <a:r>
              <a:rPr sz="1600" dirty="0" err="1">
                <a:solidFill>
                  <a:srgbClr val="4A4138"/>
                </a:solidFill>
              </a:rPr>
              <a:t/>
            </a:r>
            <a:r>
              <a:rPr sz="1600" dirty="0">
                <a:solidFill>
                  <a:srgbClr val="4A4138"/>
                </a:solidFill>
              </a:rPr>
              <a:t/>
            </a:r>
            <a:r>
              <a:rPr sz="1600" dirty="0" err="1">
                <a:solidFill>
                  <a:srgbClr val="4A4138"/>
                </a:solidFill>
              </a:rPr>
              <a:t/>
            </a:r>
            <a:r>
              <a:rPr sz="1600" dirty="0">
                <a:solidFill>
                  <a:srgbClr val="4A4138"/>
                </a:solidFill>
              </a:rPr>
              <a:t/>
            </a:r>
            <a:r>
              <a:rPr sz="1600" dirty="0" err="1">
                <a:solidFill>
                  <a:srgbClr val="4A4138"/>
                </a:solidFill>
              </a:rPr>
              <a:t/>
            </a:r>
            <a:r>
              <a:rPr sz="1600" dirty="0">
                <a:solidFill>
                  <a:srgbClr val="4A4138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ACT 3 — OUR OWN SURVEY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0" y="-18288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0" b="1">
                <a:solidFill>
                  <a:srgbClr val="DFD8CC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612"/>
                </a:solidFill>
              </a:rPr>
              <a:t>A single dataset is a single 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7D6E"/>
                </a:solidFill>
              </a:rPr>
              <a:t>We ran our own independent survey to triangulate without anchoring on the MIT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64208"/>
            <a:ext cx="54864" cy="128016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1664208"/>
            <a:ext cx="48646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1A1612"/>
                </a:solidFill>
              </a:rPr>
              <a:t>80 out of 94 respondents would change their habits with more time or resources.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63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138"/>
                </a:solidFill>
              </a:rPr>
              <a:t>·  Root cause: lack of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93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138"/>
                </a:solidFill>
              </a:rPr>
              <a:t>·  Heavy nanostore use: soda and snacks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12394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138"/>
                </a:solidFill>
              </a:rPr>
              <a:t>·  Parents: very worried about their children's diet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65429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</a:rPr>
              <a:t>·  Exact convergence with MIT dataset</a:t>
            </a:r>
          </a:p>
        </p:txBody>
      </p:sp>
      <p:pic>
        <p:nvPicPr>
          <p:cNvPr id="14" name="Picture 13" descr="v2_act3_solutions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27632"/>
            <a:ext cx="6309360" cy="411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74320" y="6080760"/>
            <a:ext cx="11640312" cy="594360"/>
          </a:xfrm>
          <a:prstGeom prst="rect">
            <a:avLst/>
          </a:prstGeom>
          <a:solidFill>
            <a:srgbClr val="B88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614476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1A1612"/>
                </a:solidFill>
              </a:rPr>
              <a:t>Convergence: same root cause from an independent sample. Respondents themselves name nutrition education as a solution.</a:t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  <a:r>
              <a:rPr sz="1200" b="1" i="0" dirty="0" err="1">
                <a:solidFill>
                  <a:srgbClr val="1A1612"/>
                </a:solidFill>
              </a:rPr>
              <a:t/>
            </a:r>
            <a:r>
              <a:rPr sz="1200" b="1" i="0" dirty="0">
                <a:solidFill>
                  <a:srgbClr val="1A1612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THE LOGICAL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612"/>
                </a:solidFill>
              </a:rPr>
              <a:t>The data is about adults. The solution targets adolescents.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D6E"/>
                </a:solidFill>
              </a:rPr>
              <a:t>The bridge is honest and explicit: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3474720" cy="173736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5216" y="2167128"/>
            <a:ext cx="294820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F4EFE6"/>
                </a:solidFill>
              </a:rPr>
              <a:t>Current ecosystem
pushes unhealthy choices</a:t>
            </a:r>
            <a:r>
              <a:rPr sz="2000" b="1" i="0" dirty="0">
                <a:solidFill>
                  <a:srgbClr val="F4EFE6"/>
                </a:solidFill>
              </a:rPr>
              <a:t/>
            </a:r>
            <a:r>
              <a:rPr sz="2000" b="1" i="0" dirty="0" err="1">
                <a:solidFill>
                  <a:srgbClr val="F4EFE6"/>
                </a:solidFill>
              </a:rPr>
              <a:t/>
            </a:r>
            <a:r>
              <a:rPr sz="2000" b="1" i="0" dirty="0">
                <a:solidFill>
                  <a:srgbClr val="F4EFE6"/>
                </a:solidFill>
              </a:rPr>
              <a:t/>
            </a:r>
            <a:r>
              <a:rPr sz="2000" b="1" i="0" dirty="0" err="1">
                <a:solidFill>
                  <a:srgbClr val="F4EFE6"/>
                </a:solidFill>
              </a:rPr>
              <a:t/>
            </a:r>
            <a:endParaRPr sz="2000" b="1" i="0" dirty="0">
              <a:solidFill>
                <a:srgbClr val="F4EFE6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67328" y="224028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1612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691640"/>
            <a:ext cx="3474720" cy="173736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71416" y="2055684"/>
            <a:ext cx="29654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B8862A"/>
                </a:solidFill>
              </a:rPr>
              <a:t>People know and want —
but can't close the gap</a:t>
            </a:r>
            <a:r>
              <a:rPr sz="2000" b="1" i="0" dirty="0" err="1">
                <a:solidFill>
                  <a:srgbClr val="B8862A"/>
                </a:solidFill>
              </a:rPr>
              <a:t/>
            </a:r>
            <a:r>
              <a:rPr sz="2000" b="1" i="0" dirty="0">
                <a:solidFill>
                  <a:srgbClr val="B8862A"/>
                </a:solidFill>
              </a:rPr>
              <a:t/>
            </a:r>
            <a:r>
              <a:rPr sz="2000" b="1" i="0" dirty="0" err="1">
                <a:solidFill>
                  <a:srgbClr val="B8862A"/>
                </a:solidFill>
              </a:rPr>
              <a:t/>
            </a:r>
            <a:r>
              <a:rPr sz="2000" b="1" i="0" dirty="0">
                <a:solidFill>
                  <a:srgbClr val="B8862A"/>
                </a:solidFill>
              </a:rPr>
              <a:t/>
            </a:r>
            <a:r>
              <a:rPr sz="2000" b="1" i="0" dirty="0" err="1">
                <a:solidFill>
                  <a:srgbClr val="B8862A"/>
                </a:solidFill>
              </a:rPr>
              <a:t/>
            </a:r>
            <a:r>
              <a:rPr sz="2000" b="1" i="0" dirty="0">
                <a:solidFill>
                  <a:srgbClr val="B8862A"/>
                </a:solidFill>
              </a:rPr>
              <a:t/>
            </a:r>
            <a:r>
              <a:rPr sz="2000" b="1" i="0" dirty="0" err="1">
                <a:solidFill>
                  <a:srgbClr val="B8862A"/>
                </a:solidFill>
              </a:rPr>
              <a:t/>
            </a:r>
            <a:r>
              <a:rPr sz="2000" b="1" i="0" dirty="0">
                <a:solidFill>
                  <a:srgbClr val="B8862A"/>
                </a:solidFill>
              </a:rPr>
              <a:t/>
            </a:r>
            <a:r>
              <a:rPr sz="2000" b="1" i="0" dirty="0" err="1">
                <a:solidFill>
                  <a:srgbClr val="B8862A"/>
                </a:solidFill>
              </a:rPr>
              <a:t/>
            </a:r>
            <a:r>
              <a:rPr sz="2000" b="1" i="0" dirty="0">
                <a:solidFill>
                  <a:srgbClr val="B8862A"/>
                </a:solidFill>
              </a:rPr>
              <a:t/>
            </a:r>
            <a:r>
              <a:rPr sz="2000" b="1" i="0" dirty="0" err="1">
                <a:solidFill>
                  <a:srgbClr val="B8862A"/>
                </a:solidFill>
              </a:rPr>
              <a:t/>
            </a:r>
            <a:endParaRPr sz="2000" b="1" i="0" dirty="0">
              <a:solidFill>
                <a:srgbClr val="B8862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653528" y="224028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A1612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91640"/>
            <a:ext cx="3474720" cy="1737360"/>
          </a:xfrm>
          <a:prstGeom prst="rect">
            <a:avLst/>
          </a:prstGeom>
          <a:solidFill>
            <a:srgbClr val="2D5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75320" y="2126754"/>
            <a:ext cx="3200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2000" b="1" i="0">
                <a:solidFill>
                  <a:srgbClr val="F4EFE6"/>
                </a:solidFill>
              </a:defRPr>
            </a:lvl1pPr>
          </a:lstStyle>
          <a:p>
            <a:r>
              <a:rPr dirty="0"/>
              <a:t>Lever: educate
the next generation of shoppers</a:t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endParaRPr dirty="0"/>
          </a:p>
        </p:txBody>
      </p:sp>
      <p:sp>
        <p:nvSpPr>
          <p:cNvPr id="15" name="Rectangle 14"/>
          <p:cNvSpPr/>
          <p:nvPr/>
        </p:nvSpPr>
        <p:spPr>
          <a:xfrm>
            <a:off x="274320" y="3657600"/>
            <a:ext cx="11640312" cy="2011680"/>
          </a:xfrm>
          <a:prstGeom prst="rect">
            <a:avLst/>
          </a:prstGeom>
          <a:solidFill>
            <a:srgbClr val="EBE3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730752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612"/>
                </a:solidFill>
              </a:rPr>
              <a:t>Why lower secondary school (ages 12–15)?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60520"/>
            <a:ext cx="11155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138"/>
                </a:solidFill>
              </a:rPr>
              <a:t>·  Higher obesity in adolescents (40.1%) than in children (36.6%) — ENSANUT 2020–2024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17720"/>
            <a:ext cx="11155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138"/>
                </a:solidFill>
              </a:rPr>
              <a:t>·  They handle their own money and visit nanostores independently: tomorrow's shoppers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74920"/>
            <a:ext cx="11155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138"/>
                </a:solidFill>
              </a:rPr>
              <a:t>·  Adolescent habits consolidate into adult life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704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8332A"/>
                </a:solidFill>
              </a:rPr>
              <a:t>We don't regulate the nanostores. We educate those who will visit them for life.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ACT 4 — 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-18288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0" b="1">
                <a:solidFill>
                  <a:srgbClr val="DFD8CC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612"/>
                </a:solidFill>
              </a:rPr>
              <a:t>Strengthen Physical Education and Healthy Living in secondary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D6E"/>
                </a:solidFill>
              </a:rPr>
              <a:t>Complement to NEM Plan 2022 · Not a new subject — reinforcing what the curriculum already names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91640"/>
            <a:ext cx="5577840" cy="16916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78308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B8862A"/>
                </a:solidFill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801368"/>
            <a:ext cx="3931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EFE6"/>
                </a:solidFill>
              </a:rPr>
              <a:t>Extended PE
(2h → 3h)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709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7D6E"/>
                </a:solidFill>
              </a:rPr>
              <a:t>Active lifestyle literacy: reading labels, planning a healthy snack on a real 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691640"/>
            <a:ext cx="5577840" cy="16916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78308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B8862A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801368"/>
            <a:ext cx="3931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EFE6"/>
                </a:solidFill>
              </a:rPr>
              <a:t>Critical
environment module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514600"/>
            <a:ext cx="4709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7D6E"/>
                </a:solidFill>
              </a:rPr>
              <a:t>Audit of nanostores around the school · Every two weeks · Connects learning to real environment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566160"/>
            <a:ext cx="5577840" cy="16916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365760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B8862A"/>
                </a:solidFill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675887"/>
            <a:ext cx="3931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EFE6"/>
                </a:solidFill>
              </a:rPr>
              <a:t>Teacher
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389120"/>
            <a:ext cx="4709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7D6E"/>
                </a:solidFill>
              </a:rPr>
              <a:t>8h async package + optional 4h workshop · Without trained teachers, nothing works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577840" cy="16916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3657600"/>
            <a:ext cx="640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B8862A"/>
                </a:solidFill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675887"/>
            <a:ext cx="3931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4EFE6"/>
                </a:solidFill>
              </a:rPr>
              <a:t>Family
bridge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389120"/>
            <a:ext cx="4709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A7D6E"/>
                </a:solidFill>
              </a:rPr>
              <a:t>Monthly activity: guided conversation + affordable recipe · Respects family time constraints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577840"/>
            <a:ext cx="11640312" cy="685800"/>
          </a:xfrm>
          <a:prstGeom prst="rect">
            <a:avLst/>
          </a:prstGeom>
          <a:solidFill>
            <a:srgbClr val="B88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612"/>
                </a:solidFill>
              </a:rPr>
              <a:t>Est. cost: ~MXN 9,500 / school / year   ·   ~35,000 schools → ≈ MXN 330M/year   ·   &lt; 0.05% of the federal education budget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ACT 4 — IMPACT PROJECTION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</a:rPr>
              <a:t>Monte Carlo · 1,000 students · 5,000 runs per scenario</a:t>
            </a:r>
          </a:p>
        </p:txBody>
      </p:sp>
      <p:pic>
        <p:nvPicPr>
          <p:cNvPr id="6" name="Picture 5" descr="v2_act4_montecarlo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43000"/>
            <a:ext cx="7863840" cy="5074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0" y="1143000"/>
            <a:ext cx="3520440" cy="507492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49640" y="1234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8862A"/>
                </a:solidFill>
              </a:rPr>
              <a:t>Year 5 · % obesity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1664208"/>
            <a:ext cx="3520440" cy="7772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22208" y="177393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D6E"/>
                </a:solidFill>
              </a:rPr>
              <a:t>No 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1773936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8A7D6E"/>
                </a:solidFill>
              </a:rPr>
              <a:t>36.4%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459736"/>
            <a:ext cx="3520440" cy="7772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22208" y="256946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CCB9"/>
                </a:solidFill>
              </a:rPr>
              <a:t>Null (Hodder)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2569464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D6CCB9"/>
                </a:solidFill>
              </a:rPr>
              <a:t>32.0%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255264"/>
            <a:ext cx="3520440" cy="7772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22208" y="336499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862A"/>
                </a:solidFill>
              </a:rPr>
              <a:t>Conservative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3364992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B8862A"/>
                </a:solidFill>
              </a:rPr>
              <a:t>29.8%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4050791"/>
            <a:ext cx="3520440" cy="777240"/>
          </a:xfrm>
          <a:prstGeom prst="rect">
            <a:avLst/>
          </a:prstGeom>
          <a:solidFill>
            <a:srgbClr val="26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22208" y="41605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EFE6"/>
                </a:solidFill>
              </a:rPr>
              <a:t>Central 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41605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4EFE6"/>
                </a:solidFill>
              </a:rPr>
              <a:t>26.2%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846320"/>
            <a:ext cx="3520440" cy="77724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22208" y="495604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D5E3E"/>
                </a:solidFill>
              </a:rPr>
              <a:t>Optimistic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49560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2D5E3E"/>
                </a:solidFill>
              </a:rPr>
              <a:t>22.7%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74243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7D6E"/>
                </a:solidFill>
              </a:rPr>
              <a:t>★ Central: −5.7 pp vs baseline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6446520"/>
            <a:ext cx="11640312" cy="2743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4EFE6"/>
                </a:solidFill>
              </a:rPr>
              <a:t>The null-result scenario is included intentionally — epistemic honesty over hype.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EPISTEMIC HONESTY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1612"/>
                </a:solidFill>
              </a:rPr>
              <a:t>What we know · What we assume · What we don't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3703320" cy="566928"/>
          </a:xfrm>
          <a:prstGeom prst="rect">
            <a:avLst/>
          </a:prstGeom>
          <a:solidFill>
            <a:srgbClr val="2D5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316736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4EFE6"/>
                </a:solidFill>
              </a:rPr>
              <a:t>What we
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965960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Structural barrier confirmed (2 datasets)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624328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R²=0.032 — linear regression fails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3282696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AUC=0.55 — ML also can't 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941064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66% last-mile w/o healthy options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599431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Central effect −0.17 kg/m² (Cochrane)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98448"/>
            <a:ext cx="3703320" cy="566928"/>
          </a:xfrm>
          <a:prstGeom prst="rect">
            <a:avLst/>
          </a:prstGeom>
          <a:solidFill>
            <a:srgbClr val="B88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51959" y="1316736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612"/>
                </a:solidFill>
              </a:rPr>
              <a:t>What we
assume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1965960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Literature effects are transferable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624328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80% adherence (model assumption)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3282696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1h extra PE/week (minimum dose)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941064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Healthy Living axis exists — needs reinforcing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98448"/>
            <a:ext cx="3703320" cy="566928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1316736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4EFE6"/>
                </a:solidFill>
              </a:rPr>
              <a:t>What we
don't know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1965960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Whether effects hold beyond 5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2624328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How it scales to 35,000 schools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3282696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Teacher fidelity in real implementation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941064"/>
            <a:ext cx="354787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138"/>
                </a:solidFill>
              </a:rPr>
              <a:t>·  Whether Hodder 2021 applies to Mexico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D6E"/>
                </a:solidFill>
              </a:rPr>
              <a:t>This simulation is a literature-based projection — not a prediction. Any deployment requires a piloted study with follow-up.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7D6E"/>
                </a:solidFill>
              </a:rPr>
              <a:t>EXPERT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438912"/>
            <a:ext cx="11640312" cy="10972"/>
          </a:xfrm>
          <a:prstGeom prst="rect">
            <a:avLst/>
          </a:prstGeom>
          <a:solidFill>
            <a:srgbClr val="D6CC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612"/>
                </a:solidFill>
              </a:rPr>
              <a:t>Five independent perspectives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62456" y="1627632"/>
            <a:ext cx="2176272" cy="393192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72184" y="1755648"/>
            <a:ext cx="1956816" cy="2304288"/>
          </a:xfrm>
          <a:prstGeom prst="rect">
            <a:avLst/>
          </a:prstGeom>
          <a:solidFill>
            <a:srgbClr val="2A2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2184" y="2377440"/>
            <a:ext cx="195681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B8862A"/>
                </a:solidFill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3035808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7D6E"/>
                </a:solidFill>
              </a:rPr>
              <a:t>VIDEO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4142232"/>
            <a:ext cx="19933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8862A"/>
                </a:solidFill>
              </a:rPr>
              <a:t>Dr. Leopoldo
Zúñiga Silva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53896" y="4919472"/>
            <a:ext cx="1993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7D6E"/>
                </a:solidFill>
              </a:rPr>
              <a:t>Tec de Monterrey
Education research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1627632"/>
            <a:ext cx="2176272" cy="393192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813048" y="1755648"/>
            <a:ext cx="1956816" cy="2304288"/>
          </a:xfrm>
          <a:prstGeom prst="rect">
            <a:avLst/>
          </a:prstGeom>
          <a:solidFill>
            <a:srgbClr val="2A2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13048" y="2377440"/>
            <a:ext cx="195681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B8862A"/>
                </a:solidFill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3048" y="3035808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7D6E"/>
                </a:solidFill>
              </a:rPr>
              <a:t>VIDEO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4142232"/>
            <a:ext cx="19933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8862A"/>
                </a:solidFill>
              </a:rPr>
              <a:t>Principal
Sec. Técnica 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4919472"/>
            <a:ext cx="1993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7D6E"/>
                </a:solidFill>
              </a:rPr>
              <a:t>Matehuala, SLP
Implementation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4184" y="1627632"/>
            <a:ext cx="2176272" cy="393192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53912" y="1755648"/>
            <a:ext cx="1956816" cy="2304288"/>
          </a:xfrm>
          <a:prstGeom prst="rect">
            <a:avLst/>
          </a:prstGeom>
          <a:solidFill>
            <a:srgbClr val="2A2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53912" y="2377440"/>
            <a:ext cx="195681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B8862A"/>
                </a:solidFill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035808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7D6E"/>
                </a:solidFill>
              </a:rPr>
              <a:t>VIDEO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35624" y="4142232"/>
            <a:ext cx="19933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8862A"/>
                </a:solidFill>
              </a:rPr>
              <a:t>PE Teacher
(fitness practitioner)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35624" y="4919472"/>
            <a:ext cx="1993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7D6E"/>
                </a:solidFill>
              </a:rPr>
              <a:t>Secondary school
Classroom practice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85048" y="1627632"/>
            <a:ext cx="2176272" cy="393192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494776" y="1755648"/>
            <a:ext cx="1956816" cy="2304288"/>
          </a:xfrm>
          <a:prstGeom prst="rect">
            <a:avLst/>
          </a:prstGeom>
          <a:solidFill>
            <a:srgbClr val="2A2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94776" y="2377440"/>
            <a:ext cx="195681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B8862A"/>
                </a:solidFill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94776" y="3035808"/>
            <a:ext cx="19568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7D6E"/>
                </a:solidFill>
              </a:rPr>
              <a:t>VIDEO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6488" y="4142232"/>
            <a:ext cx="19933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8862A"/>
                </a:solidFill>
              </a:rPr>
              <a:t>Education student
(fitness practitioner)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6488" y="4919472"/>
            <a:ext cx="1993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7D6E"/>
                </a:solidFill>
              </a:rPr>
              <a:t>Tec de Monterrey
Student voice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779008"/>
            <a:ext cx="1124712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 dirty="0" err="1">
                <a:solidFill>
                  <a:srgbClr val="8A7D6E"/>
                </a:solidFill>
              </a:rPr>
              <a:t>Convergence reported when 4 experts independently raise the same theme.</a:t>
            </a:r>
            <a:r>
              <a:rPr sz="1150" b="0" i="1" dirty="0">
                <a:solidFill>
                  <a:srgbClr val="8A7D6E"/>
                </a:solidFill>
              </a:rPr>
              <a:t/>
            </a:r>
            <a:r>
              <a:rPr sz="1150" b="0" i="1" dirty="0" err="1">
                <a:solidFill>
                  <a:srgbClr val="8A7D6E"/>
                </a:solidFill>
              </a:rPr>
              <a:t/>
            </a:r>
            <a:r>
              <a:rPr sz="1150" b="0" i="1" dirty="0">
                <a:solidFill>
                  <a:srgbClr val="8A7D6E"/>
                </a:solidFill>
              </a:rPr>
              <a:t/>
            </a:r>
            <a:r>
              <a:rPr sz="1150" b="0" i="1" dirty="0" err="1">
                <a:solidFill>
                  <a:srgbClr val="8A7D6E"/>
                </a:solidFill>
              </a:rPr>
              <a:t/>
            </a:r>
            <a:r>
              <a:rPr sz="1150" b="0" i="1" dirty="0">
                <a:solidFill>
                  <a:srgbClr val="8A7D6E"/>
                </a:solidFill>
              </a:rPr>
              <a:t/>
            </a:r>
            <a:r>
              <a:rPr sz="1150" b="0" i="1" dirty="0" err="1">
                <a:solidFill>
                  <a:srgbClr val="8A7D6E"/>
                </a:solidFill>
              </a:rPr>
              <a:t/>
            </a:r>
            <a:r>
              <a:rPr sz="1150" b="0" i="1" dirty="0">
                <a:solidFill>
                  <a:srgbClr val="8A7D6E"/>
                </a:solidFill>
              </a:rPr>
              <a:t/>
            </a:r>
            <a:r>
              <a:rPr sz="1150" b="0" i="1" dirty="0" err="1">
                <a:solidFill>
                  <a:srgbClr val="8A7D6E"/>
                </a:solidFill>
              </a:rPr>
              <a:t/>
            </a:r>
            <a:r>
              <a:rPr sz="1150" b="0" i="1" dirty="0">
                <a:solidFill>
                  <a:srgbClr val="8A7D6E"/>
                </a:solidFill>
              </a:rPr>
              <a:t/>
            </a:r>
            <a:r>
              <a:rPr sz="1150" b="0" i="1" dirty="0" err="1">
                <a:solidFill>
                  <a:srgbClr val="8A7D6E"/>
                </a:solidFill>
              </a:rPr>
              <a:t/>
            </a:r>
            <a:r>
              <a:rPr sz="1150" b="0" i="1" dirty="0">
                <a:solidFill>
                  <a:srgbClr val="8A7D6E"/>
                </a:solidFill>
              </a:rPr>
              <a:t/>
            </a:r>
            <a:r>
              <a:rPr sz="1150" b="0" i="1" dirty="0" err="1">
                <a:solidFill>
                  <a:srgbClr val="8A7D6E"/>
                </a:solidFill>
              </a:rPr>
              <a:t/>
            </a:r>
            <a:r>
              <a:rPr sz="1150" b="0" i="1" dirty="0">
                <a:solidFill>
                  <a:srgbClr val="8A7D6E"/>
                </a:solidFill>
              </a:rPr>
              <a:t/>
            </a:r>
            <a:r>
              <a:rPr sz="1150" b="0" i="1" dirty="0" err="1">
                <a:solidFill>
                  <a:srgbClr val="8A7D6E"/>
                </a:solidFill>
              </a:rPr>
              <a:t/>
            </a:r>
            <a:r>
              <a:rPr sz="1150" b="0" i="1" dirty="0">
                <a:solidFill>
                  <a:srgbClr val="8A7D6E"/>
                </a:solidFill>
              </a:rPr>
              <a:t/>
            </a:r>
            <a:r>
              <a:rPr sz="1150" b="0" i="1" dirty="0" err="1">
                <a:solidFill>
                  <a:srgbClr val="8A7D6E"/>
                </a:solidFill>
              </a:rPr>
              <a:t/>
            </a:r>
            <a:r>
              <a:rPr sz="1150" b="0" i="1" dirty="0">
                <a:solidFill>
                  <a:srgbClr val="8A7D6E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B8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114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4EFE6"/>
                </a:solidFill>
              </a:rPr>
              <a:t>From nanostores to classrooms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084" y="1883664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dirty="0">
                <a:solidFill>
                  <a:srgbClr val="F4EFE6"/>
                </a:solidFill>
              </a:rPr>
              <a:t>"The current ecosystem pushes unhealthy consumption.</a:t>
            </a:r>
            <a:r>
              <a:rPr sz="1500" b="0" i="1" dirty="0" err="1">
                <a:solidFill>
                  <a:srgbClr val="F4EFE6"/>
                </a:solidFill>
              </a:rPr>
              <a:t/>
            </a:r>
            <a:r>
              <a:rPr sz="1500" b="0" i="1" dirty="0">
                <a:solidFill>
                  <a:srgbClr val="F4EFE6"/>
                </a:solidFill>
              </a:rPr>
              <a:t/>
            </a:r>
            <a:r>
              <a:rPr sz="1500" b="0" i="1" dirty="0" err="1">
                <a:solidFill>
                  <a:srgbClr val="F4EFE6"/>
                </a:solidFill>
              </a:rPr>
              <a:t/>
            </a:r>
            <a:r>
              <a:rPr sz="1500" b="0" i="1" dirty="0">
                <a:solidFill>
                  <a:srgbClr val="F4EFE6"/>
                </a:solidFill>
              </a:rPr>
              <a:t/>
            </a:r>
            <a:r>
              <a:rPr sz="1500" b="0" i="1" dirty="0" err="1">
                <a:solidFill>
                  <a:srgbClr val="F4EFE6"/>
                </a:solidFill>
              </a:rPr>
              <a:t/>
            </a:r>
            <a:r>
              <a:rPr sz="1500" b="0" i="1" dirty="0">
                <a:solidFill>
                  <a:srgbClr val="F4EFE6"/>
                </a:solidFill>
              </a:rPr>
              <a:t/>
            </a:r>
            <a:r>
              <a:rPr sz="1500" b="0" i="1" dirty="0" err="1">
                <a:solidFill>
                  <a:srgbClr val="F4EFE6"/>
                </a:solidFill>
              </a:rPr>
              <a:t/>
            </a:r>
            <a:r>
              <a:rPr sz="1500" b="0" i="1" dirty="0">
                <a:solidFill>
                  <a:srgbClr val="F4EFE6"/>
                </a:solidFill>
              </a:rPr>
              <a:t/>
            </a:r>
            <a:r>
              <a:rPr sz="1500" b="0" i="1" dirty="0" err="1">
                <a:solidFill>
                  <a:srgbClr val="F4EFE6"/>
                </a:solidFill>
              </a:rPr>
              <a:t/>
            </a:r>
            <a:r>
              <a:rPr sz="1500" b="0" i="1" dirty="0">
                <a:solidFill>
                  <a:srgbClr val="F4EFE6"/>
                </a:solidFill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36" y="2721635"/>
            <a:ext cx="1036015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1" dirty="0">
                <a:solidFill>
                  <a:srgbClr val="B8862A"/>
                </a:solidFill>
              </a:rPr>
              <a:t>The most effective long-term lever is educating the next generation of shoppers."</a:t>
            </a:r>
            <a:r>
              <a:rPr sz="2800" b="1" i="1" dirty="0" err="1">
                <a:solidFill>
                  <a:srgbClr val="B8862A"/>
                </a:solidFill>
              </a:rPr>
              <a:t/>
            </a:r>
            <a:r>
              <a:rPr sz="2800" b="1" i="1" dirty="0">
                <a:solidFill>
                  <a:srgbClr val="B8862A"/>
                </a:solidFill>
              </a:rPr>
              <a:t/>
            </a:r>
            <a:r>
              <a:rPr sz="2800" b="1" i="1" dirty="0" err="1">
                <a:solidFill>
                  <a:srgbClr val="B8862A"/>
                </a:solidFill>
              </a:rPr>
              <a:t/>
            </a:r>
            <a:r>
              <a:rPr sz="2800" b="1" i="1" dirty="0">
                <a:solidFill>
                  <a:srgbClr val="B8862A"/>
                </a:solidFill>
              </a:rPr>
              <a:t/>
            </a:r>
            <a:r>
              <a:rPr sz="2800" b="1" i="1" dirty="0" err="1">
                <a:solidFill>
                  <a:srgbClr val="B8862A"/>
                </a:solidFill>
              </a:rPr>
              <a:t/>
            </a:r>
            <a:r>
              <a:rPr sz="2800" b="1" i="1" dirty="0">
                <a:solidFill>
                  <a:srgbClr val="B8862A"/>
                </a:solidFill>
              </a:rPr>
              <a:t/>
            </a:r>
            <a:r>
              <a:rPr sz="2800" b="1" i="1" dirty="0" err="1">
                <a:solidFill>
                  <a:srgbClr val="B8862A"/>
                </a:solidFill>
              </a:rPr>
              <a:t/>
            </a:r>
            <a:r>
              <a:rPr sz="2800" b="1" i="1" dirty="0">
                <a:solidFill>
                  <a:srgbClr val="B8862A"/>
                </a:solidFill>
              </a:rPr>
              <a:t/>
            </a:r>
            <a:r>
              <a:rPr sz="2800" b="1" i="1" dirty="0" err="1">
                <a:solidFill>
                  <a:srgbClr val="B8862A"/>
                </a:solidFill>
              </a:rPr>
              <a:t/>
            </a:r>
            <a:r>
              <a:rPr sz="2800" b="1" i="1" dirty="0">
                <a:solidFill>
                  <a:srgbClr val="B8862A"/>
                </a:solidFill>
              </a:rPr>
              <a:t/>
            </a:r>
            <a:r>
              <a:rPr sz="2800" b="1" i="1" dirty="0" err="1">
                <a:solidFill>
                  <a:srgbClr val="B8862A"/>
                </a:solidFill>
              </a:rPr>
              <a:t/>
            </a:r>
            <a:r>
              <a:rPr sz="2800" b="1" i="1" dirty="0">
                <a:solidFill>
                  <a:srgbClr val="B8862A"/>
                </a:solidFill>
              </a:rPr>
              <a:t/>
            </a:r>
            <a:r>
              <a:rPr sz="2800" b="1" i="1" dirty="0" err="1">
                <a:solidFill>
                  <a:srgbClr val="B8862A"/>
                </a:solidFill>
              </a:rPr>
              <a:t/>
            </a:r>
            <a:r>
              <a:rPr sz="2800" b="1" i="1" dirty="0">
                <a:solidFill>
                  <a:srgbClr val="B8862A"/>
                </a:solidFill>
              </a:rPr>
              <a:t/>
            </a:r>
            <a:r>
              <a:rPr sz="2800" b="1" i="1" dirty="0" err="1">
                <a:solidFill>
                  <a:srgbClr val="B8862A"/>
                </a:solidFill>
              </a:rPr>
              <a:t/>
            </a:r>
            <a:r>
              <a:rPr sz="2800" b="1" i="1" dirty="0">
                <a:solidFill>
                  <a:srgbClr val="B8862A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536" y="5988360"/>
            <a:ext cx="944575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300" b="1" dirty="0">
                <a:solidFill>
                  <a:srgbClr val="B8862A"/>
                </a:solidFill>
              </a:rPr>
              <a:t>Carlos Torres  · Fernanda Ita  ·  Alexis Marcos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536" y="6386494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A7D6E"/>
                </a:solidFill>
              </a:rPr>
              <a:t>Tecnológico de Monterrey · Campus San Luis Potosí · MIT LiftLab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1448</Words>
  <Application>Microsoft Office PowerPoint</Application>
  <PresentationFormat>Personalizado</PresentationFormat>
  <Paragraphs>172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alexis Marcos</cp:lastModifiedBy>
  <cp:revision>2</cp:revision>
  <dcterms:created xsi:type="dcterms:W3CDTF">2013-01-27T09:14:16Z</dcterms:created>
  <dcterms:modified xsi:type="dcterms:W3CDTF">2026-05-21T23:27:47Z</dcterms:modified>
  <cp:category/>
</cp:coreProperties>
</file>