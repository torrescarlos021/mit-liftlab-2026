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1 — TÍTULO]</a:t>
            </a:r>
          </a:p>
          <a:p>
            <a:r>
              <a:t>Fernanda: 'MIT gave us a question. This is our answer in four acts — and we start with the failure.'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[S2 — DATASET]</a:t>
            </a:r>
          </a:p>
          <a:p>
            <a:r>
              <a:t>Carlos: 'MIT gave us access to 3,040 real field records.'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[S3 — ACT 1]</a:t>
            </a:r>
          </a:p>
          <a:p>
            <a:r>
              <a:t>Carlos: 'R²=0.032. The model explains almost nothing. That failure was our first real finding.'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[S4 — ACT 2 STATS]</a:t>
            </a:r>
          </a:p>
          <a:p>
            <a:r>
              <a:t>Carlos: '60.8% buys at least one unhealthy product. 50.3% buys ONLY unhealthy. Only 23.7% buys something healthy.'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[S5 — CALLOUT]</a:t>
            </a:r>
          </a:p>
          <a:p>
            <a:r>
              <a:t>Carlos: 'The system is set up to push unhealthy choices — it's not a people failure.'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[S6 — ACT 3]</a:t>
            </a:r>
          </a:p>
          <a:p>
            <a:r>
              <a:t>Alexis: '104 people in SLP. The result converged exactly with what the MIT data told us.'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[S7 — BRIDGE]</a:t>
            </a:r>
          </a:p>
          <a:p>
            <a:r>
              <a:t>Fernanda: 'Our data is about adults — we're honest about that. The lever is to educate them before they reach the counter.'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[S8 — PROPOSAL]</a:t>
            </a:r>
          </a:p>
          <a:p>
            <a:r>
              <a:t>Fernanda: 'Four components. None requires a new subject — all align with the NEM's Healthy Living axis.'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[S9 — MONTE CARLO]</a:t>
            </a:r>
          </a:p>
          <a:p>
            <a:r>
              <a:t>Carlos: 'Central scenario: obesity falls from 31.9% to 26.2% at 5 years. We include the null result because honesty is non-negotiable.'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[S10 — HONESTY]</a:t>
            </a:r>
          </a:p>
          <a:p>
            <a:r>
              <a:t>Carlos: 'At MIT they expect intellectual rigor. That's why we're explicit about what we know, assume, and don't know.'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[S11 — EXPERTS]</a:t>
            </a:r>
          </a:p>
          <a:p>
            <a:r>
              <a:t>Alexis: 'To not rely only on our own data, we brought the proposal to five experts with radically different perspectives.'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[S12 — CLOSE]</a:t>
            </a:r>
          </a:p>
          <a:p>
            <a:r>
              <a:t>Fernanda: 'MIT's question was: what stops healthy purchasing? Our answer: not ignorance — structure. And the most effective solution is in the classrooms.'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B8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0292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B8862A"/>
                </a:solidFill>
              </a:rPr>
              <a:t>MIT LiftLab 2026  ·  Tec de Monterrey, Campus SLP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3601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200" b="1" i="0">
                <a:solidFill>
                  <a:srgbClr val="F4EFE6"/>
                </a:solidFill>
              </a:rPr>
              <a:t>From nanostores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103601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200" b="1" i="0">
                <a:solidFill>
                  <a:srgbClr val="B8332A"/>
                </a:solidFill>
              </a:rPr>
              <a:t>to classrooms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108960"/>
            <a:ext cx="85313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8A7D6E"/>
                </a:solidFill>
              </a:rPr>
              <a:t>What keeps people from buying healthy products
in Mexico's nanostores?
A four-act investigation — including the model that failed.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470916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4EFE6"/>
                </a:solidFill>
              </a:rPr>
              <a:t>3,040  MIT records</a:t>
            </a:r>
          </a:p>
        </p:txBody>
      </p:sp>
      <p:sp>
        <p:nvSpPr>
          <p:cNvPr id="9" name="Rectangle 8"/>
          <p:cNvSpPr/>
          <p:nvPr/>
        </p:nvSpPr>
        <p:spPr>
          <a:xfrm>
            <a:off x="3822191" y="4754880"/>
            <a:ext cx="18288" cy="320040"/>
          </a:xfrm>
          <a:prstGeom prst="rect">
            <a:avLst/>
          </a:prstGeom>
          <a:solidFill>
            <a:srgbClr val="8A7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0" y="470916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4EFE6"/>
                </a:solidFill>
              </a:rPr>
              <a:t>104  own surveys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08192" y="4754880"/>
            <a:ext cx="18288" cy="320040"/>
          </a:xfrm>
          <a:prstGeom prst="rect">
            <a:avLst/>
          </a:prstGeom>
          <a:solidFill>
            <a:srgbClr val="8A7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470916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4EFE6"/>
                </a:solidFill>
              </a:rPr>
              <a:t>4  acts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94192" y="4754880"/>
            <a:ext cx="18288" cy="320040"/>
          </a:xfrm>
          <a:prstGeom prst="rect">
            <a:avLst/>
          </a:prstGeom>
          <a:solidFill>
            <a:srgbClr val="8A7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470916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4EFE6"/>
                </a:solidFill>
              </a:rPr>
              <a:t>5,000  Monte Carlo runs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45920" y="4645152"/>
            <a:ext cx="8869680" cy="10972"/>
          </a:xfrm>
          <a:prstGeom prst="rect">
            <a:avLst/>
          </a:prstGeom>
          <a:solidFill>
            <a:srgbClr val="8A7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45920" y="5166360"/>
            <a:ext cx="8869680" cy="10972"/>
          </a:xfrm>
          <a:prstGeom prst="rect">
            <a:avLst/>
          </a:prstGeom>
          <a:solidFill>
            <a:srgbClr val="8A7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5760720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B8862A"/>
                </a:solidFill>
              </a:rPr>
              <a:t>Fernanda Ita  ·  Alexis Marcos  ·  Carlos Torres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6217920"/>
            <a:ext cx="9445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7D6E"/>
                </a:solidFill>
              </a:rPr>
              <a:t>Mechatronics Engineering · Campus SLP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B8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548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7D6E"/>
                </a:solidFill>
              </a:rPr>
              <a:t>STARTING POINT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438912"/>
            <a:ext cx="11640312" cy="10972"/>
          </a:xfrm>
          <a:prstGeom prst="rect">
            <a:avLst/>
          </a:prstGeom>
          <a:solidFill>
            <a:srgbClr val="D6CC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-274320" y="274320"/>
            <a:ext cx="54864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0" b="1">
                <a:solidFill>
                  <a:srgbClr val="DFD8CC"/>
                </a:solidFill>
              </a:rPr>
              <a:t>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612"/>
                </a:solidFill>
              </a:rPr>
              <a:t>The MIT LiftLab field 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1556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D6E"/>
                </a:solidFill>
              </a:rPr>
              <a:t>3,040 real records from Mexican nanostores · National study · ~13 campuses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91640"/>
            <a:ext cx="2606040" cy="201168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783080"/>
            <a:ext cx="2606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B8332A"/>
                </a:solidFill>
              </a:rPr>
              <a:t>221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670048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4EFE6"/>
                </a:solidFill>
              </a:rPr>
              <a:t>Nanostores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691640"/>
            <a:ext cx="2606040" cy="201168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6120" y="1783080"/>
            <a:ext cx="2606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1D4E89"/>
                </a:solidFill>
              </a:rPr>
              <a:t>1,135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2670048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4EFE6"/>
                </a:solidFill>
              </a:rPr>
              <a:t>Shoppers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691640"/>
            <a:ext cx="2606040" cy="201168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1783080"/>
            <a:ext cx="2606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B8862A"/>
                </a:solidFill>
              </a:rPr>
              <a:t>236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670048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4EFE6"/>
                </a:solidFill>
              </a:rPr>
              <a:t>Shopkeepers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06840" y="1691640"/>
            <a:ext cx="2606040" cy="201168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06840" y="1783080"/>
            <a:ext cx="2606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2D5E3E"/>
                </a:solidFill>
              </a:rPr>
              <a:t>1,448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40" y="2670048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4EFE6"/>
                </a:solidFill>
              </a:rPr>
              <a:t>Last-mile
deliveries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9319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612"/>
                </a:solidFill>
              </a:rPr>
              <a:t>+ 104 own survey responses · San Luis Potosí · Dec 2025–Jan 2026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572000"/>
            <a:ext cx="54864" cy="1645920"/>
          </a:xfrm>
          <a:prstGeom prst="rect">
            <a:avLst/>
          </a:prstGeom>
          <a:solidFill>
            <a:srgbClr val="B8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4572000"/>
            <a:ext cx="1108252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1A1612"/>
                </a:solidFill>
              </a:rPr>
              <a:t>The story that follows is the real path we took: including the model that failed. Because that failure was exactly what led us to the right answer.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B8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548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7D6E"/>
                </a:solidFill>
              </a:rPr>
              <a:t>ACT 1 — THE REGRESSION THAT FAILED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438912"/>
            <a:ext cx="11640312" cy="10972"/>
          </a:xfrm>
          <a:prstGeom prst="rect">
            <a:avLst/>
          </a:prstGeom>
          <a:solidFill>
            <a:srgbClr val="D6CC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0" y="-182880"/>
            <a:ext cx="54864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0" b="1">
                <a:solidFill>
                  <a:srgbClr val="DFD8CC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612"/>
                </a:solidFill>
              </a:rPr>
              <a:t>We started where every analyst starts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1556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D6E"/>
                </a:solidFill>
              </a:rPr>
              <a:t>Linear regression · Predicting shopper spend from demographics and budget</a:t>
            </a:r>
          </a:p>
        </p:txBody>
      </p:sp>
      <p:pic>
        <p:nvPicPr>
          <p:cNvPr id="8" name="Picture 7" descr="v2_act1_r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72768"/>
            <a:ext cx="6583680" cy="38404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223760" y="1572768"/>
            <a:ext cx="4663440" cy="1234440"/>
          </a:xfrm>
          <a:prstGeom prst="rect">
            <a:avLst/>
          </a:prstGeom>
          <a:solidFill>
            <a:srgbClr val="B8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0" y="1691640"/>
            <a:ext cx="4663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4EFE6"/>
                </a:solidFill>
              </a:rPr>
              <a:t>R² = 0.032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2395728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4EFE6"/>
                </a:solidFill>
              </a:rPr>
              <a:t>the model explains nothing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23760" y="2944368"/>
            <a:ext cx="4663440" cy="228600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3035808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8862A"/>
                </a:solidFill>
              </a:rPr>
              <a:t>FIRST REAL FINDING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3401568"/>
            <a:ext cx="4297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EFE6"/>
                </a:solidFill>
              </a:rPr>
              <a:t>An R² of 0.03 is not a mistake —
it's evidence that shopper behaviour
is not a simple linear function of who you are.
Something more structural is at play.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760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8332A"/>
                </a:solidFill>
              </a:rPr>
              <a:t>→ Something more structural is going on. That pushed us to Act 2.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B8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548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7D6E"/>
                </a:solidFill>
              </a:rPr>
              <a:t>ACT 2 — THE REAL INSIGHT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438912"/>
            <a:ext cx="11640312" cy="10972"/>
          </a:xfrm>
          <a:prstGeom prst="rect">
            <a:avLst/>
          </a:prstGeom>
          <a:solidFill>
            <a:srgbClr val="D6CC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0" y="-182880"/>
            <a:ext cx="54864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0" b="1">
                <a:solidFill>
                  <a:srgbClr val="DFD8CC"/>
                </a:solidFill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612"/>
                </a:solidFill>
              </a:rPr>
              <a:t>We changed the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15568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D6E"/>
                </a:solidFill>
              </a:rPr>
              <a:t>Instead of 'how much does this person spend?', we asked what really gets bought and how the whole system looks.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783080"/>
            <a:ext cx="11640312" cy="18288"/>
          </a:xfrm>
          <a:prstGeom prst="rect">
            <a:avLst/>
          </a:prstGeom>
          <a:solidFill>
            <a:srgbClr val="D6CC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10896" y="1801368"/>
            <a:ext cx="2836926" cy="155448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" y="1856231"/>
            <a:ext cx="283692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B8332A"/>
                </a:solidFill>
              </a:rPr>
              <a:t>60.8%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" y="2697480"/>
            <a:ext cx="283692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7D6E"/>
                </a:solidFill>
              </a:rPr>
              <a:t>buys ≥1 unhealthy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20974" y="1801368"/>
            <a:ext cx="2836926" cy="155448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20974" y="1856231"/>
            <a:ext cx="283692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B8332A"/>
                </a:solidFill>
              </a:rPr>
              <a:t>50.3%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20974" y="2697480"/>
            <a:ext cx="283692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7D6E"/>
                </a:solidFill>
              </a:rPr>
              <a:t>buys ONLY unhealthy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31052" y="1801368"/>
            <a:ext cx="2836926" cy="155448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31052" y="1856231"/>
            <a:ext cx="283692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2D5E3E"/>
                </a:solidFill>
              </a:rPr>
              <a:t>23.7%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31052" y="2697480"/>
            <a:ext cx="283692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7D6E"/>
                </a:solidFill>
              </a:rPr>
              <a:t>buys something healthy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41130" y="1801368"/>
            <a:ext cx="2836926" cy="155448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41130" y="1856231"/>
            <a:ext cx="283692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D4E89"/>
                </a:solidFill>
              </a:rPr>
              <a:t>66%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1130" y="2697480"/>
            <a:ext cx="283692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7D6E"/>
                </a:solidFill>
              </a:rPr>
              <a:t>deliveries w/o healthy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355848"/>
            <a:ext cx="11640312" cy="18288"/>
          </a:xfrm>
          <a:prstGeom prst="rect">
            <a:avLst/>
          </a:prstGeom>
          <a:solidFill>
            <a:srgbClr val="D6CC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v2_act2_basket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520440"/>
            <a:ext cx="5760720" cy="3063240"/>
          </a:xfrm>
          <a:prstGeom prst="rect">
            <a:avLst/>
          </a:prstGeom>
        </p:spPr>
      </p:pic>
      <p:pic>
        <p:nvPicPr>
          <p:cNvPr id="23" name="Picture 22" descr="v2_act2_intention_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3520440"/>
            <a:ext cx="5760720" cy="30632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B8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548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7D6E"/>
                </a:solidFill>
              </a:rPr>
              <a:t>ACT 2 — THE HEART OF THE FINDING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438912"/>
            <a:ext cx="11640312" cy="10972"/>
          </a:xfrm>
          <a:prstGeom prst="rect">
            <a:avLst/>
          </a:prstGeom>
          <a:solidFill>
            <a:srgbClr val="D6CC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1612"/>
                </a:solidFill>
              </a:rPr>
              <a:t>People are not ignorant and not indifferent.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508760"/>
            <a:ext cx="11640312" cy="310896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59" y="1691639"/>
            <a:ext cx="110002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8862A"/>
                </a:solidFill>
              </a:rPr>
              <a:t>THE HEART OF THE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59" y="2039112"/>
            <a:ext cx="110002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4EFE6"/>
                </a:solidFill>
              </a:rPr>
              <a:t>85% knows · 63% would buy healthier · 65% wants more options.
But only 24% actually buys something healthy.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59" y="2834639"/>
            <a:ext cx="1100023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6CCB9"/>
                </a:solidFill>
              </a:rPr>
              <a:t>The dominant declared barrier is price perception. Neither the regression (R²=0.032) nor a Random Forest (AUC≈0.55) predicts healthy purchasing from individual traits. The problem is not the people — it's the conditions around them.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4773168"/>
            <a:ext cx="5577840" cy="1783080"/>
          </a:xfrm>
          <a:prstGeom prst="rect">
            <a:avLst/>
          </a:prstGeom>
          <a:solidFill>
            <a:srgbClr val="EBE3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4773168"/>
            <a:ext cx="54864" cy="1783080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486460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612"/>
                </a:solidFill>
              </a:rPr>
              <a:t>Random Forest · AUC ≈ 0.55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285232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A4138"/>
                </a:solidFill>
              </a:rPr>
              <a:t>Barely better than a coin flip. Healthy purchasing is not explained by who you are.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08192" y="4773168"/>
            <a:ext cx="5806440" cy="1783080"/>
          </a:xfrm>
          <a:prstGeom prst="rect">
            <a:avLst/>
          </a:prstGeom>
          <a:solidFill>
            <a:srgbClr val="EBE3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08192" y="4773168"/>
            <a:ext cx="54864" cy="1783080"/>
          </a:xfrm>
          <a:prstGeom prst="rect">
            <a:avLst/>
          </a:prstGeom>
          <a:solidFill>
            <a:srgbClr val="B8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486460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612"/>
                </a:solidFill>
              </a:rPr>
              <a:t>Last mile · 66% with no healthy offer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792" y="5285232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A4138"/>
                </a:solidFill>
              </a:rPr>
              <a:t>2 out of 3 deliveries offered no healthy products to the store. The problem starts before the counter.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B8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548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7D6E"/>
                </a:solidFill>
              </a:rPr>
              <a:t>ACT 3 — OUR OWN SURVEY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438912"/>
            <a:ext cx="11640312" cy="10972"/>
          </a:xfrm>
          <a:prstGeom prst="rect">
            <a:avLst/>
          </a:prstGeom>
          <a:solidFill>
            <a:srgbClr val="D6CC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0" y="-182880"/>
            <a:ext cx="54864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0" b="1">
                <a:solidFill>
                  <a:srgbClr val="DFD8CC"/>
                </a:solidFill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612"/>
                </a:solidFill>
              </a:rPr>
              <a:t>A single dataset is a single lens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15568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D6E"/>
                </a:solidFill>
              </a:rPr>
              <a:t>We ran our own independent survey to triangulate without anchoring on the MIT data.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64208"/>
            <a:ext cx="54864" cy="1280160"/>
          </a:xfrm>
          <a:prstGeom prst="rect">
            <a:avLst/>
          </a:prstGeom>
          <a:solidFill>
            <a:srgbClr val="B8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664208"/>
            <a:ext cx="4864608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1A1612"/>
                </a:solidFill>
              </a:rPr>
              <a:t>80 out of 94 respondents would change their habits with more time or resources.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0632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4138"/>
                </a:solidFill>
              </a:rPr>
              <a:t>·  Root cause: time scarcity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59359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4138"/>
                </a:solidFill>
              </a:rPr>
              <a:t>·  Heavy nanostore use: soda &amp; snacks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123944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4138"/>
                </a:solidFill>
              </a:rPr>
              <a:t>·  Parents: very worried about kids' diet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654296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612"/>
                </a:solidFill>
              </a:rPr>
              <a:t>·  Exact convergence with MIT dataset</a:t>
            </a:r>
          </a:p>
        </p:txBody>
      </p:sp>
      <p:pic>
        <p:nvPicPr>
          <p:cNvPr id="14" name="Picture 13" descr="v2_act3_solutions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627632"/>
            <a:ext cx="6309360" cy="41148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274320" y="6080760"/>
            <a:ext cx="11640312" cy="594360"/>
          </a:xfrm>
          <a:prstGeom prst="rect">
            <a:avLst/>
          </a:prstGeom>
          <a:solidFill>
            <a:srgbClr val="B88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14476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612"/>
                </a:solidFill>
              </a:rPr>
              <a:t>Convergence: same root cause from an independent sample. Respondents themselves name nutrition education as a solution.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B8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548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7D6E"/>
                </a:solidFill>
              </a:rPr>
              <a:t>THE LOGICAL BRIDGE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438912"/>
            <a:ext cx="11640312" cy="10972"/>
          </a:xfrm>
          <a:prstGeom prst="rect">
            <a:avLst/>
          </a:prstGeom>
          <a:solidFill>
            <a:srgbClr val="D6CC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1612"/>
                </a:solidFill>
              </a:rPr>
              <a:t>The data is about adults. The solution targets adolescents.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A7D6E"/>
                </a:solidFill>
              </a:rPr>
              <a:t>The bridge is honest and explicit: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3474720" cy="1737360"/>
          </a:xfrm>
          <a:prstGeom prst="rect">
            <a:avLst/>
          </a:prstGeom>
          <a:solidFill>
            <a:srgbClr val="B8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78308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4EFE6"/>
                </a:solidFill>
              </a:rPr>
              <a:t>Current ecosystem
pushes unhealthy choices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67328" y="2240280"/>
            <a:ext cx="640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A1612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0" y="1691640"/>
            <a:ext cx="3474720" cy="173736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78308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B8862A"/>
                </a:solidFill>
              </a:rPr>
              <a:t>People know and want —
but can't close the gap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53528" y="2240280"/>
            <a:ext cx="640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A1612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691640"/>
            <a:ext cx="3474720" cy="1737360"/>
          </a:xfrm>
          <a:prstGeom prst="rect">
            <a:avLst/>
          </a:prstGeom>
          <a:solidFill>
            <a:srgbClr val="2D5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78308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4EFE6"/>
                </a:solidFill>
              </a:rPr>
              <a:t>Lever: educate the
next generation of shoppers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657600"/>
            <a:ext cx="11640312" cy="2011680"/>
          </a:xfrm>
          <a:prstGeom prst="rect">
            <a:avLst/>
          </a:prstGeom>
          <a:solidFill>
            <a:srgbClr val="EBE3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730752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612"/>
                </a:solidFill>
              </a:rPr>
              <a:t>Why lower secondary school (ages 12–15)?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160520"/>
            <a:ext cx="111556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4138"/>
                </a:solidFill>
              </a:rPr>
              <a:t>·  Higher obesity prevalence in adolescents (40.1%) than in children (36.6%) — ENSANUT 2020–2024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617720"/>
            <a:ext cx="111556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4138"/>
                </a:solidFill>
              </a:rPr>
              <a:t>·  They handle their own money and visit nanostores independently: they are tomorrow's shoppers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074920"/>
            <a:ext cx="111556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4138"/>
                </a:solidFill>
              </a:rPr>
              <a:t>·  Adolescent habits consolidate into adult life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87044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B8332A"/>
                </a:solidFill>
              </a:rPr>
              <a:t>We don't regulate nanostores. We educate those who will visit them for life.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B8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548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7D6E"/>
                </a:solidFill>
              </a:rPr>
              <a:t>ACT 4 — THE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438912"/>
            <a:ext cx="11640312" cy="10972"/>
          </a:xfrm>
          <a:prstGeom prst="rect">
            <a:avLst/>
          </a:prstGeom>
          <a:solidFill>
            <a:srgbClr val="D6CC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-182880"/>
            <a:ext cx="54864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0" b="1">
                <a:solidFill>
                  <a:srgbClr val="DFD8CC"/>
                </a:solidFill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"/>
            <a:ext cx="9601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1612"/>
                </a:solidFill>
              </a:rPr>
              <a:t>Strengthen Physical Education and Healthy Living in secondary 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7043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7D6E"/>
                </a:solidFill>
              </a:rPr>
              <a:t>Complement to NEM Plan 2022 · Not a new subject — reinforcing what the curriculum already names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691640"/>
            <a:ext cx="5577840" cy="169164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783080"/>
            <a:ext cx="640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B8862A"/>
                </a:solidFill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801368"/>
            <a:ext cx="39319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EFE6"/>
                </a:solidFill>
              </a:rPr>
              <a:t>Extended PE
(2h → 3h)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514600"/>
            <a:ext cx="4709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7D6E"/>
                </a:solidFill>
              </a:rPr>
              <a:t>Active lifestyle literacy: reading labels, planning a healthy snack with a real budget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691640"/>
            <a:ext cx="5577840" cy="169164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783080"/>
            <a:ext cx="640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B8862A"/>
                </a:solidFill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1801368"/>
            <a:ext cx="39319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EFE6"/>
                </a:solidFill>
              </a:rPr>
              <a:t>Critical
environment module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2514600"/>
            <a:ext cx="4709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7D6E"/>
                </a:solidFill>
              </a:rPr>
              <a:t>Audit of nanostores around the school · Bi-weekly · Connects learning to real environment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566160"/>
            <a:ext cx="5577840" cy="169164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657600"/>
            <a:ext cx="640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B8862A"/>
                </a:solidFill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675887"/>
            <a:ext cx="39319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EFE6"/>
                </a:solidFill>
              </a:rPr>
              <a:t>Teacher
training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389120"/>
            <a:ext cx="4709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7D6E"/>
                </a:solidFill>
              </a:rPr>
              <a:t>8h async package + optional 4h workshop · Without trained teachers, nothing works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3566160"/>
            <a:ext cx="5577840" cy="169164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3657600"/>
            <a:ext cx="640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B8862A"/>
                </a:solidFill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3675887"/>
            <a:ext cx="39319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EFE6"/>
                </a:solidFill>
              </a:rPr>
              <a:t>Family
bridge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4389120"/>
            <a:ext cx="4709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7D6E"/>
                </a:solidFill>
              </a:rPr>
              <a:t>Monthly activity: guided conversation + affordable recipe · Respects family time constraints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5577840"/>
            <a:ext cx="11640312" cy="685800"/>
          </a:xfrm>
          <a:prstGeom prst="rect">
            <a:avLst/>
          </a:prstGeom>
          <a:solidFill>
            <a:srgbClr val="B88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6692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1A1612"/>
                </a:solidFill>
              </a:rPr>
              <a:t>Estimated cost: ~MXN 9,500 / school / year   ·   ~35,000 secondary schools → ≈ MXN 330M/year   ·   &lt; 0.05% of federal education budget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B8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548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7D6E"/>
                </a:solidFill>
              </a:rPr>
              <a:t>ACT 4 — IMPACT PROJECTION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438912"/>
            <a:ext cx="11640312" cy="10972"/>
          </a:xfrm>
          <a:prstGeom prst="rect">
            <a:avLst/>
          </a:prstGeom>
          <a:solidFill>
            <a:srgbClr val="D6CC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11247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612"/>
                </a:solidFill>
              </a:rPr>
              <a:t>Monte Carlo · 1,000 students · 5,000 runs per scenario</a:t>
            </a:r>
          </a:p>
        </p:txBody>
      </p:sp>
      <p:pic>
        <p:nvPicPr>
          <p:cNvPr id="6" name="Picture 5" descr="v2_act4_montecarlo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3000"/>
            <a:ext cx="7863840" cy="50749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412480" y="1143000"/>
            <a:ext cx="3520440" cy="507492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49640" y="123444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8862A"/>
                </a:solidFill>
              </a:rPr>
              <a:t>Year 5 · % obesity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0" y="1664208"/>
            <a:ext cx="3520440" cy="77724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22208" y="1773936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7D6E"/>
                </a:solidFill>
              </a:rPr>
              <a:t>Baseline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69880" y="1773936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8A7D6E"/>
                </a:solidFill>
              </a:rPr>
              <a:t>36.4%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0" y="2459736"/>
            <a:ext cx="3520440" cy="77724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22208" y="2569464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CCB9"/>
                </a:solidFill>
              </a:rPr>
              <a:t>Null (Hodder)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69880" y="2569464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D6CCB9"/>
                </a:solidFill>
              </a:rPr>
              <a:t>32.0%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0" y="3255264"/>
            <a:ext cx="3520440" cy="77724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22208" y="3364992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862A"/>
                </a:solidFill>
              </a:rPr>
              <a:t>Conservative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69880" y="3364992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B8862A"/>
                </a:solidFill>
              </a:rPr>
              <a:t>29.8%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4050791"/>
            <a:ext cx="3520440" cy="777240"/>
          </a:xfrm>
          <a:prstGeom prst="rect">
            <a:avLst/>
          </a:prstGeom>
          <a:solidFill>
            <a:srgbClr val="262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22208" y="41605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EFE6"/>
                </a:solidFill>
              </a:rPr>
              <a:t>Central 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69880" y="41605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F4EFE6"/>
                </a:solidFill>
              </a:rPr>
              <a:t>26.2%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12480" y="4846320"/>
            <a:ext cx="3520440" cy="77724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22208" y="4956048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5E3E"/>
                </a:solidFill>
              </a:rPr>
              <a:t>Optimistic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69880" y="4956048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2D5E3E"/>
                </a:solidFill>
              </a:rPr>
              <a:t>22.7%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574243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7D6E"/>
                </a:solidFill>
              </a:rPr>
              <a:t>★ Central: −5.7 pp vs baseline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6446520"/>
            <a:ext cx="11640312" cy="274320"/>
          </a:xfrm>
          <a:prstGeom prst="rect">
            <a:avLst/>
          </a:prstGeom>
          <a:solidFill>
            <a:srgbClr val="B8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4EFE6"/>
                </a:solidFill>
              </a:rPr>
              <a:t>The null-result scenario is included intentionally — epistemic honesty over hype.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B8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548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7D6E"/>
                </a:solidFill>
              </a:rPr>
              <a:t>EPISTEMIC HONESTY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438912"/>
            <a:ext cx="11640312" cy="10972"/>
          </a:xfrm>
          <a:prstGeom prst="rect">
            <a:avLst/>
          </a:prstGeom>
          <a:solidFill>
            <a:srgbClr val="D6CC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612"/>
                </a:solidFill>
              </a:rPr>
              <a:t>What we know · What we assume · What we don't know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98448"/>
            <a:ext cx="3703320" cy="566928"/>
          </a:xfrm>
          <a:prstGeom prst="rect">
            <a:avLst/>
          </a:prstGeom>
          <a:solidFill>
            <a:srgbClr val="2D5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316736"/>
            <a:ext cx="3703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4EFE6"/>
                </a:solidFill>
              </a:rPr>
              <a:t>What we
know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965960"/>
            <a:ext cx="3547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A4138"/>
                </a:solidFill>
              </a:rPr>
              <a:t>·  Structural barrier confirmed (2 datasets)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2624328"/>
            <a:ext cx="3547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A4138"/>
                </a:solidFill>
              </a:rPr>
              <a:t>·  R²=0.032 — linear regression fails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3282696"/>
            <a:ext cx="3547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A4138"/>
                </a:solidFill>
              </a:rPr>
              <a:t>·  AUC=0.55 — ML also can't predict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3941064"/>
            <a:ext cx="3547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A4138"/>
                </a:solidFill>
              </a:rPr>
              <a:t>·  66% last-mile w/o healthy options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4599431"/>
            <a:ext cx="3547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A4138"/>
                </a:solidFill>
              </a:rPr>
              <a:t>·  Central effect −0.17 kg/m² (Cochrane)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59" y="1298448"/>
            <a:ext cx="3703320" cy="566928"/>
          </a:xfrm>
          <a:prstGeom prst="rect">
            <a:avLst/>
          </a:prstGeom>
          <a:solidFill>
            <a:srgbClr val="B88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59" y="1316736"/>
            <a:ext cx="3703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612"/>
                </a:solidFill>
              </a:rPr>
              <a:t>What we
assume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1688" y="1965960"/>
            <a:ext cx="3547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A4138"/>
                </a:solidFill>
              </a:rPr>
              <a:t>·  Literature effects are transferable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1688" y="2624328"/>
            <a:ext cx="3547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A4138"/>
                </a:solidFill>
              </a:rPr>
              <a:t>·  80% adherence (model assumption)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61688" y="3282696"/>
            <a:ext cx="3547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A4138"/>
                </a:solidFill>
              </a:rPr>
              <a:t>·  1h extra PE/week (minimum dose)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61688" y="3941064"/>
            <a:ext cx="3547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A4138"/>
                </a:solidFill>
              </a:rPr>
              <a:t>·  Healthy Living axis exists — needs reinforcing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298448"/>
            <a:ext cx="3703320" cy="566928"/>
          </a:xfrm>
          <a:prstGeom prst="rect">
            <a:avLst/>
          </a:prstGeom>
          <a:solidFill>
            <a:srgbClr val="B8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1316736"/>
            <a:ext cx="3703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4EFE6"/>
                </a:solidFill>
              </a:rPr>
              <a:t>What we
don't know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7" y="1965960"/>
            <a:ext cx="3547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A4138"/>
                </a:solidFill>
              </a:rPr>
              <a:t>·  Whether effects hold beyond 5 years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7" y="2624328"/>
            <a:ext cx="3547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A4138"/>
                </a:solidFill>
              </a:rPr>
              <a:t>·  How it scales to 35,000 schools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7" y="3282696"/>
            <a:ext cx="3547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A4138"/>
                </a:solidFill>
              </a:rPr>
              <a:t>·  Teacher fidelity in implementation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9327" y="3941064"/>
            <a:ext cx="3547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A4138"/>
                </a:solidFill>
              </a:rPr>
              <a:t>·  Whether Hodder 2021 applies to Mexico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943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8A7D6E"/>
                </a:solidFill>
              </a:rPr>
              <a:t>This simulation is a literature-based projection — not a prediction. Any deployment requires a followed-up pilot study.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B8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548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7D6E"/>
                </a:solidFill>
              </a:rPr>
              <a:t>EXPERT 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438912"/>
            <a:ext cx="11640312" cy="10972"/>
          </a:xfrm>
          <a:prstGeom prst="rect">
            <a:avLst/>
          </a:prstGeom>
          <a:solidFill>
            <a:srgbClr val="D6CC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612"/>
                </a:solidFill>
              </a:rPr>
              <a:t>Five independent perspectives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A7D6E"/>
                </a:solidFill>
              </a:rPr>
              <a:t>Semi-structured · 30–45 min · 8 core questions + 2–3 profile-specific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27632"/>
            <a:ext cx="2176272" cy="393192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1755648"/>
            <a:ext cx="1956816" cy="2304288"/>
          </a:xfrm>
          <a:prstGeom prst="rect">
            <a:avLst/>
          </a:prstGeom>
          <a:solidFill>
            <a:srgbClr val="2A2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2377440"/>
            <a:ext cx="195681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B8862A"/>
                </a:solidFill>
              </a:rPr>
              <a:t>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3035808"/>
            <a:ext cx="19568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7D6E"/>
                </a:solidFill>
              </a:rPr>
              <a:t>VIDEO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142232"/>
            <a:ext cx="19933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B8862A"/>
                </a:solidFill>
              </a:rPr>
              <a:t>Dr. José Manuel
Olais Govea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919472"/>
            <a:ext cx="19933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7D6E"/>
                </a:solidFill>
              </a:rPr>
              <a:t>Tec de Monterrey
Education research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15184" y="1627632"/>
            <a:ext cx="2176272" cy="393192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24912" y="1755648"/>
            <a:ext cx="1956816" cy="2304288"/>
          </a:xfrm>
          <a:prstGeom prst="rect">
            <a:avLst/>
          </a:prstGeom>
          <a:solidFill>
            <a:srgbClr val="2A2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24912" y="2377440"/>
            <a:ext cx="195681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B8862A"/>
                </a:solidFill>
              </a:rPr>
              <a:t>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24912" y="3035808"/>
            <a:ext cx="19568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7D6E"/>
                </a:solidFill>
              </a:rPr>
              <a:t>VIDEO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06624" y="4142232"/>
            <a:ext cx="19933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B8862A"/>
                </a:solidFill>
              </a:rPr>
              <a:t>Dr. Leopoldo
Zúñiga Silva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6624" y="4919472"/>
            <a:ext cx="19933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7D6E"/>
                </a:solidFill>
              </a:rPr>
              <a:t>Tec de Monterrey
Education research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56048" y="1627632"/>
            <a:ext cx="2176272" cy="393192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65776" y="1755648"/>
            <a:ext cx="1956816" cy="2304288"/>
          </a:xfrm>
          <a:prstGeom prst="rect">
            <a:avLst/>
          </a:prstGeom>
          <a:solidFill>
            <a:srgbClr val="2A2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65776" y="2377440"/>
            <a:ext cx="195681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B8862A"/>
                </a:solidFill>
              </a:rPr>
              <a:t>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65776" y="3035808"/>
            <a:ext cx="19568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7D6E"/>
                </a:solidFill>
              </a:rPr>
              <a:t>VIDEO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47488" y="4142232"/>
            <a:ext cx="19933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B8862A"/>
                </a:solidFill>
              </a:rPr>
              <a:t>Director
Sec. Técnica 78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47488" y="4919472"/>
            <a:ext cx="19933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7D6E"/>
                </a:solidFill>
              </a:rPr>
              <a:t>Matehuala, SLP
Implementation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96912" y="1627632"/>
            <a:ext cx="2176272" cy="393192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06640" y="1755648"/>
            <a:ext cx="1956816" cy="2304288"/>
          </a:xfrm>
          <a:prstGeom prst="rect">
            <a:avLst/>
          </a:prstGeom>
          <a:solidFill>
            <a:srgbClr val="2A2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06640" y="2377440"/>
            <a:ext cx="195681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B8862A"/>
                </a:solidFill>
              </a:rPr>
              <a:t>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3035808"/>
            <a:ext cx="19568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7D6E"/>
                </a:solidFill>
              </a:rPr>
              <a:t>VIDEO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88352" y="4142232"/>
            <a:ext cx="19933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B8862A"/>
                </a:solidFill>
              </a:rPr>
              <a:t>Docente EF
(fitness)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88352" y="4919472"/>
            <a:ext cx="19933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7D6E"/>
                </a:solidFill>
              </a:rPr>
              <a:t>Secondary school
Classroom practice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37776" y="1627632"/>
            <a:ext cx="2176272" cy="393192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747504" y="1755648"/>
            <a:ext cx="1956816" cy="2304288"/>
          </a:xfrm>
          <a:prstGeom prst="rect">
            <a:avLst/>
          </a:prstGeom>
          <a:solidFill>
            <a:srgbClr val="2A2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47504" y="2377440"/>
            <a:ext cx="195681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B8862A"/>
                </a:solidFill>
              </a:rPr>
              <a:t>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47504" y="3035808"/>
            <a:ext cx="19568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7D6E"/>
                </a:solidFill>
              </a:rPr>
              <a:t>VIDEO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29216" y="4142232"/>
            <a:ext cx="19933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B8862A"/>
                </a:solidFill>
              </a:rPr>
              <a:t>Est. Educación
(fitness)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29216" y="4919472"/>
            <a:ext cx="19933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7D6E"/>
                </a:solidFill>
              </a:rPr>
              <a:t>Tec de Monterrey
Student voice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779008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1">
                <a:solidFill>
                  <a:srgbClr val="8A7D6E"/>
                </a:solidFill>
              </a:rPr>
              <a:t>Convergence reported when 4/5 experts raise the same theme independently.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B8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11480"/>
            <a:ext cx="103601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4EFE6"/>
                </a:solidFill>
              </a:rPr>
              <a:t>From nanostores to classrooms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2560320" cy="1828800"/>
          </a:xfrm>
          <a:prstGeom prst="rect">
            <a:avLst/>
          </a:prstGeom>
          <a:solidFill>
            <a:srgbClr val="282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45720" cy="1828800"/>
          </a:xfrm>
          <a:prstGeom prst="rect">
            <a:avLst/>
          </a:prstGeom>
          <a:solidFill>
            <a:srgbClr val="B8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69164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8332A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176272"/>
            <a:ext cx="2331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4EFE6"/>
                </a:solidFill>
              </a:rPr>
              <a:t>R² = 0.032
The regression
explains nothing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645920"/>
            <a:ext cx="2560320" cy="1828800"/>
          </a:xfrm>
          <a:prstGeom prst="rect">
            <a:avLst/>
          </a:prstGeom>
          <a:solidFill>
            <a:srgbClr val="282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0" y="1645920"/>
            <a:ext cx="45720" cy="1828800"/>
          </a:xfrm>
          <a:prstGeom prst="rect">
            <a:avLst/>
          </a:prstGeom>
          <a:solidFill>
            <a:srgbClr val="B88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01568" y="169164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8862A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01568" y="2176272"/>
            <a:ext cx="2331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4EFE6"/>
                </a:solidFill>
              </a:rPr>
              <a:t>Structural barrier
intention-action
gap of 39.1 pp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645920"/>
            <a:ext cx="2560320" cy="1828800"/>
          </a:xfrm>
          <a:prstGeom prst="rect">
            <a:avLst/>
          </a:prstGeom>
          <a:solidFill>
            <a:srgbClr val="282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645920"/>
            <a:ext cx="45720" cy="1828800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69164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4E89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176272"/>
            <a:ext cx="2331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4EFE6"/>
                </a:solidFill>
              </a:rPr>
              <a:t>Survey confirms:
people ask for
nutrition education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0" y="1645920"/>
            <a:ext cx="2560320" cy="1828800"/>
          </a:xfrm>
          <a:prstGeom prst="rect">
            <a:avLst/>
          </a:prstGeom>
          <a:solidFill>
            <a:srgbClr val="282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61120" y="1645920"/>
            <a:ext cx="45720" cy="1828800"/>
          </a:xfrm>
          <a:prstGeom prst="rect">
            <a:avLst/>
          </a:prstGeom>
          <a:solidFill>
            <a:srgbClr val="2D5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70848" y="169164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5E3E"/>
                </a:solidFill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70848" y="2176272"/>
            <a:ext cx="2331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4EFE6"/>
                </a:solidFill>
              </a:rPr>
              <a:t>Central: 31.9% →
26.2% at 5 years
(−5.7 pp)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749039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F4EFE6"/>
                </a:solidFill>
              </a:rPr>
              <a:t>"The current ecosystem pushes unhealthy consumption.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25196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1">
                <a:solidFill>
                  <a:srgbClr val="B8862A"/>
                </a:solidFill>
              </a:rPr>
              <a:t>The most effective long-term lever is educating the next generation of shoppers."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074920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B8862A"/>
                </a:solidFill>
              </a:rPr>
              <a:t>Fernanda Ita  ·  Alexis Marcos  ·  Carlos Torres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577840"/>
            <a:ext cx="9445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7D6E"/>
                </a:solidFill>
              </a:rPr>
              <a:t>Tecnológico de Monterrey · Campus San Luis Potosí · MIT LiftLab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6053328"/>
            <a:ext cx="9445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7D6E"/>
                </a:solidFill>
              </a:rPr>
              <a:t>Open source · Reproducible data · Fixed seed=42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