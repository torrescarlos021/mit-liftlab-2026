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 — TÍTULO]</a:t>
            </a:r>
          </a:p>
          <a:p>
            <a:r>
              <a:t>Fernanda: 'MIT nos lanzó una pregunta. Esta es nuestra respuesta en cuatro actos — y empezamos por el fracaso.'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[S2 — DATASET]</a:t>
            </a:r>
          </a:p>
          <a:p>
            <a:r>
              <a:t>Carlos: 'El MIT nos dio acceso a 3,040 registros de campo reales.'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[S3 — ACTO 1]</a:t>
            </a:r>
          </a:p>
          <a:p>
            <a:r>
              <a:t>Carlos: 'R²=0.032. El modelo no explica casi nada. Ese fracaso fue el primer hallazgo real.'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[S4 — ACTO 2 STATS]</a:t>
            </a:r>
          </a:p>
          <a:p>
            <a:r>
              <a:t>Carlos: '60.8% compra al menos un producto no saludable. 50.3% SOLO no saludable. Solo 23.7% compra algo sano.'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[S5 — CALLOUT]</a:t>
            </a:r>
          </a:p>
          <a:p>
            <a:r>
              <a:t>Carlos: 'El sistema está diseñado para empujar lo no saludable — no es una falla de las personas.'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[S6 — ACTO 3]</a:t>
            </a:r>
          </a:p>
          <a:p>
            <a:r>
              <a:t>Alexis: '104 personas en SLP. El resultado convergió exactamente con lo que el MIT nos dijo.'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[S7 — PUENTE]</a:t>
            </a:r>
          </a:p>
          <a:p>
            <a:r>
              <a:t>Fernanda: 'Nuestros datos son de adultos — somos honestos con eso. El punto de palanca es formarlos antes de que lleguen al mostrador.'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[S8 — PROPUESTA]</a:t>
            </a:r>
          </a:p>
          <a:p>
            <a:r>
              <a:t>Fernanda: 'Cuatro componentes. Ninguno requiere crear una materia nueva — todo se alinea con Vida Saludable de la NEM.'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[S9 — MONTE CARLO]</a:t>
            </a:r>
          </a:p>
          <a:p>
            <a:r>
              <a:t>Carlos: 'El escenario central: la obesidad baja de 31.9% a 26.2% a 5 años. Incluimos el resultado nulo porque la honestidad no es opcional.'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[S10 — HONESTIDAD]</a:t>
            </a:r>
          </a:p>
          <a:p>
            <a:r>
              <a:t>Carlos: 'En el MIT esperan rigor intelectual. Por eso somos explícitos sobre lo que sabemos, asumimos y no sabemos.'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[S11 — EXPERTOS]</a:t>
            </a:r>
          </a:p>
          <a:p>
            <a:r>
              <a:t>Alexis: 'Para no quedarnos solo con nuestros datos, llevamos la propuesta a cinco expertos con perspectivas radicalmente distintas.'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[S12 — CIERRE]</a:t>
            </a:r>
          </a:p>
          <a:p>
            <a:r>
              <a:t>Fernanda: 'La pregunta del MIT fue: ¿qué impide la compra saludable? Nuestra respuesta: no es ignorancia — es estructura. Y la solución más efectiva está en las aulas.'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B8862A"/>
                </a:solidFill>
              </a:rPr>
              <a:t>MIT LiftLab 2026  ·  Tec de Monterrey, Campus SLP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4EFE6"/>
                </a:solidFill>
              </a:rPr>
              <a:t>De las tienditas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B8332A"/>
                </a:solidFill>
              </a:rPr>
              <a:t>a las aulas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85313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7D6E"/>
                </a:solidFill>
              </a:rPr>
              <a:t>¿Qué impide que la gente compre productos saludables
en las nanostores de México?
Una investigación en cuatro actos — incluyendo el modelo que no funcionó.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709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4EFE6"/>
                </a:solidFill>
              </a:rPr>
              <a:t>3,040  registros 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22191" y="4754880"/>
            <a:ext cx="18288" cy="320040"/>
          </a:xfrm>
          <a:prstGeom prst="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4709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4EFE6"/>
                </a:solidFill>
              </a:rPr>
              <a:t>104  encuestas propias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08192" y="4754880"/>
            <a:ext cx="18288" cy="320040"/>
          </a:xfrm>
          <a:prstGeom prst="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4709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4EFE6"/>
                </a:solidFill>
              </a:rPr>
              <a:t>4  actos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94192" y="4754880"/>
            <a:ext cx="18288" cy="320040"/>
          </a:xfrm>
          <a:prstGeom prst="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709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4EFE6"/>
                </a:solidFill>
              </a:rPr>
              <a:t>5,000  corridas Monte Carlo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4645152"/>
            <a:ext cx="8869680" cy="10972"/>
          </a:xfrm>
          <a:prstGeom prst="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45920" y="5166360"/>
            <a:ext cx="8869680" cy="10972"/>
          </a:xfrm>
          <a:prstGeom prst="rect">
            <a:avLst/>
          </a:prstGeom>
          <a:solidFill>
            <a:srgbClr val="8A7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7607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862A"/>
                </a:solidFill>
              </a:rPr>
              <a:t>Fernanda Ita  ·  Alexis Marcos  ·  Carlos Torres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21792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7D6E"/>
                </a:solidFill>
              </a:rPr>
              <a:t>Ingeniería en Mecatrónica · Campus SLP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EL PUNTO DE PARTIDA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274320"/>
            <a:ext cx="5486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0" b="1">
                <a:solidFill>
                  <a:srgbClr val="DFD8CC"/>
                </a:solidFill>
              </a:rPr>
              <a:t>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612"/>
                </a:solidFill>
              </a:rPr>
              <a:t>El dataset de campo del MIT LiftLab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D6E"/>
                </a:solidFill>
              </a:rPr>
              <a:t>3,040 registros reales de nanostores mexicanas · Estudio nacional · ~13 campus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2606040" cy="20116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B8332A"/>
                </a:solidFill>
              </a:rPr>
              <a:t>221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7004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4EFE6"/>
                </a:solidFill>
              </a:rPr>
              <a:t>Nanostores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691640"/>
            <a:ext cx="2606040" cy="20116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7830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D4E89"/>
                </a:solidFill>
              </a:rPr>
              <a:t>1,135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7004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4EFE6"/>
                </a:solidFill>
              </a:rPr>
              <a:t>Compradores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691640"/>
            <a:ext cx="2606040" cy="20116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7830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B8862A"/>
                </a:solidFill>
              </a:rPr>
              <a:t>236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7004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4EFE6"/>
                </a:solidFill>
              </a:rPr>
              <a:t>Tenderos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691640"/>
            <a:ext cx="2606040" cy="201168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78308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2D5E3E"/>
                </a:solidFill>
              </a:rPr>
              <a:t>1,448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67004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4EFE6"/>
                </a:solidFill>
              </a:rPr>
              <a:t>Última milla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12"/>
                </a:solidFill>
              </a:rPr>
              <a:t>+ 104 respuestas encuesta propia · San Luis Potosí · dic 2025–ene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54864" cy="16459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572000"/>
            <a:ext cx="1108252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A1612"/>
                </a:solidFill>
              </a:rPr>
              <a:t>La historia que sigue es el camino real que recorrimos: incluyendo el modelo que no funcionó. Porque ese fracaso fue justo lo que nos llevó a la respuesta correcta.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ACTO 1 — LA REGRESIÓN QUE NO FUNCIONÓ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-182880"/>
            <a:ext cx="5486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0" b="1">
                <a:solidFill>
                  <a:srgbClr val="DFD8CC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</a:rPr>
              <a:t>Empezamos donde todo analista empieza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D6E"/>
                </a:solidFill>
              </a:rPr>
              <a:t>Regresión lineal · Predecir gasto del comprador a partir de demografía y presupuesto</a:t>
            </a:r>
          </a:p>
        </p:txBody>
      </p:sp>
      <p:pic>
        <p:nvPicPr>
          <p:cNvPr id="8" name="Picture 7" descr="v2_act1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72768"/>
            <a:ext cx="6583680" cy="3840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223760" y="1572768"/>
            <a:ext cx="4663440" cy="123444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69164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4EFE6"/>
                </a:solidFill>
              </a:rPr>
              <a:t>R² = 0.032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3957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4EFE6"/>
                </a:solidFill>
              </a:rPr>
              <a:t>el modelo no explica nada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944368"/>
            <a:ext cx="4663440" cy="22860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03580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862A"/>
                </a:solidFill>
              </a:rPr>
              <a:t>PRIMER HALLAZGO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401568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4EFE6"/>
                </a:solidFill>
              </a:rPr>
              <a:t>Un R² de 0.03 no es un error —
es evidencia de que el comportamiento
del comprador no es lineal-individual.
Algo más estructural está pasando.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332A"/>
                </a:solidFill>
              </a:rPr>
              <a:t>→ Algo más estructural está pasando. Eso nos llevó al Acto 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ACTO 2 — EL INSIGHT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-182880"/>
            <a:ext cx="5486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0" b="1">
                <a:solidFill>
                  <a:srgbClr val="DFD8CC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612"/>
                </a:solidFill>
              </a:rPr>
              <a:t>Cambiamos la pregunta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D6E"/>
                </a:solidFill>
              </a:rPr>
              <a:t>En vez de '¿cuánto gasta esta persona?', preguntamos qué compra realmente y cómo se ve el sistema completo.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83080"/>
            <a:ext cx="11640312" cy="18288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" y="1801368"/>
            <a:ext cx="2836926" cy="155448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856231"/>
            <a:ext cx="283692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B8332A"/>
                </a:solidFill>
              </a:rPr>
              <a:t>60.8%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2697480"/>
            <a:ext cx="283692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7D6E"/>
                </a:solidFill>
              </a:rPr>
              <a:t>compra ≥1 no saludable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0974" y="1801368"/>
            <a:ext cx="2836926" cy="155448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0974" y="1856231"/>
            <a:ext cx="283692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B8332A"/>
                </a:solidFill>
              </a:rPr>
              <a:t>50.3%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0974" y="2697480"/>
            <a:ext cx="283692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7D6E"/>
                </a:solidFill>
              </a:rPr>
              <a:t>compra SOLO no saludable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31052" y="1801368"/>
            <a:ext cx="2836926" cy="155448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31052" y="1856231"/>
            <a:ext cx="283692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D5E3E"/>
                </a:solidFill>
              </a:rPr>
              <a:t>23.7%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1052" y="2697480"/>
            <a:ext cx="283692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7D6E"/>
                </a:solidFill>
              </a:rPr>
              <a:t>compra algo saludable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41130" y="1801368"/>
            <a:ext cx="2836926" cy="155448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1130" y="1856231"/>
            <a:ext cx="283692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D4E89"/>
                </a:solidFill>
              </a:rPr>
              <a:t>66%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1130" y="2697480"/>
            <a:ext cx="283692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7D6E"/>
                </a:solidFill>
              </a:rPr>
              <a:t>entregas sin oferta sana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55848"/>
            <a:ext cx="11640312" cy="18288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v2_act2_bas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20440"/>
            <a:ext cx="5760720" cy="3063240"/>
          </a:xfrm>
          <a:prstGeom prst="rect">
            <a:avLst/>
          </a:prstGeom>
        </p:spPr>
      </p:pic>
      <p:pic>
        <p:nvPicPr>
          <p:cNvPr id="23" name="Picture 22" descr="v2_act2_intention_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520440"/>
            <a:ext cx="576072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ACTO 2 — EL CORAZÓN DEL HALLAZGO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1612"/>
                </a:solidFill>
              </a:rPr>
              <a:t>La gente no es ignorante y no es indiferente.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11640312" cy="310896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59" y="1691639"/>
            <a:ext cx="11000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862A"/>
                </a:solidFill>
              </a:rPr>
              <a:t>EL CORAZÓN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2039112"/>
            <a:ext cx="110002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EFE6"/>
                </a:solidFill>
              </a:rPr>
              <a:t>85% sabe · 63% compraría más sano · 65% quiere más opciones.
Pero solo el 24% realmente compra algo saludable.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2834639"/>
            <a:ext cx="110002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CCB9"/>
                </a:solidFill>
              </a:rPr>
              <a:t>La barrera dominante que declaran es la percepción de precio. Ni la regresión (R²=0.032) ni un Random Forest (AUC≈0.55) predicen la compra saludable por rasgos individuales. El problema no está en las personas — está en las condiciones que las rodean.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773168"/>
            <a:ext cx="5577840" cy="1783080"/>
          </a:xfrm>
          <a:prstGeom prst="rect">
            <a:avLst/>
          </a:prstGeom>
          <a:solidFill>
            <a:srgbClr val="EB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4773168"/>
            <a:ext cx="54864" cy="178308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8646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12"/>
                </a:solidFill>
              </a:rPr>
              <a:t>Random Forest · AUC ≈ 0.55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85232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Apenas mejor que lanzar una moneda. La compra saludable no se explica por quién eres.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4773168"/>
            <a:ext cx="5806440" cy="1783080"/>
          </a:xfrm>
          <a:prstGeom prst="rect">
            <a:avLst/>
          </a:prstGeom>
          <a:solidFill>
            <a:srgbClr val="EB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8192" y="4773168"/>
            <a:ext cx="54864" cy="178308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4864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612"/>
                </a:solidFill>
              </a:rPr>
              <a:t>Última milla · 66% sin oferta sana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5285232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2 de cada 3 entregas no ofrecieron productos saludables a la tienda. El problema empieza antes del mostrador.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ACTO 3 — NUESTRA PROPIA ENCUESTA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-182880"/>
            <a:ext cx="5486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0" b="1">
                <a:solidFill>
                  <a:srgbClr val="DFD8CC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</a:rPr>
              <a:t>Un solo dataset es un solo lente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D6E"/>
                </a:solidFill>
              </a:rPr>
              <a:t>Levantamos nuestra propia encuesta independiente para triangular sin anclar con los datos del MIT.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64208"/>
            <a:ext cx="54864" cy="12801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64208"/>
            <a:ext cx="48646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A1612"/>
                </a:solidFill>
              </a:rPr>
              <a:t>80 de 94 encuestados cambiarían sus hábitos con más tiempo o recursos.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138"/>
                </a:solidFill>
              </a:rPr>
              <a:t>·  Causa raíz: falta de tiempo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935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138"/>
                </a:solidFill>
              </a:rPr>
              <a:t>·  Alto uso de tienditas: refrescos y snacks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239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138"/>
                </a:solidFill>
              </a:rPr>
              <a:t>·  Padres: muy preocupados por dieta de hijos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6542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612"/>
                </a:solidFill>
              </a:rPr>
              <a:t>·  Convergencia exacta con dataset MIT</a:t>
            </a:r>
          </a:p>
        </p:txBody>
      </p:sp>
      <p:pic>
        <p:nvPicPr>
          <p:cNvPr id="14" name="Picture 13" descr="v2_act3_solutions_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27632"/>
            <a:ext cx="6309360" cy="41148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74320" y="6080760"/>
            <a:ext cx="11640312" cy="594360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1447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612"/>
                </a:solidFill>
              </a:rPr>
              <a:t>Convergencia: misma causa raíz desde una muestra independiente. Y los propios encuestados nombran la educación nutricional como solución.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EL PUENTE LÓGICO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612"/>
                </a:solidFill>
              </a:rPr>
              <a:t>Los datos son de adultos. La solución apunta a adolescentes.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7D6E"/>
                </a:solidFill>
              </a:rPr>
              <a:t>El puente es honesto y explícito: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474720" cy="173736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EFE6"/>
                </a:solidFill>
              </a:rPr>
              <a:t>Ecosistema actual
empuja lo no saludable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224028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612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691640"/>
            <a:ext cx="3474720" cy="173736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862A"/>
                </a:solidFill>
              </a:rPr>
              <a:t>La gente sabe y quiere —
pero no logra cerrar la brecha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2240280"/>
            <a:ext cx="640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612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91640"/>
            <a:ext cx="3474720" cy="1737360"/>
          </a:xfrm>
          <a:prstGeom prst="rect">
            <a:avLst/>
          </a:prstGeom>
          <a:solidFill>
            <a:srgbClr val="2D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EFE6"/>
                </a:solidFill>
              </a:rPr>
              <a:t>Palanca: formar a los
compradores del futuro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57600"/>
            <a:ext cx="11640312" cy="2011680"/>
          </a:xfrm>
          <a:prstGeom prst="rect">
            <a:avLst/>
          </a:prstGeom>
          <a:solidFill>
            <a:srgbClr val="EB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3075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612"/>
                </a:solidFill>
              </a:rPr>
              <a:t>¿Por qué secundaria (12–15 años)?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11155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138"/>
                </a:solidFill>
              </a:rPr>
              <a:t>·  Mayor prevalencia de obesidad en adolescentes (40.1 %) que en niños (36.6 %) — ENSANUT 2020–2024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17720"/>
            <a:ext cx="11155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138"/>
                </a:solidFill>
              </a:rPr>
              <a:t>·  Manejan dinero propio y visitan tienditas de forma autónoma: son los compradores de mañana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74920"/>
            <a:ext cx="11155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138"/>
                </a:solidFill>
              </a:rPr>
              <a:t>·  Los hábitos adolescentes se consolidan hacia la adultez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704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8332A"/>
                </a:solidFill>
              </a:rPr>
              <a:t>No regulamos las tienditas. Educamos a quienes las visitarán toda su vida.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ACTO 4 — LA SOLUCIÓN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-182880"/>
            <a:ext cx="5486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0" b="1">
                <a:solidFill>
                  <a:srgbClr val="DFD8CC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9601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612"/>
                </a:solidFill>
              </a:rPr>
              <a:t>Reforzar Educación Física y Vida Saludable en secundaria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D6E"/>
                </a:solidFill>
              </a:rPr>
              <a:t>Complemento a la NEM Plan 2022 · No es una materia nueva — es reforzar lo que el currículo ya nombra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5577840" cy="16916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862A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01368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EFE6"/>
                </a:solidFill>
              </a:rPr>
              <a:t>EF ampliada
(2h → 3h)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7D6E"/>
                </a:solidFill>
              </a:rPr>
              <a:t>Alfabetización de estilo de vida activo: leer etiquetas, planear snack sano con presupuesto real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91640"/>
            <a:ext cx="5577840" cy="16916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862A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801368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EFE6"/>
                </a:solidFill>
              </a:rPr>
              <a:t>Módulo de
entorno crítico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514600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7D6E"/>
                </a:solidFill>
              </a:rPr>
              <a:t>Auditoría de las tienditas alrededor de la escuela · Cada dos semanas · Conecta con el entorno real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5577840" cy="16916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862A"/>
                </a:solidFill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675887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EFE6"/>
                </a:solidFill>
              </a:rPr>
              <a:t>Capacitación
docente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89120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7D6E"/>
                </a:solidFill>
              </a:rPr>
              <a:t>Paquete asincrónico 8h + taller 4h opcional · Sin docentes capacitados, nada funciona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566160"/>
            <a:ext cx="5577840" cy="16916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657600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B8862A"/>
                </a:solidFill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675887"/>
            <a:ext cx="3931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EFE6"/>
                </a:solidFill>
              </a:rPr>
              <a:t>Puente
familiar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389120"/>
            <a:ext cx="4709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7D6E"/>
                </a:solidFill>
              </a:rPr>
              <a:t>Actividad mensual: conversación guiada + receta económica · Respeta el tiempo de la familia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577840"/>
            <a:ext cx="11640312" cy="685800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1612"/>
                </a:solidFill>
              </a:rPr>
              <a:t>Costo estimado: ~MXN 9,500 / escuela / año   ·   ~35,000 secundarias → ≈ MXN 330 M/año   ·   &lt; 0.05 % del presupuesto federal educativo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ACTO 4 — PROYECCIÓN DE IMPACTO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612"/>
                </a:solidFill>
              </a:rPr>
              <a:t>Monte Carlo · 1,000 estudiantes · 5,000 corridas por escenario</a:t>
            </a:r>
          </a:p>
        </p:txBody>
      </p:sp>
      <p:pic>
        <p:nvPicPr>
          <p:cNvPr id="6" name="Picture 5" descr="v2_act4_montecarlo_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86384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143000"/>
            <a:ext cx="3520440" cy="5074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2344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862A"/>
                </a:solidFill>
              </a:rPr>
              <a:t>Año 5 · % obesidad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664208"/>
            <a:ext cx="3520440" cy="7772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773936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7D6E"/>
                </a:solidFill>
              </a:rPr>
              <a:t>Sin interv.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1773936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8A7D6E"/>
                </a:solidFill>
              </a:rPr>
              <a:t>36.4%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459736"/>
            <a:ext cx="3520440" cy="7772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2569464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CCB9"/>
                </a:solidFill>
              </a:rPr>
              <a:t>Nulo (Hodder)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256946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D6CCB9"/>
                </a:solidFill>
              </a:rPr>
              <a:t>32.0%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255264"/>
            <a:ext cx="3520440" cy="7772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3364992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862A"/>
                </a:solidFill>
              </a:rPr>
              <a:t>Conservador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336499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B8862A"/>
                </a:solidFill>
              </a:rPr>
              <a:t>29.8%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4050791"/>
            <a:ext cx="3520440" cy="777240"/>
          </a:xfrm>
          <a:prstGeom prst="rect">
            <a:avLst/>
          </a:prstGeom>
          <a:solidFill>
            <a:srgbClr val="26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4160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EFE6"/>
                </a:solidFill>
              </a:rPr>
              <a:t>Central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4160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F4EFE6"/>
                </a:solidFill>
              </a:rPr>
              <a:t>26.2%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846320"/>
            <a:ext cx="3520440" cy="77724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495604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5E3E"/>
                </a:solidFill>
              </a:rPr>
              <a:t>Optimista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495604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D5E3E"/>
                </a:solidFill>
              </a:rPr>
              <a:t>22.7%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7424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7D6E"/>
                </a:solidFill>
              </a:rPr>
              <a:t>★ Central: −5.7 pp vs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6446520"/>
            <a:ext cx="11640312" cy="2743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4EFE6"/>
                </a:solidFill>
              </a:rPr>
              <a:t>El escenario de resultado nulo está incluido intencionalmente — honestidad epistémica sobre hype.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HONESTIDAD EPISTÉMICA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612"/>
                </a:solidFill>
              </a:rPr>
              <a:t>Lo que sabemos · Lo que asumimos · Lo que no sabemos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3703320" cy="566928"/>
          </a:xfrm>
          <a:prstGeom prst="rect">
            <a:avLst/>
          </a:prstGeom>
          <a:solidFill>
            <a:srgbClr val="2D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16736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EFE6"/>
                </a:solidFill>
              </a:rPr>
              <a:t>Lo que
sabemos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65960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Barrera estructural confirmada (2 datasets)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624328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R²=0.032 — regresión lineal falla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282696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AUC=0.55 — ML tampoco predice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941064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66% última milla sin opciones sanas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599431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Efecto central −0.17 kg/m² (Cochrane)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98448"/>
            <a:ext cx="3703320" cy="566928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316736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612"/>
                </a:solidFill>
              </a:rPr>
              <a:t>Lo que
asumimos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965960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Efectos de literatura son trasladables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624328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Adherencia del 80% (supuesto del modelo)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3282696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1h extra/semana de EF (dosis mínima)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3941064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Eje Vida Saludable existe — falta refuerzo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98448"/>
            <a:ext cx="3703320" cy="566928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316736"/>
            <a:ext cx="3703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EFE6"/>
                </a:solidFill>
              </a:rPr>
              <a:t>Lo que
no sabemos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1965960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Si los efectos se mantienen &gt;5 años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2624328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Cómo escala a 35,000 secundarias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3282696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Fidelidad docente en implementación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41064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4138"/>
                </a:solidFill>
              </a:rPr>
              <a:t>·  Si Hodder 2021 aplica a México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7D6E"/>
                </a:solidFill>
              </a:rPr>
              <a:t>Esta simulación es una proyección basada en literatura publicada — no una predicción. Cualquier despliegue requiere un piloto con seguimiento.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48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7D6E"/>
                </a:solidFill>
              </a:rPr>
              <a:t>VALIDACIÓN EXPERTA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38912"/>
            <a:ext cx="11640312" cy="10972"/>
          </a:xfrm>
          <a:prstGeom prst="rect">
            <a:avLst/>
          </a:prstGeom>
          <a:solidFill>
            <a:srgbClr val="D6C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612"/>
                </a:solidFill>
              </a:rPr>
              <a:t>Cinco perspectivas independientes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7D6E"/>
                </a:solidFill>
              </a:rPr>
              <a:t>Semi-estructurado · 30–45 min · 8 preguntas core + 2–3 específicas por perfil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2176272" cy="3931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755648"/>
            <a:ext cx="1956816" cy="2304288"/>
          </a:xfrm>
          <a:prstGeom prst="rect">
            <a:avLst/>
          </a:prstGeom>
          <a:solidFill>
            <a:srgbClr val="2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37744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35808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42232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Dr. José Manuel
Olais Govea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9194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Tec de Monterrey
Inv. educativa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15184" y="1627632"/>
            <a:ext cx="2176272" cy="3931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24912" y="1755648"/>
            <a:ext cx="1956816" cy="2304288"/>
          </a:xfrm>
          <a:prstGeom prst="rect">
            <a:avLst/>
          </a:prstGeom>
          <a:solidFill>
            <a:srgbClr val="2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237744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3035808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6624" y="4142232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Dr. Leopoldo
Zúñiga Silva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49194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Tec de Monterrey
Inv. educativa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1627632"/>
            <a:ext cx="2176272" cy="3931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1755648"/>
            <a:ext cx="1956816" cy="2304288"/>
          </a:xfrm>
          <a:prstGeom prst="rect">
            <a:avLst/>
          </a:prstGeom>
          <a:solidFill>
            <a:srgbClr val="2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237744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3035808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VIDEO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4142232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Director
Sec. Técnica 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49194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Matehuala, SLP
Implementación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1627632"/>
            <a:ext cx="2176272" cy="3931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1755648"/>
            <a:ext cx="1956816" cy="2304288"/>
          </a:xfrm>
          <a:prstGeom prst="rect">
            <a:avLst/>
          </a:prstGeom>
          <a:solidFill>
            <a:srgbClr val="2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37744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035808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VIDEO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4142232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Docente EF
(fitness)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49194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Secundaria
Práctica áulica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37776" y="1627632"/>
            <a:ext cx="2176272" cy="393192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47504" y="1755648"/>
            <a:ext cx="1956816" cy="2304288"/>
          </a:xfrm>
          <a:prstGeom prst="rect">
            <a:avLst/>
          </a:prstGeom>
          <a:solidFill>
            <a:srgbClr val="2A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47504" y="2377440"/>
            <a:ext cx="1956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B8862A"/>
                </a:solidFill>
              </a:rP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4" y="3035808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VIDEO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4142232"/>
            <a:ext cx="19933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8862A"/>
                </a:solidFill>
              </a:rPr>
              <a:t>Est. Educación
(fitness)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6" y="4919472"/>
            <a:ext cx="19933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7D6E"/>
                </a:solidFill>
              </a:rPr>
              <a:t>Tec de Monterrey
Voz estudiantil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77900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8A7D6E"/>
                </a:solidFill>
              </a:rPr>
              <a:t>Convergencia reportada cuando 4/5 expertos nombran el mismo tema de forma independiente.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4EFE6"/>
                </a:solidFill>
              </a:rPr>
              <a:t>De las tienditas a las aulas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solidFill>
            <a:srgbClr val="28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45720" cy="1828800"/>
          </a:xfrm>
          <a:prstGeom prst="rect">
            <a:avLst/>
          </a:prstGeom>
          <a:solidFill>
            <a:srgbClr val="B83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916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332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EFE6"/>
                </a:solidFill>
              </a:rPr>
              <a:t>R² = 0.032
La regresión
no explica nada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solidFill>
            <a:srgbClr val="28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45720" cy="1828800"/>
          </a:xfrm>
          <a:prstGeom prst="rect">
            <a:avLst/>
          </a:prstGeom>
          <a:solidFill>
            <a:srgbClr val="B88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6916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862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176272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EFE6"/>
                </a:solidFill>
              </a:rPr>
              <a:t>Barrera estructural
brecha intención-
acción de 39.1 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solidFill>
            <a:srgbClr val="28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645920"/>
            <a:ext cx="45720" cy="182880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6916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89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176272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EFE6"/>
                </a:solidFill>
              </a:rPr>
              <a:t>Encuesta confirma:
piden educación
nutricional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645920"/>
            <a:ext cx="2560320" cy="1828800"/>
          </a:xfrm>
          <a:prstGeom prst="rect">
            <a:avLst/>
          </a:prstGeom>
          <a:solidFill>
            <a:srgbClr val="28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645920"/>
            <a:ext cx="45720" cy="1828800"/>
          </a:xfrm>
          <a:prstGeom prst="rect">
            <a:avLst/>
          </a:prstGeom>
          <a:solidFill>
            <a:srgbClr val="2D5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6916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5E3E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176272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4EFE6"/>
                </a:solidFill>
              </a:rPr>
              <a:t>Central: 31.9% →
26.2% a 5 años
(−5.7 pp)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4EFE6"/>
                </a:solidFill>
              </a:rPr>
              <a:t>"El ecosistema actual empuja el consumo no saludable.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B8862A"/>
                </a:solidFill>
              </a:rPr>
              <a:t>La palanca más efectiva a largo plazo es formar a los compradores del futuro."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749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862A"/>
                </a:solidFill>
              </a:rPr>
              <a:t>Fernanda Ita  ·  Alexis Marcos  ·  Carlos Torres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577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7D6E"/>
                </a:solidFill>
              </a:rPr>
              <a:t>Tecnológico de Monterrey · Campus San Luis Potosí · MIT LiftLab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053328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7D6E"/>
                </a:solidFill>
              </a:rPr>
              <a:t>Código abierto · Datos reproducibles · Semilla fija seed=42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