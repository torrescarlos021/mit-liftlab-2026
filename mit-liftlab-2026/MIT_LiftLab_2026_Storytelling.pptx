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[APERTURA — Fernanda]</a:t>
            </a:r>
          </a:p>
          <a:p>
            <a:r>
              <a:t>Buenas tardes. Somos Fernanda, Alexis y Carlos.</a:t>
            </a:r>
          </a:p>
          <a:p/>
          <a:p>
            <a:r>
              <a:t>Esta es la historia de un proyecto que empezó mal — con un modelo estadístico básico que no servía — y de cómo, al darnos cuenta, lo expandimos con datos oficiales, salimos a hablar con cien personas reales, y construimos un plan centrado en ellas.</a:t>
            </a:r>
          </a:p>
          <a:p/>
          <a:p>
            <a:r>
              <a:t>Empieza con una voz que no es la nuestra.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"Cuando hablamos de obesidad infantil, normalmente hablamos de cifras. Hoy queremos empezar diferente. Esta es Doña [Nombre], dueña de una tiendita en San Luis Potosí. Le pedimos que nos contara qué ve detrás del mostrador todos los días."</a:t>
            </a:r>
          </a:p>
          <a:p/>
          <a:p>
            <a:r>
              <a:t>[REPRODUCIR VIDEO — 45–60 seg]</a:t>
            </a:r>
          </a:p>
          <a:p/>
          <a:p>
            <a:r>
              <a:t>[Después]: "Doña [Nombre] no es el problema. Es testigo del problema. Y los datos confirman lo que ella ve."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[Fernanda]</a:t>
            </a:r>
          </a:p>
          <a:p>
            <a:r>
              <a:t>México tiene una de las crisis de obesidad infantil más severas del mundo. No es opinión: tres de cada diez niños de cinco a once años viven con sobrepeso u obesidad. Cuatro de cada diez adolescentes.</a:t>
            </a:r>
          </a:p>
          <a:p/>
          <a:p>
            <a:r>
              <a:t>Y la tendencia empeora. Mientras tanto, 1.1 millones de tienditas son el primer punto de acceso a comida en comunidades vulnerables, y la escuela, que antes tenía hasta cinco horas semanales de educación física, hoy tiene dos.</a:t>
            </a:r>
          </a:p>
          <a:p/>
          <a:p>
            <a:r>
              <a:t>El sistema ya nombró el problema — *Vida Saludable* en la Nueva Escuela Mexicana. Pero un eje articulador sin horas ni capacitación es una buena intención sin músculo. Ahí entró nuestro proyecto.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[Carlos]</a:t>
            </a:r>
          </a:p>
          <a:p>
            <a:r>
              <a:t>Aquí empezó el proyecto, y aquí casi fracasa.</a:t>
            </a:r>
          </a:p>
          <a:p/>
          <a:p>
            <a:r>
              <a:t>Hipótesis inicial: si las tienditas son el primer punto de acceso a comida ultraprocesada, debe haber una correlación visible entre su densidad y la obesidad infantil. Probamos con la regresión más simple posible: una variable, 32 estados.</a:t>
            </a:r>
          </a:p>
          <a:p/>
          <a:p>
            <a:r>
              <a:t>Los números fueron malos. R² de 0.064 — el modelo explicaba el 6% de la varianza. El coeficiente era negativo, lo opuesto a lo que esperábamos, y ni siquiera era significativo: p de 0.16.</a:t>
            </a:r>
          </a:p>
          <a:p/>
          <a:p>
            <a:r>
              <a:t>En una propuesta seria, ese resultado pide tres reacciones. Primero, honestidad: el modelo es básico y no sirve solo. Segundo, expansión: traer más variables, controlar por factores estructurales. Tercero, complementariedad: si los datos estatales no muestran causas — solo geografía — hay que ir a hablar con las personas.</a:t>
            </a:r>
          </a:p>
          <a:p/>
          <a:p>
            <a:r>
              <a:t>Y eso es lo que hicimos a continuación.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[Carlos]</a:t>
            </a:r>
          </a:p>
          <a:p>
            <a:r>
              <a:t>Si el modelo simple falla, no se abandona el proyecto — se expande.</a:t>
            </a:r>
          </a:p>
          <a:p/>
          <a:p>
            <a:r>
              <a:t>Trajimos seis datasets oficiales: INEGI DENUE para tienditas, ENSANUT Continua para obesidad y comportamiento, ENIGH para gasto en alimentos, CONAPO para marginación, Anuarios de Morbilidad para diabetes en menores.</a:t>
            </a:r>
          </a:p>
          <a:p/>
          <a:p>
            <a:r>
              <a:t>Ocurrieron dos cosas, ambas valiosas.</a:t>
            </a:r>
          </a:p>
          <a:p/>
          <a:p>
            <a:r>
              <a:t>Primero: la regresión controlada. Al añadir marginación y urbanización, el R² subió de 0.064 a 0.634 — diez veces más varianza explicada. Y el coeficiente de densidad de tienditas SE INVIRTIÓ: pasó de negativo a positivo, ahora con p&lt;0.001. ¿Por qué? Porque los estados con más tienditas son los más pobres y rurales — Guerrero, Oaxaca, Chiapas — que paradójicamente tienen menor obesidad. La pobreza enmascaraba el efecto. Una vez que controlamos por eso, las tienditas sí correlacionan con obesidad.</a:t>
            </a:r>
          </a:p>
          <a:p/>
          <a:p>
            <a:r>
              <a:t>Segundo: el Random Forest sobre las 8 variables. Y aquí está el hallazgo más útil: el predictor más importante no son las tienditas. Es el cumplimiento de actividad física, con una correlación de menos 0.91 con la obesidad adolescente. Las tienditas quedaron últimas con importancia de 0.004.</a:t>
            </a:r>
          </a:p>
          <a:p/>
          <a:p>
            <a:r>
              <a:t>Eso reorientó toda la propuesta. No se trata de regular comercios. Se trata de mover la variable más modificable: la actividad física en los adolescentes.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a:t>
            </a:r>
          </a:p>
          <a:p>
            <a:r>
              <a:t>Cuando los modelos cuantitativos terminaron de hablar, nos dimos cuenta de algo importante: nos habían dado el QUÉ y el CUÁNTO, pero no el POR QUÉ.</a:t>
            </a:r>
          </a:p>
          <a:p/>
          <a:p>
            <a:r>
              <a:t>Sabíamos que la actividad física es el predictor más fuerte. Sabíamos que los estados más urbanos tienen más obesidad. Sabíamos que las tienditas, controlando otras variables, sí correlacionan.</a:t>
            </a:r>
          </a:p>
          <a:p/>
          <a:p>
            <a:r>
              <a:t>Pero no sabíamos qué decide una madre o un padre cuando llega a casa a las 8 de la noche y tiene que dar de cenar. No sabíamos qué compran los hijos cuando reciben dinero. No sabíamos si la barrera principal es el tiempo, el dinero, la educación o la voluntad.</a:t>
            </a:r>
          </a:p>
          <a:p/>
          <a:p>
            <a:r>
              <a:t>Por eso diseñamos nuestra propia encuesta. Aplicada en San Luis Potosí, con población real, no agregados estatales. Estructurada en dos pistas — padres y no padres — para no perder ningún ángulo.</a:t>
            </a:r>
          </a:p>
          <a:p/>
          <a:p>
            <a:r>
              <a:t>Esto no es complementario al análisis. Es el corazón del análisis.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a:t>
            </a:r>
          </a:p>
          <a:p>
            <a:r>
              <a:t>Cien personas. San Luis Potosí. Diciembre y enero.</a:t>
            </a:r>
          </a:p>
          <a:p/>
          <a:p>
            <a:r>
              <a:t>La barra más alta de la izquierda no necesita explicación: 38 personas, la respuesta más frecuente con amplio margen, dicen que no cocinan porque no tienen tiempo por el trabajo. Más que las que dicen que no les gusta cocinar.</a:t>
            </a:r>
          </a:p>
          <a:p/>
          <a:p>
            <a:r>
              <a:t>Ese dato es estructural. La gente no es ignorante, no es perezosa, no le falta motivación. Le falta tiempo. Físicamente.</a:t>
            </a:r>
          </a:p>
          <a:p/>
          <a:p>
            <a:r>
              <a:t>Ahora la derecha: cuando preguntamos qué soluciones quieren, las dos respuestas más pedidas fueron acceso a alimentos saludables y educación nutricional. La gente nos estaba diciendo, sin que se lo preguntáramos directamente, qué intervención están dispuestos a recibir.</a:t>
            </a:r>
          </a:p>
          <a:p/>
          <a:p>
            <a:r>
              <a:t>Y los números de abajo: 79% de los padres están preocupados por la alimentación de sus hijos. 80 de 98 personas dicen que cambiarían sus hábitos con más tiempo o recursos. 27 piden explícitamente programas de educación nutricional.</a:t>
            </a:r>
          </a:p>
          <a:p/>
          <a:p>
            <a:r>
              <a:t>La motivación no es el problema. La estructura sí. Y la población misma nombra la solución.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[PAUSA — bajar el ritmo]</a:t>
            </a:r>
          </a:p>
          <a:p/>
          <a:p>
            <a:r>
              <a:t>Una frase. Dicha por 38 personas que no se conocen entre sí.</a:t>
            </a:r>
          </a:p>
          <a:p/>
          <a:p>
            <a:r>
              <a:t>Si el tiempo es estructural, no podemos cambiar a los adultos de hoy. Pero sí podemos equipar a los adolescentes de mañana.</a:t>
            </a:r>
          </a:p>
          <a:p/>
          <a:p>
            <a:r>
              <a:t>Los modelos cuantitativos lo confirman: el predictor más fuerte de obesidad adolescente es la actividad física, con correlación de −0.91. La encuesta lo confirma desde el otro lado: la gente pide educación nutricional explícitamente.</a:t>
            </a:r>
          </a:p>
          <a:p/>
          <a:p>
            <a:r>
              <a:t>Cuantitativo y cualitativo apuntan al mismo lugar. El plan ya estaba en los datos. Solo había que construirlo.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[Fernanda]</a:t>
            </a:r>
          </a:p>
          <a:p>
            <a:r>
              <a:t>Aquí está el plan. Lo importante es que cada componente está anclado en un hallazgo concreto, no en una opinión.</a:t>
            </a:r>
          </a:p>
          <a:p/>
          <a:p>
            <a:r>
              <a:t>A: La tercera hora de EF no es deporte adicional. Es alfabetización aplicada. Leer una etiqueta de un producto real de la tiendita, diseñar un snack saludable con 20 pesos, mapear el entorno alimentario. Responde directamente al predictor número uno del Random Forest: la actividad física.</a:t>
            </a:r>
          </a:p>
          <a:p/>
          <a:p>
            <a:r>
              <a:t>B: Auditorías bisemanales de tienditas. Es ciencia ciudadana, y produce un dataset geolocal que México hoy no tiene. Responde a las tienditas como nodo obesogénico identificado por la regresión controlada.</a:t>
            </a:r>
          </a:p>
          <a:p/>
          <a:p>
            <a:r>
              <a:t>C: La capa estructural. Nudges en el punto de venta con tienderos voluntarios. Responde directamente a lo que la encuesta dijo: la decisión de compra se toma en segundos, no en la clase del martes.</a:t>
            </a:r>
          </a:p>
          <a:p/>
          <a:p>
            <a:r>
              <a:t>D: La capacitación docente. Asegura que los maestros enseñen con pedagogía de autonomía, no dando cátedra. La fidelidad se mide.</a:t>
            </a:r>
          </a:p>
          <a:p/>
          <a:p>
            <a:r>
              <a:t>E: El puente familiar. Una invitación mensual — nunca tarea. Respeta el hallazgo más importante de la encuesta: la barrera número uno es el tiempo.</a:t>
            </a:r>
          </a:p>
          <a:p/>
          <a:p>
            <a:r>
              <a:t>Doce mil pesos por escuela al año. Escalado a 35 mil secundarias: 420 millones. Menos del 0.1% del presupuesto federal de educación. Sin necesidad de reforma legislativa.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[Carlos]</a:t>
            </a:r>
          </a:p>
          <a:p>
            <a:r>
              <a:t>Una propuesta sin proyección es una opinión. Aquí está la nuestra.</a:t>
            </a:r>
          </a:p>
          <a:p/>
          <a:p>
            <a:r>
              <a:t>Mil estudiantes simulados, 5,000 corridas por escenario, parámetros tomados de meta-análisis publicados — no inventados.</a:t>
            </a:r>
          </a:p>
          <a:p/>
          <a:p>
            <a:r>
              <a:t>Escenario central: la intervención ralentiza el crecimiento del IMC en 0.68 kg/m² a cinco años. Aproximadamente seis puntos porcentuales menos de prevalencia de sobrepeso.</a:t>
            </a:r>
          </a:p>
          <a:p/>
          <a:p>
            <a:r>
              <a:t>Pero la pieza más importante está en el cuarto escenario. Dice cero. Es el escenario nulo de largo plazo: hay un meta-análisis del 2021 que encontró que intervenciones escolares de largo plazo en niños no mueven el IMC. Lo incluimos. Si no lo incluyéramos, deberían sospechar de nosotros.</a:t>
            </a:r>
          </a:p>
          <a:p/>
          <a:p>
            <a:r>
              <a:t>Y aún así, la propuesta sigue siendo defendible: los cambios en comportamiento de compra, en inventario de las tienditas, en la agencia crítica del estudiante — esos son medibles en semanas, no en años.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"Para someter el plan a prueba, lo presentamos a cinco voces externas. El primero: Dr. José Manuel Olais Govea, investigador del Tec Campus SLP."</a:t>
            </a:r>
          </a:p>
          <a:p>
            <a:r>
              <a:t>[VIDEO ~75 seg]</a:t>
            </a:r>
          </a:p>
          <a:p>
            <a:r>
              <a:t>[Después]: "Del Dr. Olais retuvimos [su punto clave]."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"El segundo investigador, Dr. Leopoldo Zúñiga Silva, también del Tec SLP."</a:t>
            </a:r>
          </a:p>
          <a:p>
            <a:r>
              <a:t>[VIDEO ~75 seg]</a:t>
            </a:r>
          </a:p>
          <a:p>
            <a:r>
              <a:t>[Después]: "Su aporte: [tema central]. Reforzó nuestra decisión de [ajuste]." </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"La validación académica no basta. Entrevistamos al director de la Sec. Téc. 78 — donde, si esto se pilotea, ocurriría primero."</a:t>
            </a:r>
          </a:p>
          <a:p>
            <a:r>
              <a:t>[VIDEO ~75 seg]</a:t>
            </a:r>
          </a:p>
          <a:p>
            <a:r>
              <a:t>[Después]: "Aprendizaje operativo: [restricción]. Por eso incluimos el fallback." </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"Cuarto: un docente de secundaria en activo, además practicante de fitness."</a:t>
            </a:r>
          </a:p>
          <a:p>
            <a:r>
              <a:t>[VIDEO ~75 seg]</a:t>
            </a:r>
          </a:p>
          <a:p>
            <a:r>
              <a:t>[Después]: "Lo que dijo y nosotros no habíamos visto: [punto inesperado]. Para eso sirve la validación."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[Alexis]: "La voz que más fácil se olvida: una estudiante de licenciatura en Educación con background deportivo."</a:t>
            </a:r>
          </a:p>
          <a:p>
            <a:r>
              <a:t>[VIDEO ~75 seg]</a:t>
            </a:r>
          </a:p>
          <a:p>
            <a:r>
              <a:t>[Después]: "Su frase: '[cita]'. Si los estudiantes no le ven sentido, ningún diseño funciona."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[Fernanda]</a:t>
            </a:r>
          </a:p>
          <a:p>
            <a:r>
              <a:t>Esta es una historia donde empezamos mal — con un modelo simple que no servía — y donde, en lugar de esconderlo, lo usamos como punto de partida.</a:t>
            </a:r>
          </a:p>
          <a:p/>
          <a:p>
            <a:r>
              <a:t>Trajimos seis datasets oficiales y subimos el R² de 0.064 a 0.634. Construimos un Random Forest que identificó la actividad física como el predictor número uno. Salimos a hablar con cien personas reales y entendimos que la barrera es el tiempo, no la voluntad. Diseñamos un plan centrado en personas. Lo probamos con Monte Carlo. Lo sometimos a cinco expertos.</a:t>
            </a:r>
          </a:p>
          <a:p/>
          <a:p>
            <a:r>
              <a:t>Lo que proponemos no es revolucionario. Es modesto, barato, alineado al NEM, y honesto sobre lo que no sabemos.</a:t>
            </a:r>
          </a:p>
          <a:p/>
          <a:p>
            <a:r>
              <a:t>Pero si funciona aunque sea a medias, le da a México algo que hoy le falta: una manera concreta, presupuestable, evaluable, de meter la salud infantil en el único lugar donde podemos alcanzarla a tiempo — el salón de clases.</a:t>
            </a:r>
          </a:p>
          <a:p/>
          <a:p>
            <a:r>
              <a:t>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MIT LIFTLAB  ·  NATIONAL COMPETITION 2026</a:t>
            </a:r>
          </a:p>
        </p:txBody>
      </p:sp>
      <p:sp>
        <p:nvSpPr>
          <p:cNvPr id="4" name="TextBox 3"/>
          <p:cNvSpPr txBox="1"/>
          <p:nvPr/>
        </p:nvSpPr>
        <p:spPr>
          <a:xfrm>
            <a:off x="731520" y="1645920"/>
            <a:ext cx="10515600" cy="1097280"/>
          </a:xfrm>
          <a:prstGeom prst="rect">
            <a:avLst/>
          </a:prstGeom>
          <a:noFill/>
        </p:spPr>
        <p:txBody>
          <a:bodyPr wrap="square">
            <a:spAutoFit/>
          </a:bodyPr>
          <a:lstStyle/>
          <a:p>
            <a:pPr algn="l"/>
            <a:r>
              <a:rPr sz="7200" b="1" i="0">
                <a:solidFill>
                  <a:srgbClr val="1A1612"/>
                </a:solidFill>
                <a:latin typeface="Calibri"/>
              </a:rPr>
              <a:t>From Nanostores</a:t>
            </a:r>
          </a:p>
        </p:txBody>
      </p:sp>
      <p:sp>
        <p:nvSpPr>
          <p:cNvPr id="5" name="TextBox 4"/>
          <p:cNvSpPr txBox="1"/>
          <p:nvPr/>
        </p:nvSpPr>
        <p:spPr>
          <a:xfrm>
            <a:off x="731520" y="2697480"/>
            <a:ext cx="10515600" cy="1097280"/>
          </a:xfrm>
          <a:prstGeom prst="rect">
            <a:avLst/>
          </a:prstGeom>
          <a:noFill/>
        </p:spPr>
        <p:txBody>
          <a:bodyPr wrap="square">
            <a:spAutoFit/>
          </a:bodyPr>
          <a:lstStyle/>
          <a:p>
            <a:pPr algn="l"/>
            <a:r>
              <a:rPr sz="7200" b="0" i="1">
                <a:solidFill>
                  <a:srgbClr val="B8332A"/>
                </a:solidFill>
                <a:latin typeface="Calibri"/>
              </a:rPr>
              <a:t>→ Classrooms.</a:t>
            </a:r>
          </a:p>
        </p:txBody>
      </p:sp>
      <p:sp>
        <p:nvSpPr>
          <p:cNvPr id="6" name="TextBox 5"/>
          <p:cNvSpPr txBox="1"/>
          <p:nvPr/>
        </p:nvSpPr>
        <p:spPr>
          <a:xfrm>
            <a:off x="731520" y="4114800"/>
            <a:ext cx="10058400" cy="457200"/>
          </a:xfrm>
          <a:prstGeom prst="rect">
            <a:avLst/>
          </a:prstGeom>
          <a:noFill/>
        </p:spPr>
        <p:txBody>
          <a:bodyPr wrap="square">
            <a:spAutoFit/>
          </a:bodyPr>
          <a:lstStyle/>
          <a:p>
            <a:pPr algn="l"/>
            <a:r>
              <a:rPr sz="1400" b="0" i="0">
                <a:solidFill>
                  <a:srgbClr val="7A7368"/>
                </a:solidFill>
                <a:latin typeface="Calibri"/>
              </a:rPr>
              <a:t>Una historia de un modelo malo, datasets que lo salvaron, 100 voces que lo enfocaron — y un plan para la salud infantil.</a:t>
            </a:r>
          </a:p>
        </p:txBody>
      </p:sp>
      <p:sp>
        <p:nvSpPr>
          <p:cNvPr id="7" name="Rectangle 6"/>
          <p:cNvSpPr/>
          <p:nvPr/>
        </p:nvSpPr>
        <p:spPr>
          <a:xfrm>
            <a:off x="548640" y="5212080"/>
            <a:ext cx="1051560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303520"/>
            <a:ext cx="2560320" cy="201168"/>
          </a:xfrm>
          <a:prstGeom prst="rect">
            <a:avLst/>
          </a:prstGeom>
          <a:noFill/>
        </p:spPr>
        <p:txBody>
          <a:bodyPr wrap="square">
            <a:spAutoFit/>
          </a:bodyPr>
          <a:lstStyle/>
          <a:p>
            <a:pPr algn="l"/>
            <a:r>
              <a:rPr sz="800" b="0" i="0">
                <a:solidFill>
                  <a:srgbClr val="7A7368"/>
                </a:solidFill>
                <a:latin typeface="Consolas"/>
              </a:rPr>
              <a:t>INSTITUCIÓN</a:t>
            </a:r>
          </a:p>
        </p:txBody>
      </p:sp>
      <p:sp>
        <p:nvSpPr>
          <p:cNvPr id="9" name="TextBox 8"/>
          <p:cNvSpPr txBox="1"/>
          <p:nvPr/>
        </p:nvSpPr>
        <p:spPr>
          <a:xfrm>
            <a:off x="731520" y="5577840"/>
            <a:ext cx="2560320" cy="320040"/>
          </a:xfrm>
          <a:prstGeom prst="rect">
            <a:avLst/>
          </a:prstGeom>
          <a:noFill/>
        </p:spPr>
        <p:txBody>
          <a:bodyPr wrap="square">
            <a:spAutoFit/>
          </a:bodyPr>
          <a:lstStyle/>
          <a:p>
            <a:pPr algn="l"/>
            <a:r>
              <a:rPr sz="1100" b="0" i="0">
                <a:solidFill>
                  <a:srgbClr val="1A1612"/>
                </a:solidFill>
                <a:latin typeface="Calibri"/>
              </a:rPr>
              <a:t>Tec de Monterrey · Campus SLP</a:t>
            </a:r>
          </a:p>
        </p:txBody>
      </p:sp>
      <p:sp>
        <p:nvSpPr>
          <p:cNvPr id="10" name="TextBox 9"/>
          <p:cNvSpPr txBox="1"/>
          <p:nvPr/>
        </p:nvSpPr>
        <p:spPr>
          <a:xfrm>
            <a:off x="3474720" y="5303520"/>
            <a:ext cx="2560320" cy="201168"/>
          </a:xfrm>
          <a:prstGeom prst="rect">
            <a:avLst/>
          </a:prstGeom>
          <a:noFill/>
        </p:spPr>
        <p:txBody>
          <a:bodyPr wrap="square">
            <a:spAutoFit/>
          </a:bodyPr>
          <a:lstStyle/>
          <a:p>
            <a:pPr algn="l"/>
            <a:r>
              <a:rPr sz="800" b="0" i="0">
                <a:solidFill>
                  <a:srgbClr val="7A7368"/>
                </a:solidFill>
                <a:latin typeface="Consolas"/>
              </a:rPr>
              <a:t>PROGRAMA</a:t>
            </a:r>
          </a:p>
        </p:txBody>
      </p:sp>
      <p:sp>
        <p:nvSpPr>
          <p:cNvPr id="11" name="TextBox 10"/>
          <p:cNvSpPr txBox="1"/>
          <p:nvPr/>
        </p:nvSpPr>
        <p:spPr>
          <a:xfrm>
            <a:off x="3474720" y="5577840"/>
            <a:ext cx="2560320" cy="320040"/>
          </a:xfrm>
          <a:prstGeom prst="rect">
            <a:avLst/>
          </a:prstGeom>
          <a:noFill/>
        </p:spPr>
        <p:txBody>
          <a:bodyPr wrap="square">
            <a:spAutoFit/>
          </a:bodyPr>
          <a:lstStyle/>
          <a:p>
            <a:pPr algn="l"/>
            <a:r>
              <a:rPr sz="1100" b="0" i="0">
                <a:solidFill>
                  <a:srgbClr val="1A1612"/>
                </a:solidFill>
                <a:latin typeface="Calibri"/>
              </a:rPr>
              <a:t>Ing. Mecatrónica · 4° Sem.</a:t>
            </a:r>
          </a:p>
        </p:txBody>
      </p:sp>
      <p:sp>
        <p:nvSpPr>
          <p:cNvPr id="12" name="TextBox 11"/>
          <p:cNvSpPr txBox="1"/>
          <p:nvPr/>
        </p:nvSpPr>
        <p:spPr>
          <a:xfrm>
            <a:off x="6217920" y="5303520"/>
            <a:ext cx="2560320" cy="201168"/>
          </a:xfrm>
          <a:prstGeom prst="rect">
            <a:avLst/>
          </a:prstGeom>
          <a:noFill/>
        </p:spPr>
        <p:txBody>
          <a:bodyPr wrap="square">
            <a:spAutoFit/>
          </a:bodyPr>
          <a:lstStyle/>
          <a:p>
            <a:pPr algn="l"/>
            <a:r>
              <a:rPr sz="800" b="0" i="0">
                <a:solidFill>
                  <a:srgbClr val="7A7368"/>
                </a:solidFill>
                <a:latin typeface="Consolas"/>
              </a:rPr>
              <a:t>MÉTODO</a:t>
            </a:r>
          </a:p>
        </p:txBody>
      </p:sp>
      <p:sp>
        <p:nvSpPr>
          <p:cNvPr id="13" name="TextBox 12"/>
          <p:cNvSpPr txBox="1"/>
          <p:nvPr/>
        </p:nvSpPr>
        <p:spPr>
          <a:xfrm>
            <a:off x="6217920" y="5577840"/>
            <a:ext cx="2560320" cy="320040"/>
          </a:xfrm>
          <a:prstGeom prst="rect">
            <a:avLst/>
          </a:prstGeom>
          <a:noFill/>
        </p:spPr>
        <p:txBody>
          <a:bodyPr wrap="square">
            <a:spAutoFit/>
          </a:bodyPr>
          <a:lstStyle/>
          <a:p>
            <a:pPr algn="l"/>
            <a:r>
              <a:rPr sz="1100" b="0" i="0">
                <a:solidFill>
                  <a:srgbClr val="1A1612"/>
                </a:solidFill>
                <a:latin typeface="Calibri"/>
              </a:rPr>
              <a:t>Regresión → RF → Encuesta → MC</a:t>
            </a:r>
          </a:p>
        </p:txBody>
      </p:sp>
      <p:sp>
        <p:nvSpPr>
          <p:cNvPr id="14" name="TextBox 13"/>
          <p:cNvSpPr txBox="1"/>
          <p:nvPr/>
        </p:nvSpPr>
        <p:spPr>
          <a:xfrm>
            <a:off x="9418320" y="5303520"/>
            <a:ext cx="2560320" cy="201168"/>
          </a:xfrm>
          <a:prstGeom prst="rect">
            <a:avLst/>
          </a:prstGeom>
          <a:noFill/>
        </p:spPr>
        <p:txBody>
          <a:bodyPr wrap="square">
            <a:spAutoFit/>
          </a:bodyPr>
          <a:lstStyle/>
          <a:p>
            <a:pPr algn="l"/>
            <a:r>
              <a:rPr sz="800" b="0" i="0">
                <a:solidFill>
                  <a:srgbClr val="7A7368"/>
                </a:solidFill>
                <a:latin typeface="Consolas"/>
              </a:rPr>
              <a:t>EQUIPO</a:t>
            </a:r>
          </a:p>
        </p:txBody>
      </p:sp>
      <p:sp>
        <p:nvSpPr>
          <p:cNvPr id="15" name="TextBox 14"/>
          <p:cNvSpPr txBox="1"/>
          <p:nvPr/>
        </p:nvSpPr>
        <p:spPr>
          <a:xfrm>
            <a:off x="9418320" y="5577840"/>
            <a:ext cx="2560320" cy="320040"/>
          </a:xfrm>
          <a:prstGeom prst="rect">
            <a:avLst/>
          </a:prstGeom>
          <a:noFill/>
        </p:spPr>
        <p:txBody>
          <a:bodyPr wrap="square">
            <a:spAutoFit/>
          </a:bodyPr>
          <a:lstStyle/>
          <a:p>
            <a:pPr algn="l"/>
            <a:r>
              <a:rPr sz="1100" b="0" i="0">
                <a:solidFill>
                  <a:srgbClr val="1A1612"/>
                </a:solidFill>
                <a:latin typeface="Calibri"/>
              </a:rPr>
              <a:t>Ita · Marcos · Torres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TESTIMONIO DE LA TENDERA</a:t>
            </a:r>
          </a:p>
        </p:txBody>
      </p:sp>
      <p:sp>
        <p:nvSpPr>
          <p:cNvPr id="4" name="Rectangle 3"/>
          <p:cNvSpPr/>
          <p:nvPr/>
        </p:nvSpPr>
        <p:spPr>
          <a:xfrm>
            <a:off x="1371600" y="1097280"/>
            <a:ext cx="9418320" cy="438912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92608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9923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TextBox 7"/>
          <p:cNvSpPr txBox="1"/>
          <p:nvPr/>
        </p:nvSpPr>
        <p:spPr>
          <a:xfrm>
            <a:off x="1371600" y="4663440"/>
            <a:ext cx="9418320" cy="365760"/>
          </a:xfrm>
          <a:prstGeom prst="rect">
            <a:avLst/>
          </a:prstGeom>
          <a:noFill/>
        </p:spPr>
        <p:txBody>
          <a:bodyPr wrap="square">
            <a:spAutoFit/>
          </a:bodyPr>
          <a:lstStyle/>
          <a:p>
            <a:pPr algn="ctr"/>
            <a:r>
              <a:rPr sz="1300" b="0" i="1">
                <a:solidFill>
                  <a:srgbClr val="C8BEB0"/>
                </a:solidFill>
                <a:latin typeface="Calibri"/>
              </a:rPr>
              <a:t>La voz de quien vive el problema desde el mostrador.</a:t>
            </a:r>
          </a:p>
        </p:txBody>
      </p:sp>
      <p:sp>
        <p:nvSpPr>
          <p:cNvPr id="9" name="TextBox 8"/>
          <p:cNvSpPr txBox="1"/>
          <p:nvPr/>
        </p:nvSpPr>
        <p:spPr>
          <a:xfrm>
            <a:off x="1371600" y="5120640"/>
            <a:ext cx="9418320" cy="548640"/>
          </a:xfrm>
          <a:prstGeom prst="rect">
            <a:avLst/>
          </a:prstGeom>
          <a:noFill/>
        </p:spPr>
        <p:txBody>
          <a:bodyPr wrap="square">
            <a:spAutoFit/>
          </a:bodyPr>
          <a:lstStyle/>
          <a:p>
            <a:pPr algn="ctr"/>
            <a:r>
              <a:rPr sz="1100" b="0" i="0">
                <a:solidFill>
                  <a:srgbClr val="B8862A"/>
                </a:solidFill>
                <a:latin typeface="Consolas"/>
              </a:rPr>
              <a:t>Doña [Nombre] · Tiendita de abarrotes · San Luis Potosí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  LA CRISIS</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800" b="1" i="0">
                <a:solidFill>
                  <a:srgbClr val="1A1612"/>
                </a:solidFill>
                <a:latin typeface="Calibri"/>
              </a:rPr>
              <a:t>La fotografía nacional.</a:t>
            </a:r>
          </a:p>
        </p:txBody>
      </p:sp>
      <p:sp>
        <p:nvSpPr>
          <p:cNvPr id="5" name="Rectangle 4"/>
          <p:cNvSpPr/>
          <p:nvPr/>
        </p:nvSpPr>
        <p:spPr>
          <a:xfrm>
            <a:off x="548640" y="1417320"/>
            <a:ext cx="5486400" cy="26517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54480"/>
            <a:ext cx="5029200" cy="256032"/>
          </a:xfrm>
          <a:prstGeom prst="rect">
            <a:avLst/>
          </a:prstGeom>
          <a:noFill/>
        </p:spPr>
        <p:txBody>
          <a:bodyPr wrap="square">
            <a:spAutoFit/>
          </a:bodyPr>
          <a:lstStyle/>
          <a:p>
            <a:pPr algn="l"/>
            <a:r>
              <a:rPr sz="900" b="0" i="0">
                <a:solidFill>
                  <a:srgbClr val="B8862A"/>
                </a:solidFill>
                <a:latin typeface="Consolas"/>
              </a:rPr>
              <a:t>NIÑOS 5–11 AÑOS  ·  ENSANUT 2020–2024</a:t>
            </a:r>
          </a:p>
        </p:txBody>
      </p:sp>
      <p:sp>
        <p:nvSpPr>
          <p:cNvPr id="7" name="TextBox 6"/>
          <p:cNvSpPr txBox="1"/>
          <p:nvPr/>
        </p:nvSpPr>
        <p:spPr>
          <a:xfrm>
            <a:off x="777240" y="1874519"/>
            <a:ext cx="5029200" cy="1554480"/>
          </a:xfrm>
          <a:prstGeom prst="rect">
            <a:avLst/>
          </a:prstGeom>
          <a:noFill/>
        </p:spPr>
        <p:txBody>
          <a:bodyPr wrap="square">
            <a:spAutoFit/>
          </a:bodyPr>
          <a:lstStyle/>
          <a:p>
            <a:pPr algn="l"/>
            <a:r>
              <a:rPr sz="10000" b="1" i="0">
                <a:solidFill>
                  <a:srgbClr val="B8332A"/>
                </a:solidFill>
                <a:latin typeface="Calibri"/>
              </a:rPr>
              <a:t>36.6%</a:t>
            </a:r>
          </a:p>
        </p:txBody>
      </p:sp>
      <p:sp>
        <p:nvSpPr>
          <p:cNvPr id="8" name="TextBox 7"/>
          <p:cNvSpPr txBox="1"/>
          <p:nvPr/>
        </p:nvSpPr>
        <p:spPr>
          <a:xfrm>
            <a:off x="777240" y="3383280"/>
            <a:ext cx="5029200" cy="457200"/>
          </a:xfrm>
          <a:prstGeom prst="rect">
            <a:avLst/>
          </a:prstGeom>
          <a:noFill/>
        </p:spPr>
        <p:txBody>
          <a:bodyPr wrap="square">
            <a:spAutoFit/>
          </a:bodyPr>
          <a:lstStyle/>
          <a:p>
            <a:pPr algn="l"/>
            <a:r>
              <a:rPr sz="1400" b="0" i="0">
                <a:solidFill>
                  <a:srgbClr val="FDF8F1"/>
                </a:solidFill>
                <a:latin typeface="Calibri"/>
              </a:rPr>
              <a:t>con sobrepeso u obesidad</a:t>
            </a:r>
          </a:p>
        </p:txBody>
      </p:sp>
      <p:sp>
        <p:nvSpPr>
          <p:cNvPr id="9" name="Rectangle 8"/>
          <p:cNvSpPr/>
          <p:nvPr/>
        </p:nvSpPr>
        <p:spPr>
          <a:xfrm>
            <a:off x="6172200" y="1417320"/>
            <a:ext cx="5486400" cy="26517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554480"/>
            <a:ext cx="5029200" cy="256032"/>
          </a:xfrm>
          <a:prstGeom prst="rect">
            <a:avLst/>
          </a:prstGeom>
          <a:noFill/>
        </p:spPr>
        <p:txBody>
          <a:bodyPr wrap="square">
            <a:spAutoFit/>
          </a:bodyPr>
          <a:lstStyle/>
          <a:p>
            <a:pPr algn="l"/>
            <a:r>
              <a:rPr sz="900" b="0" i="0">
                <a:solidFill>
                  <a:srgbClr val="B8862A"/>
                </a:solidFill>
                <a:latin typeface="Consolas"/>
              </a:rPr>
              <a:t>ADOLESCENTES 12–19 AÑOS  ·  ENSANUT 2020–2024</a:t>
            </a:r>
          </a:p>
        </p:txBody>
      </p:sp>
      <p:sp>
        <p:nvSpPr>
          <p:cNvPr id="11" name="TextBox 10"/>
          <p:cNvSpPr txBox="1"/>
          <p:nvPr/>
        </p:nvSpPr>
        <p:spPr>
          <a:xfrm>
            <a:off x="6400800" y="1874519"/>
            <a:ext cx="5029200" cy="1554480"/>
          </a:xfrm>
          <a:prstGeom prst="rect">
            <a:avLst/>
          </a:prstGeom>
          <a:noFill/>
        </p:spPr>
        <p:txBody>
          <a:bodyPr wrap="square">
            <a:spAutoFit/>
          </a:bodyPr>
          <a:lstStyle/>
          <a:p>
            <a:pPr algn="l"/>
            <a:r>
              <a:rPr sz="10000" b="1" i="0">
                <a:solidFill>
                  <a:srgbClr val="B8332A"/>
                </a:solidFill>
                <a:latin typeface="Calibri"/>
              </a:rPr>
              <a:t>40.1%</a:t>
            </a:r>
          </a:p>
        </p:txBody>
      </p:sp>
      <p:sp>
        <p:nvSpPr>
          <p:cNvPr id="12" name="TextBox 11"/>
          <p:cNvSpPr txBox="1"/>
          <p:nvPr/>
        </p:nvSpPr>
        <p:spPr>
          <a:xfrm>
            <a:off x="6400800" y="3383280"/>
            <a:ext cx="5029200" cy="457200"/>
          </a:xfrm>
          <a:prstGeom prst="rect">
            <a:avLst/>
          </a:prstGeom>
          <a:noFill/>
        </p:spPr>
        <p:txBody>
          <a:bodyPr wrap="square">
            <a:spAutoFit/>
          </a:bodyPr>
          <a:lstStyle/>
          <a:p>
            <a:pPr algn="l"/>
            <a:r>
              <a:rPr sz="1400" b="0" i="0">
                <a:solidFill>
                  <a:srgbClr val="FDF8F1"/>
                </a:solidFill>
                <a:latin typeface="Calibri"/>
              </a:rPr>
              <a:t>con sobrepeso u obesidad</a:t>
            </a:r>
          </a:p>
        </p:txBody>
      </p:sp>
      <p:sp>
        <p:nvSpPr>
          <p:cNvPr id="13" name="Rectangle 12"/>
          <p:cNvSpPr/>
          <p:nvPr/>
        </p:nvSpPr>
        <p:spPr>
          <a:xfrm>
            <a:off x="548640"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343400"/>
            <a:ext cx="2468880" cy="685800"/>
          </a:xfrm>
          <a:prstGeom prst="rect">
            <a:avLst/>
          </a:prstGeom>
          <a:noFill/>
        </p:spPr>
        <p:txBody>
          <a:bodyPr wrap="square">
            <a:spAutoFit/>
          </a:bodyPr>
          <a:lstStyle/>
          <a:p>
            <a:pPr algn="l"/>
            <a:r>
              <a:rPr sz="3000" b="1" i="0">
                <a:solidFill>
                  <a:srgbClr val="B8332A"/>
                </a:solidFill>
                <a:latin typeface="Calibri"/>
              </a:rPr>
              <a:t>1.1M</a:t>
            </a:r>
          </a:p>
        </p:txBody>
      </p:sp>
      <p:sp>
        <p:nvSpPr>
          <p:cNvPr id="15" name="TextBox 14"/>
          <p:cNvSpPr txBox="1"/>
          <p:nvPr/>
        </p:nvSpPr>
        <p:spPr>
          <a:xfrm>
            <a:off x="685800" y="5029200"/>
            <a:ext cx="2468880" cy="411480"/>
          </a:xfrm>
          <a:prstGeom prst="rect">
            <a:avLst/>
          </a:prstGeom>
          <a:noFill/>
        </p:spPr>
        <p:txBody>
          <a:bodyPr wrap="square">
            <a:spAutoFit/>
          </a:bodyPr>
          <a:lstStyle/>
          <a:p>
            <a:pPr algn="l"/>
            <a:r>
              <a:rPr sz="1100" b="0" i="0">
                <a:solidFill>
                  <a:srgbClr val="1A1612"/>
                </a:solidFill>
                <a:latin typeface="Calibri"/>
              </a:rPr>
              <a:t>tienditas en México</a:t>
            </a:r>
          </a:p>
        </p:txBody>
      </p:sp>
      <p:sp>
        <p:nvSpPr>
          <p:cNvPr id="16" name="TextBox 15"/>
          <p:cNvSpPr txBox="1"/>
          <p:nvPr/>
        </p:nvSpPr>
        <p:spPr>
          <a:xfrm>
            <a:off x="685800" y="5440680"/>
            <a:ext cx="2468880" cy="274320"/>
          </a:xfrm>
          <a:prstGeom prst="rect">
            <a:avLst/>
          </a:prstGeom>
          <a:noFill/>
        </p:spPr>
        <p:txBody>
          <a:bodyPr wrap="square">
            <a:spAutoFit/>
          </a:bodyPr>
          <a:lstStyle/>
          <a:p>
            <a:pPr algn="l"/>
            <a:r>
              <a:rPr sz="800" b="0" i="0">
                <a:solidFill>
                  <a:srgbClr val="7A7368"/>
                </a:solidFill>
                <a:latin typeface="Consolas"/>
              </a:rPr>
              <a:t>INEGI DENUE 2024</a:t>
            </a:r>
          </a:p>
        </p:txBody>
      </p:sp>
      <p:sp>
        <p:nvSpPr>
          <p:cNvPr id="17" name="Rectangle 16"/>
          <p:cNvSpPr/>
          <p:nvPr/>
        </p:nvSpPr>
        <p:spPr>
          <a:xfrm>
            <a:off x="3429000"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0" y="4343400"/>
            <a:ext cx="2468880" cy="685800"/>
          </a:xfrm>
          <a:prstGeom prst="rect">
            <a:avLst/>
          </a:prstGeom>
          <a:noFill/>
        </p:spPr>
        <p:txBody>
          <a:bodyPr wrap="square">
            <a:spAutoFit/>
          </a:bodyPr>
          <a:lstStyle/>
          <a:p>
            <a:pPr algn="l"/>
            <a:r>
              <a:rPr sz="3000" b="1" i="0">
                <a:solidFill>
                  <a:srgbClr val="B8332A"/>
                </a:solidFill>
                <a:latin typeface="Calibri"/>
              </a:rPr>
              <a:t>7 de 10</a:t>
            </a:r>
          </a:p>
        </p:txBody>
      </p:sp>
      <p:sp>
        <p:nvSpPr>
          <p:cNvPr id="19" name="TextBox 18"/>
          <p:cNvSpPr txBox="1"/>
          <p:nvPr/>
        </p:nvSpPr>
        <p:spPr>
          <a:xfrm>
            <a:off x="3566160" y="5029200"/>
            <a:ext cx="2468880" cy="411480"/>
          </a:xfrm>
          <a:prstGeom prst="rect">
            <a:avLst/>
          </a:prstGeom>
          <a:noFill/>
        </p:spPr>
        <p:txBody>
          <a:bodyPr wrap="square">
            <a:spAutoFit/>
          </a:bodyPr>
          <a:lstStyle/>
          <a:p>
            <a:pPr algn="l"/>
            <a:r>
              <a:rPr sz="1100" b="0" i="0">
                <a:solidFill>
                  <a:srgbClr val="1A1612"/>
                </a:solidFill>
                <a:latin typeface="Calibri"/>
              </a:rPr>
              <a:t>escolares sin actividad física</a:t>
            </a:r>
          </a:p>
        </p:txBody>
      </p:sp>
      <p:sp>
        <p:nvSpPr>
          <p:cNvPr id="20" name="TextBox 19"/>
          <p:cNvSpPr txBox="1"/>
          <p:nvPr/>
        </p:nvSpPr>
        <p:spPr>
          <a:xfrm>
            <a:off x="3566160" y="5440680"/>
            <a:ext cx="2468880" cy="274320"/>
          </a:xfrm>
          <a:prstGeom prst="rect">
            <a:avLst/>
          </a:prstGeom>
          <a:noFill/>
        </p:spPr>
        <p:txBody>
          <a:bodyPr wrap="square">
            <a:spAutoFit/>
          </a:bodyPr>
          <a:lstStyle/>
          <a:p>
            <a:pPr algn="l"/>
            <a:r>
              <a:rPr sz="800" b="0" i="0">
                <a:solidFill>
                  <a:srgbClr val="7A7368"/>
                </a:solidFill>
                <a:latin typeface="Consolas"/>
              </a:rPr>
              <a:t>SEP 2025</a:t>
            </a:r>
          </a:p>
        </p:txBody>
      </p:sp>
      <p:sp>
        <p:nvSpPr>
          <p:cNvPr id="21" name="Rectangle 20"/>
          <p:cNvSpPr/>
          <p:nvPr/>
        </p:nvSpPr>
        <p:spPr>
          <a:xfrm>
            <a:off x="6309359"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343400"/>
            <a:ext cx="2468880" cy="685800"/>
          </a:xfrm>
          <a:prstGeom prst="rect">
            <a:avLst/>
          </a:prstGeom>
          <a:noFill/>
        </p:spPr>
        <p:txBody>
          <a:bodyPr wrap="square">
            <a:spAutoFit/>
          </a:bodyPr>
          <a:lstStyle/>
          <a:p>
            <a:pPr algn="l"/>
            <a:r>
              <a:rPr sz="3000" b="1" i="0">
                <a:solidFill>
                  <a:srgbClr val="B8332A"/>
                </a:solidFill>
                <a:latin typeface="Calibri"/>
              </a:rPr>
              <a:t>2 h/sem</a:t>
            </a:r>
          </a:p>
        </p:txBody>
      </p:sp>
      <p:sp>
        <p:nvSpPr>
          <p:cNvPr id="23" name="TextBox 22"/>
          <p:cNvSpPr txBox="1"/>
          <p:nvPr/>
        </p:nvSpPr>
        <p:spPr>
          <a:xfrm>
            <a:off x="6446520" y="5029200"/>
            <a:ext cx="2468880" cy="411480"/>
          </a:xfrm>
          <a:prstGeom prst="rect">
            <a:avLst/>
          </a:prstGeom>
          <a:noFill/>
        </p:spPr>
        <p:txBody>
          <a:bodyPr wrap="square">
            <a:spAutoFit/>
          </a:bodyPr>
          <a:lstStyle/>
          <a:p>
            <a:pPr algn="l"/>
            <a:r>
              <a:rPr sz="1100" b="0" i="0">
                <a:solidFill>
                  <a:srgbClr val="1A1612"/>
                </a:solidFill>
                <a:latin typeface="Calibri"/>
              </a:rPr>
              <a:t>EF en secundaria (antes 5h)</a:t>
            </a:r>
          </a:p>
        </p:txBody>
      </p:sp>
      <p:sp>
        <p:nvSpPr>
          <p:cNvPr id="24" name="TextBox 23"/>
          <p:cNvSpPr txBox="1"/>
          <p:nvPr/>
        </p:nvSpPr>
        <p:spPr>
          <a:xfrm>
            <a:off x="6446520" y="5440680"/>
            <a:ext cx="2468880" cy="274320"/>
          </a:xfrm>
          <a:prstGeom prst="rect">
            <a:avLst/>
          </a:prstGeom>
          <a:noFill/>
        </p:spPr>
        <p:txBody>
          <a:bodyPr wrap="square">
            <a:spAutoFit/>
          </a:bodyPr>
          <a:lstStyle/>
          <a:p>
            <a:pPr algn="l"/>
            <a:r>
              <a:rPr sz="800" b="0" i="0">
                <a:solidFill>
                  <a:srgbClr val="7A7368"/>
                </a:solidFill>
                <a:latin typeface="Consolas"/>
              </a:rPr>
              <a:t>SEP Plan 2022</a:t>
            </a:r>
          </a:p>
        </p:txBody>
      </p:sp>
      <p:sp>
        <p:nvSpPr>
          <p:cNvPr id="25" name="Rectangle 24"/>
          <p:cNvSpPr/>
          <p:nvPr/>
        </p:nvSpPr>
        <p:spPr>
          <a:xfrm>
            <a:off x="9189719" y="4251960"/>
            <a:ext cx="274320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343400"/>
            <a:ext cx="2468880" cy="685800"/>
          </a:xfrm>
          <a:prstGeom prst="rect">
            <a:avLst/>
          </a:prstGeom>
          <a:noFill/>
        </p:spPr>
        <p:txBody>
          <a:bodyPr wrap="square">
            <a:spAutoFit/>
          </a:bodyPr>
          <a:lstStyle/>
          <a:p>
            <a:pPr algn="l"/>
            <a:r>
              <a:rPr sz="3000" b="1" i="0">
                <a:solidFill>
                  <a:srgbClr val="B8332A"/>
                </a:solidFill>
                <a:latin typeface="Calibri"/>
              </a:rPr>
              <a:t>+5.8pp</a:t>
            </a:r>
          </a:p>
        </p:txBody>
      </p:sp>
      <p:sp>
        <p:nvSpPr>
          <p:cNvPr id="27" name="TextBox 26"/>
          <p:cNvSpPr txBox="1"/>
          <p:nvPr/>
        </p:nvSpPr>
        <p:spPr>
          <a:xfrm>
            <a:off x="9326880" y="5029200"/>
            <a:ext cx="2468880" cy="411480"/>
          </a:xfrm>
          <a:prstGeom prst="rect">
            <a:avLst/>
          </a:prstGeom>
          <a:noFill/>
        </p:spPr>
        <p:txBody>
          <a:bodyPr wrap="square">
            <a:spAutoFit/>
          </a:bodyPr>
          <a:lstStyle/>
          <a:p>
            <a:pPr algn="l"/>
            <a:r>
              <a:rPr sz="1100" b="0" i="0">
                <a:solidFill>
                  <a:srgbClr val="1A1612"/>
                </a:solidFill>
                <a:latin typeface="Calibri"/>
              </a:rPr>
              <a:t>obesidad varones 2006→2022</a:t>
            </a:r>
          </a:p>
        </p:txBody>
      </p:sp>
      <p:sp>
        <p:nvSpPr>
          <p:cNvPr id="28" name="TextBox 27"/>
          <p:cNvSpPr txBox="1"/>
          <p:nvPr/>
        </p:nvSpPr>
        <p:spPr>
          <a:xfrm>
            <a:off x="9326880" y="5440680"/>
            <a:ext cx="2468880" cy="274320"/>
          </a:xfrm>
          <a:prstGeom prst="rect">
            <a:avLst/>
          </a:prstGeom>
          <a:noFill/>
        </p:spPr>
        <p:txBody>
          <a:bodyPr wrap="square">
            <a:spAutoFit/>
          </a:bodyPr>
          <a:lstStyle/>
          <a:p>
            <a:pPr algn="l"/>
            <a:r>
              <a:rPr sz="800" b="0" i="0">
                <a:solidFill>
                  <a:srgbClr val="7A7368"/>
                </a:solidFill>
                <a:latin typeface="Consolas"/>
              </a:rPr>
              <a:t>ENSANUT Continua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  PRIMER INTENTO  ·  REGRESIÓN LINEAL SIMPLE</a:t>
            </a:r>
          </a:p>
        </p:txBody>
      </p:sp>
      <p:sp>
        <p:nvSpPr>
          <p:cNvPr id="4" name="TextBox 3"/>
          <p:cNvSpPr txBox="1"/>
          <p:nvPr/>
        </p:nvSpPr>
        <p:spPr>
          <a:xfrm>
            <a:off x="548640" y="640080"/>
            <a:ext cx="10972800" cy="411480"/>
          </a:xfrm>
          <a:prstGeom prst="rect">
            <a:avLst/>
          </a:prstGeom>
          <a:noFill/>
        </p:spPr>
        <p:txBody>
          <a:bodyPr wrap="square">
            <a:spAutoFit/>
          </a:bodyPr>
          <a:lstStyle/>
          <a:p>
            <a:pPr algn="l"/>
            <a:r>
              <a:rPr sz="2400" b="1" i="0">
                <a:solidFill>
                  <a:srgbClr val="1A1612"/>
                </a:solidFill>
                <a:latin typeface="Calibri"/>
              </a:rPr>
              <a:t>Empezamos con lo más básico. Y no fue suficiente.</a:t>
            </a:r>
          </a:p>
        </p:txBody>
      </p:sp>
      <p:sp>
        <p:nvSpPr>
          <p:cNvPr id="5" name="TextBox 4"/>
          <p:cNvSpPr txBox="1"/>
          <p:nvPr/>
        </p:nvSpPr>
        <p:spPr>
          <a:xfrm>
            <a:off x="548640" y="1097280"/>
            <a:ext cx="10972800" cy="320040"/>
          </a:xfrm>
          <a:prstGeom prst="rect">
            <a:avLst/>
          </a:prstGeom>
          <a:noFill/>
        </p:spPr>
        <p:txBody>
          <a:bodyPr wrap="square">
            <a:spAutoFit/>
          </a:bodyPr>
          <a:lstStyle/>
          <a:p>
            <a:pPr algn="l"/>
            <a:r>
              <a:rPr sz="1200" b="0" i="0">
                <a:solidFill>
                  <a:srgbClr val="7A7368"/>
                </a:solidFill>
                <a:latin typeface="Calibri"/>
              </a:rPr>
              <a:t>Hipótesis inicial: más tienditas por habitante → más obesidad. Lo probamos con OLS simple a nivel estatal (n=32).</a:t>
            </a:r>
          </a:p>
        </p:txBody>
      </p:sp>
      <p:sp>
        <p:nvSpPr>
          <p:cNvPr id="6" name="Rectangle 5"/>
          <p:cNvSpPr/>
          <p:nvPr/>
        </p:nvSpPr>
        <p:spPr>
          <a:xfrm>
            <a:off x="457200" y="1691640"/>
            <a:ext cx="5486400" cy="40233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5120640" cy="274320"/>
          </a:xfrm>
          <a:prstGeom prst="rect">
            <a:avLst/>
          </a:prstGeom>
          <a:noFill/>
        </p:spPr>
        <p:txBody>
          <a:bodyPr wrap="square">
            <a:spAutoFit/>
          </a:bodyPr>
          <a:lstStyle/>
          <a:p>
            <a:pPr algn="l"/>
            <a:r>
              <a:rPr sz="900" b="0" i="0">
                <a:solidFill>
                  <a:srgbClr val="B8862A"/>
                </a:solidFill>
                <a:latin typeface="Consolas"/>
              </a:rPr>
              <a:t>MODELO M1 — OLS BIVARIADO</a:t>
            </a:r>
          </a:p>
        </p:txBody>
      </p:sp>
      <p:sp>
        <p:nvSpPr>
          <p:cNvPr id="8" name="TextBox 7"/>
          <p:cNvSpPr txBox="1"/>
          <p:nvPr/>
        </p:nvSpPr>
        <p:spPr>
          <a:xfrm>
            <a:off x="640080" y="2103120"/>
            <a:ext cx="5120640" cy="365760"/>
          </a:xfrm>
          <a:prstGeom prst="rect">
            <a:avLst/>
          </a:prstGeom>
          <a:noFill/>
        </p:spPr>
        <p:txBody>
          <a:bodyPr wrap="square">
            <a:spAutoFit/>
          </a:bodyPr>
          <a:lstStyle/>
          <a:p>
            <a:pPr algn="l"/>
            <a:r>
              <a:rPr sz="1200" b="0" i="1">
                <a:solidFill>
                  <a:srgbClr val="C8BEB0"/>
                </a:solidFill>
                <a:latin typeface="Consolas"/>
              </a:rPr>
              <a:t>obesidad ~ densidad_tienditas</a:t>
            </a:r>
          </a:p>
        </p:txBody>
      </p:sp>
      <p:sp>
        <p:nvSpPr>
          <p:cNvPr id="9" name="TextBox 8"/>
          <p:cNvSpPr txBox="1"/>
          <p:nvPr/>
        </p:nvSpPr>
        <p:spPr>
          <a:xfrm>
            <a:off x="640080" y="2743200"/>
            <a:ext cx="5120640" cy="365760"/>
          </a:xfrm>
          <a:prstGeom prst="rect">
            <a:avLst/>
          </a:prstGeom>
          <a:noFill/>
        </p:spPr>
        <p:txBody>
          <a:bodyPr wrap="square">
            <a:spAutoFit/>
          </a:bodyPr>
          <a:lstStyle/>
          <a:p>
            <a:pPr algn="l"/>
            <a:r>
              <a:rPr sz="2600" b="1" i="0">
                <a:solidFill>
                  <a:srgbClr val="7A7368"/>
                </a:solidFill>
                <a:latin typeface="Calibri"/>
              </a:rPr>
              <a:t>β  =  −0.30</a:t>
            </a:r>
          </a:p>
        </p:txBody>
      </p:sp>
      <p:sp>
        <p:nvSpPr>
          <p:cNvPr id="10" name="TextBox 9"/>
          <p:cNvSpPr txBox="1"/>
          <p:nvPr/>
        </p:nvSpPr>
        <p:spPr>
          <a:xfrm>
            <a:off x="640080" y="3246120"/>
            <a:ext cx="5120640" cy="320040"/>
          </a:xfrm>
          <a:prstGeom prst="rect">
            <a:avLst/>
          </a:prstGeom>
          <a:noFill/>
        </p:spPr>
        <p:txBody>
          <a:bodyPr wrap="square">
            <a:spAutoFit/>
          </a:bodyPr>
          <a:lstStyle/>
          <a:p>
            <a:pPr algn="l"/>
            <a:r>
              <a:rPr sz="1200" b="1" i="0">
                <a:solidFill>
                  <a:srgbClr val="B8332A"/>
                </a:solidFill>
                <a:latin typeface="Calibri"/>
              </a:rPr>
              <a:t>p = 0.162  ·  No significativo</a:t>
            </a:r>
          </a:p>
        </p:txBody>
      </p:sp>
      <p:sp>
        <p:nvSpPr>
          <p:cNvPr id="11" name="TextBox 10"/>
          <p:cNvSpPr txBox="1"/>
          <p:nvPr/>
        </p:nvSpPr>
        <p:spPr>
          <a:xfrm>
            <a:off x="640080" y="3657600"/>
            <a:ext cx="5120640" cy="320040"/>
          </a:xfrm>
          <a:prstGeom prst="rect">
            <a:avLst/>
          </a:prstGeom>
          <a:noFill/>
        </p:spPr>
        <p:txBody>
          <a:bodyPr wrap="square">
            <a:spAutoFit/>
          </a:bodyPr>
          <a:lstStyle/>
          <a:p>
            <a:pPr algn="l"/>
            <a:r>
              <a:rPr sz="1800" b="1" i="0">
                <a:solidFill>
                  <a:srgbClr val="7A7368"/>
                </a:solidFill>
                <a:latin typeface="Calibri"/>
              </a:rPr>
              <a:t>R²  =  0.064</a:t>
            </a:r>
          </a:p>
        </p:txBody>
      </p:sp>
      <p:sp>
        <p:nvSpPr>
          <p:cNvPr id="12" name="TextBox 11"/>
          <p:cNvSpPr txBox="1"/>
          <p:nvPr/>
        </p:nvSpPr>
        <p:spPr>
          <a:xfrm>
            <a:off x="640080" y="4114800"/>
            <a:ext cx="5120640" cy="320040"/>
          </a:xfrm>
          <a:prstGeom prst="rect">
            <a:avLst/>
          </a:prstGeom>
          <a:noFill/>
        </p:spPr>
        <p:txBody>
          <a:bodyPr wrap="square">
            <a:spAutoFit/>
          </a:bodyPr>
          <a:lstStyle/>
          <a:p>
            <a:pPr algn="l"/>
            <a:r>
              <a:rPr sz="1100" b="0" i="0">
                <a:solidFill>
                  <a:srgbClr val="C8BEB0"/>
                </a:solidFill>
                <a:latin typeface="Calibri"/>
              </a:rPr>
              <a:t>Solo 6% de varianza explicada</a:t>
            </a:r>
          </a:p>
        </p:txBody>
      </p:sp>
      <p:sp>
        <p:nvSpPr>
          <p:cNvPr id="13" name="Rectangle 12"/>
          <p:cNvSpPr/>
          <p:nvPr/>
        </p:nvSpPr>
        <p:spPr>
          <a:xfrm>
            <a:off x="640080" y="4709160"/>
            <a:ext cx="5120640" cy="914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773168"/>
            <a:ext cx="4846320" cy="274320"/>
          </a:xfrm>
          <a:prstGeom prst="rect">
            <a:avLst/>
          </a:prstGeom>
          <a:noFill/>
        </p:spPr>
        <p:txBody>
          <a:bodyPr wrap="square">
            <a:spAutoFit/>
          </a:bodyPr>
          <a:lstStyle/>
          <a:p>
            <a:pPr algn="l"/>
            <a:r>
              <a:rPr sz="900" b="0" i="0">
                <a:solidFill>
                  <a:srgbClr val="FDF8F1"/>
                </a:solidFill>
                <a:latin typeface="Consolas"/>
              </a:rPr>
              <a:t>DIAGNÓSTICO</a:t>
            </a:r>
          </a:p>
        </p:txBody>
      </p:sp>
      <p:sp>
        <p:nvSpPr>
          <p:cNvPr id="15" name="TextBox 14"/>
          <p:cNvSpPr txBox="1"/>
          <p:nvPr/>
        </p:nvSpPr>
        <p:spPr>
          <a:xfrm>
            <a:off x="777240" y="5029200"/>
            <a:ext cx="4846320" cy="548640"/>
          </a:xfrm>
          <a:prstGeom prst="rect">
            <a:avLst/>
          </a:prstGeom>
          <a:noFill/>
        </p:spPr>
        <p:txBody>
          <a:bodyPr wrap="square">
            <a:spAutoFit/>
          </a:bodyPr>
          <a:lstStyle/>
          <a:p>
            <a:pPr algn="l"/>
            <a:r>
              <a:rPr sz="1600" b="1" i="0">
                <a:solidFill>
                  <a:srgbClr val="FDF8F1"/>
                </a:solidFill>
                <a:latin typeface="Calibri"/>
              </a:rPr>
              <a:t>El modelo es básico y horrible.</a:t>
            </a:r>
          </a:p>
        </p:txBody>
      </p:sp>
      <p:sp>
        <p:nvSpPr>
          <p:cNvPr id="16" name="Rectangle 15"/>
          <p:cNvSpPr/>
          <p:nvPr/>
        </p:nvSpPr>
        <p:spPr>
          <a:xfrm>
            <a:off x="6217920" y="1691640"/>
            <a:ext cx="5577840" cy="402336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83080"/>
            <a:ext cx="5212080" cy="274320"/>
          </a:xfrm>
          <a:prstGeom prst="rect">
            <a:avLst/>
          </a:prstGeom>
          <a:noFill/>
        </p:spPr>
        <p:txBody>
          <a:bodyPr wrap="square">
            <a:spAutoFit/>
          </a:bodyPr>
          <a:lstStyle/>
          <a:p>
            <a:pPr algn="l"/>
            <a:r>
              <a:rPr sz="900" b="0" i="0">
                <a:solidFill>
                  <a:srgbClr val="B8332A"/>
                </a:solidFill>
                <a:latin typeface="Consolas"/>
              </a:rPr>
              <a:t>¿POR QUÉ FALLÓ?</a:t>
            </a:r>
          </a:p>
        </p:txBody>
      </p:sp>
      <p:sp>
        <p:nvSpPr>
          <p:cNvPr id="18" name="TextBox 17"/>
          <p:cNvSpPr txBox="1"/>
          <p:nvPr/>
        </p:nvSpPr>
        <p:spPr>
          <a:xfrm>
            <a:off x="6400800" y="2194560"/>
            <a:ext cx="5212080" cy="731520"/>
          </a:xfrm>
          <a:prstGeom prst="rect">
            <a:avLst/>
          </a:prstGeom>
          <a:noFill/>
        </p:spPr>
        <p:txBody>
          <a:bodyPr wrap="square">
            <a:spAutoFit/>
          </a:bodyPr>
          <a:lstStyle/>
          <a:p>
            <a:pPr algn="l"/>
            <a:r>
              <a:rPr sz="1100" b="0" i="0">
                <a:solidFill>
                  <a:srgbClr val="1A1612"/>
                </a:solidFill>
                <a:latin typeface="Calibri"/>
              </a:rPr>
              <a:t>→  Una sola variable no captura un fenómeno multifactorial.</a:t>
            </a:r>
          </a:p>
        </p:txBody>
      </p:sp>
      <p:sp>
        <p:nvSpPr>
          <p:cNvPr id="19" name="TextBox 18"/>
          <p:cNvSpPr txBox="1"/>
          <p:nvPr/>
        </p:nvSpPr>
        <p:spPr>
          <a:xfrm>
            <a:off x="6400800" y="2971800"/>
            <a:ext cx="5212080" cy="731520"/>
          </a:xfrm>
          <a:prstGeom prst="rect">
            <a:avLst/>
          </a:prstGeom>
          <a:noFill/>
        </p:spPr>
        <p:txBody>
          <a:bodyPr wrap="square">
            <a:spAutoFit/>
          </a:bodyPr>
          <a:lstStyle/>
          <a:p>
            <a:pPr algn="l"/>
            <a:r>
              <a:rPr sz="1100" b="0" i="0">
                <a:solidFill>
                  <a:srgbClr val="1A1612"/>
                </a:solidFill>
                <a:latin typeface="Calibri"/>
              </a:rPr>
              <a:t>→  Los estados con más tienditas (Guerrero, Oaxaca, Chiapas) son también los más marginados — y eso enmascara el efecto real.</a:t>
            </a:r>
          </a:p>
        </p:txBody>
      </p:sp>
      <p:sp>
        <p:nvSpPr>
          <p:cNvPr id="20" name="TextBox 19"/>
          <p:cNvSpPr txBox="1"/>
          <p:nvPr/>
        </p:nvSpPr>
        <p:spPr>
          <a:xfrm>
            <a:off x="6400800" y="3749039"/>
            <a:ext cx="5212080" cy="731520"/>
          </a:xfrm>
          <a:prstGeom prst="rect">
            <a:avLst/>
          </a:prstGeom>
          <a:noFill/>
        </p:spPr>
        <p:txBody>
          <a:bodyPr wrap="square">
            <a:spAutoFit/>
          </a:bodyPr>
          <a:lstStyle/>
          <a:p>
            <a:pPr algn="l"/>
            <a:r>
              <a:rPr sz="1100" b="0" i="0">
                <a:solidFill>
                  <a:srgbClr val="1A1612"/>
                </a:solidFill>
                <a:latin typeface="Calibri"/>
              </a:rPr>
              <a:t>→  OLS bivariado no controla por urbanización, ingreso, ni acceso real a comida.</a:t>
            </a:r>
          </a:p>
        </p:txBody>
      </p:sp>
      <p:sp>
        <p:nvSpPr>
          <p:cNvPr id="21" name="TextBox 20"/>
          <p:cNvSpPr txBox="1"/>
          <p:nvPr/>
        </p:nvSpPr>
        <p:spPr>
          <a:xfrm>
            <a:off x="6400800" y="4526279"/>
            <a:ext cx="5212080" cy="731520"/>
          </a:xfrm>
          <a:prstGeom prst="rect">
            <a:avLst/>
          </a:prstGeom>
          <a:noFill/>
        </p:spPr>
        <p:txBody>
          <a:bodyPr wrap="square">
            <a:spAutoFit/>
          </a:bodyPr>
          <a:lstStyle/>
          <a:p>
            <a:pPr algn="l"/>
            <a:r>
              <a:rPr sz="1100" b="0" i="0">
                <a:solidFill>
                  <a:srgbClr val="1A1612"/>
                </a:solidFill>
                <a:latin typeface="Calibri"/>
              </a:rPr>
              <a:t>→  No teníamos datos conductuales — solo geografía de comercios.</a:t>
            </a:r>
          </a:p>
        </p:txBody>
      </p:sp>
      <p:sp>
        <p:nvSpPr>
          <p:cNvPr id="22" name="Rectangle 21"/>
          <p:cNvSpPr/>
          <p:nvPr/>
        </p:nvSpPr>
        <p:spPr>
          <a:xfrm>
            <a:off x="457200" y="5852160"/>
            <a:ext cx="11338560" cy="411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25312"/>
            <a:ext cx="10972800" cy="274320"/>
          </a:xfrm>
          <a:prstGeom prst="rect">
            <a:avLst/>
          </a:prstGeom>
          <a:noFill/>
        </p:spPr>
        <p:txBody>
          <a:bodyPr wrap="square">
            <a:spAutoFit/>
          </a:bodyPr>
          <a:lstStyle/>
          <a:p>
            <a:pPr algn="l"/>
            <a:r>
              <a:rPr sz="1100" b="0" i="0">
                <a:solidFill>
                  <a:srgbClr val="B8862A"/>
                </a:solidFill>
                <a:latin typeface="Consolas"/>
              </a:rPr>
              <a:t>DECISIÓN  →  Si una variable no alcanza, traigamos más. Y si el modelo no ve causas, salgamos a preguntar.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  LA EXPANSIÓN  ·  6 DATASETS OFICIALES</a:t>
            </a:r>
          </a:p>
        </p:txBody>
      </p:sp>
      <p:sp>
        <p:nvSpPr>
          <p:cNvPr id="4" name="TextBox 3"/>
          <p:cNvSpPr txBox="1"/>
          <p:nvPr/>
        </p:nvSpPr>
        <p:spPr>
          <a:xfrm>
            <a:off x="548640" y="640080"/>
            <a:ext cx="10972800" cy="411480"/>
          </a:xfrm>
          <a:prstGeom prst="rect">
            <a:avLst/>
          </a:prstGeom>
          <a:noFill/>
        </p:spPr>
        <p:txBody>
          <a:bodyPr wrap="square">
            <a:spAutoFit/>
          </a:bodyPr>
          <a:lstStyle/>
          <a:p>
            <a:pPr algn="l"/>
            <a:r>
              <a:rPr sz="2400" b="1" i="0">
                <a:solidFill>
                  <a:srgbClr val="1A1612"/>
                </a:solidFill>
                <a:latin typeface="Calibri"/>
              </a:rPr>
              <a:t>Trajimos los datos oficiales que sí nos faltaban.</a:t>
            </a:r>
          </a:p>
        </p:txBody>
      </p:sp>
      <p:sp>
        <p:nvSpPr>
          <p:cNvPr id="5" name="TextBox 4"/>
          <p:cNvSpPr txBox="1"/>
          <p:nvPr/>
        </p:nvSpPr>
        <p:spPr>
          <a:xfrm>
            <a:off x="548640" y="1097280"/>
            <a:ext cx="10972800" cy="292608"/>
          </a:xfrm>
          <a:prstGeom prst="rect">
            <a:avLst/>
          </a:prstGeom>
          <a:noFill/>
        </p:spPr>
        <p:txBody>
          <a:bodyPr wrap="square">
            <a:spAutoFit/>
          </a:bodyPr>
          <a:lstStyle/>
          <a:p>
            <a:pPr algn="l"/>
            <a:r>
              <a:rPr sz="1000" b="0" i="0">
                <a:solidFill>
                  <a:srgbClr val="B8862A"/>
                </a:solidFill>
                <a:latin typeface="Consolas"/>
              </a:rPr>
              <a:t>INEGI DENUE 2024  ·  ENSANUT Continua 2020–2024  ·  ENIGH 2022  ·  CONAPO 2020  ·  Anuarios de Morbilidad  ·  SEP Plan 2022</a:t>
            </a:r>
          </a:p>
        </p:txBody>
      </p:sp>
      <p:sp>
        <p:nvSpPr>
          <p:cNvPr id="6" name="Rectangle 5"/>
          <p:cNvSpPr/>
          <p:nvPr/>
        </p:nvSpPr>
        <p:spPr>
          <a:xfrm>
            <a:off x="457200" y="1600200"/>
            <a:ext cx="5577840" cy="41148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91640"/>
            <a:ext cx="5212080" cy="274320"/>
          </a:xfrm>
          <a:prstGeom prst="rect">
            <a:avLst/>
          </a:prstGeom>
          <a:noFill/>
        </p:spPr>
        <p:txBody>
          <a:bodyPr wrap="square">
            <a:spAutoFit/>
          </a:bodyPr>
          <a:lstStyle/>
          <a:p>
            <a:pPr algn="l"/>
            <a:r>
              <a:rPr sz="900" b="0" i="0">
                <a:solidFill>
                  <a:srgbClr val="B8862A"/>
                </a:solidFill>
                <a:latin typeface="Consolas"/>
              </a:rPr>
              <a:t>MODELO M2 — OLS CONTROLADO</a:t>
            </a:r>
          </a:p>
        </p:txBody>
      </p:sp>
      <p:sp>
        <p:nvSpPr>
          <p:cNvPr id="8" name="TextBox 7"/>
          <p:cNvSpPr txBox="1"/>
          <p:nvPr/>
        </p:nvSpPr>
        <p:spPr>
          <a:xfrm>
            <a:off x="640080" y="1993392"/>
            <a:ext cx="5212080" cy="320040"/>
          </a:xfrm>
          <a:prstGeom prst="rect">
            <a:avLst/>
          </a:prstGeom>
          <a:noFill/>
        </p:spPr>
        <p:txBody>
          <a:bodyPr wrap="square">
            <a:spAutoFit/>
          </a:bodyPr>
          <a:lstStyle/>
          <a:p>
            <a:pPr algn="l"/>
            <a:r>
              <a:rPr sz="1100" b="0" i="1">
                <a:solidFill>
                  <a:srgbClr val="C8BEB0"/>
                </a:solidFill>
                <a:latin typeface="Calibri"/>
              </a:rPr>
              <a:t>+ marginación  + urbanización</a:t>
            </a:r>
          </a:p>
        </p:txBody>
      </p:sp>
      <p:sp>
        <p:nvSpPr>
          <p:cNvPr id="9" name="TextBox 8"/>
          <p:cNvSpPr txBox="1"/>
          <p:nvPr/>
        </p:nvSpPr>
        <p:spPr>
          <a:xfrm>
            <a:off x="640080" y="2514600"/>
            <a:ext cx="5212080" cy="365760"/>
          </a:xfrm>
          <a:prstGeom prst="rect">
            <a:avLst/>
          </a:prstGeom>
          <a:noFill/>
        </p:spPr>
        <p:txBody>
          <a:bodyPr wrap="square">
            <a:spAutoFit/>
          </a:bodyPr>
          <a:lstStyle/>
          <a:p>
            <a:pPr algn="l"/>
            <a:r>
              <a:rPr sz="2600" b="1" i="0">
                <a:solidFill>
                  <a:srgbClr val="B8332A"/>
                </a:solidFill>
                <a:latin typeface="Calibri"/>
              </a:rPr>
              <a:t>β  =  +0.99</a:t>
            </a:r>
          </a:p>
        </p:txBody>
      </p:sp>
      <p:sp>
        <p:nvSpPr>
          <p:cNvPr id="10" name="TextBox 9"/>
          <p:cNvSpPr txBox="1"/>
          <p:nvPr/>
        </p:nvSpPr>
        <p:spPr>
          <a:xfrm>
            <a:off x="640080" y="3017520"/>
            <a:ext cx="5212080" cy="292608"/>
          </a:xfrm>
          <a:prstGeom prst="rect">
            <a:avLst/>
          </a:prstGeom>
          <a:noFill/>
        </p:spPr>
        <p:txBody>
          <a:bodyPr wrap="square">
            <a:spAutoFit/>
          </a:bodyPr>
          <a:lstStyle/>
          <a:p>
            <a:pPr algn="l"/>
            <a:r>
              <a:rPr sz="1200" b="1" i="0">
                <a:solidFill>
                  <a:srgbClr val="FDF8F1"/>
                </a:solidFill>
                <a:latin typeface="Calibri"/>
              </a:rPr>
              <a:t>p &lt; 0.001  ✓  significativo</a:t>
            </a:r>
          </a:p>
        </p:txBody>
      </p:sp>
      <p:sp>
        <p:nvSpPr>
          <p:cNvPr id="11" name="TextBox 10"/>
          <p:cNvSpPr txBox="1"/>
          <p:nvPr/>
        </p:nvSpPr>
        <p:spPr>
          <a:xfrm>
            <a:off x="640080" y="3383280"/>
            <a:ext cx="5212080" cy="320040"/>
          </a:xfrm>
          <a:prstGeom prst="rect">
            <a:avLst/>
          </a:prstGeom>
          <a:noFill/>
        </p:spPr>
        <p:txBody>
          <a:bodyPr wrap="square">
            <a:spAutoFit/>
          </a:bodyPr>
          <a:lstStyle/>
          <a:p>
            <a:pPr algn="l"/>
            <a:r>
              <a:rPr sz="1800" b="1" i="0">
                <a:solidFill>
                  <a:srgbClr val="FDF8F1"/>
                </a:solidFill>
                <a:latin typeface="Calibri"/>
              </a:rPr>
              <a:t>R²  =  0.634   (adj. 0.595)</a:t>
            </a:r>
          </a:p>
        </p:txBody>
      </p:sp>
      <p:sp>
        <p:nvSpPr>
          <p:cNvPr id="12" name="TextBox 11"/>
          <p:cNvSpPr txBox="1"/>
          <p:nvPr/>
        </p:nvSpPr>
        <p:spPr>
          <a:xfrm>
            <a:off x="640080" y="3794760"/>
            <a:ext cx="5212080" cy="274320"/>
          </a:xfrm>
          <a:prstGeom prst="rect">
            <a:avLst/>
          </a:prstGeom>
          <a:noFill/>
        </p:spPr>
        <p:txBody>
          <a:bodyPr wrap="square">
            <a:spAutoFit/>
          </a:bodyPr>
          <a:lstStyle/>
          <a:p>
            <a:pPr algn="l"/>
            <a:r>
              <a:rPr sz="1000" b="0" i="1">
                <a:solidFill>
                  <a:srgbClr val="B8862A"/>
                </a:solidFill>
                <a:latin typeface="Calibri"/>
              </a:rPr>
              <a:t>10× la varianza explicada del M1.</a:t>
            </a:r>
          </a:p>
        </p:txBody>
      </p:sp>
      <p:sp>
        <p:nvSpPr>
          <p:cNvPr id="13" name="Rectangle 12"/>
          <p:cNvSpPr/>
          <p:nvPr/>
        </p:nvSpPr>
        <p:spPr>
          <a:xfrm>
            <a:off x="640080" y="4297680"/>
            <a:ext cx="5212080" cy="1325880"/>
          </a:xfrm>
          <a:prstGeom prst="rect">
            <a:avLst/>
          </a:prstGeom>
          <a:solidFill>
            <a:srgbClr val="1F1A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370832"/>
            <a:ext cx="5029200" cy="228600"/>
          </a:xfrm>
          <a:prstGeom prst="rect">
            <a:avLst/>
          </a:prstGeom>
          <a:noFill/>
        </p:spPr>
        <p:txBody>
          <a:bodyPr wrap="square">
            <a:spAutoFit/>
          </a:bodyPr>
          <a:lstStyle/>
          <a:p>
            <a:pPr algn="l"/>
            <a:r>
              <a:rPr sz="900" b="0" i="0">
                <a:solidFill>
                  <a:srgbClr val="B8862A"/>
                </a:solidFill>
                <a:latin typeface="Consolas"/>
              </a:rPr>
              <a:t>EL HALLAZGO</a:t>
            </a:r>
          </a:p>
        </p:txBody>
      </p:sp>
      <p:sp>
        <p:nvSpPr>
          <p:cNvPr id="15" name="TextBox 14"/>
          <p:cNvSpPr txBox="1"/>
          <p:nvPr/>
        </p:nvSpPr>
        <p:spPr>
          <a:xfrm>
            <a:off x="777240" y="4617720"/>
            <a:ext cx="5029200" cy="960120"/>
          </a:xfrm>
          <a:prstGeom prst="rect">
            <a:avLst/>
          </a:prstGeom>
          <a:noFill/>
        </p:spPr>
        <p:txBody>
          <a:bodyPr wrap="square">
            <a:spAutoFit/>
          </a:bodyPr>
          <a:lstStyle/>
          <a:p>
            <a:pPr algn="l"/>
            <a:r>
              <a:rPr sz="1100" b="0" i="0">
                <a:solidFill>
                  <a:srgbClr val="FDF8F1"/>
                </a:solidFill>
                <a:latin typeface="Calibri"/>
              </a:rPr>
              <a:t>El signo se invierte. Al controlar por marginación, las tienditas SÍ correlacionan positivamente con la obesidad — el efecto estaba enmascarado por la pobreza rural.</a:t>
            </a:r>
          </a:p>
        </p:txBody>
      </p:sp>
      <p:sp>
        <p:nvSpPr>
          <p:cNvPr id="16" name="Rectangle 15"/>
          <p:cNvSpPr/>
          <p:nvPr/>
        </p:nvSpPr>
        <p:spPr>
          <a:xfrm>
            <a:off x="6126480" y="1600200"/>
            <a:ext cx="5669280" cy="41148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691640"/>
            <a:ext cx="5303520" cy="274320"/>
          </a:xfrm>
          <a:prstGeom prst="rect">
            <a:avLst/>
          </a:prstGeom>
          <a:noFill/>
        </p:spPr>
        <p:txBody>
          <a:bodyPr wrap="square">
            <a:spAutoFit/>
          </a:bodyPr>
          <a:lstStyle/>
          <a:p>
            <a:pPr algn="l"/>
            <a:r>
              <a:rPr sz="900" b="0" i="0">
                <a:solidFill>
                  <a:srgbClr val="FDF8F1"/>
                </a:solidFill>
                <a:latin typeface="Consolas"/>
              </a:rPr>
              <a:t>RANDOM FOREST  ·  8 VARIABLES</a:t>
            </a:r>
          </a:p>
        </p:txBody>
      </p:sp>
      <p:sp>
        <p:nvSpPr>
          <p:cNvPr id="18" name="TextBox 17"/>
          <p:cNvSpPr txBox="1"/>
          <p:nvPr/>
        </p:nvSpPr>
        <p:spPr>
          <a:xfrm>
            <a:off x="6309360" y="1993392"/>
            <a:ext cx="5303520" cy="320040"/>
          </a:xfrm>
          <a:prstGeom prst="rect">
            <a:avLst/>
          </a:prstGeom>
          <a:noFill/>
        </p:spPr>
        <p:txBody>
          <a:bodyPr wrap="square">
            <a:spAutoFit/>
          </a:bodyPr>
          <a:lstStyle/>
          <a:p>
            <a:pPr algn="l"/>
            <a:r>
              <a:rPr sz="900" b="0" i="1">
                <a:solidFill>
                  <a:srgbClr val="C8BEB0"/>
                </a:solidFill>
                <a:latin typeface="Calibri"/>
              </a:rPr>
              <a:t>DENUE + ENSANUT (act. física, F&amp;V, refrescos, gasto) + CONAPO + diabetes T2</a:t>
            </a:r>
          </a:p>
        </p:txBody>
      </p:sp>
      <p:sp>
        <p:nvSpPr>
          <p:cNvPr id="19" name="TextBox 18"/>
          <p:cNvSpPr txBox="1"/>
          <p:nvPr/>
        </p:nvSpPr>
        <p:spPr>
          <a:xfrm>
            <a:off x="6309360" y="2514600"/>
            <a:ext cx="5303520" cy="365760"/>
          </a:xfrm>
          <a:prstGeom prst="rect">
            <a:avLst/>
          </a:prstGeom>
          <a:noFill/>
        </p:spPr>
        <p:txBody>
          <a:bodyPr wrap="square">
            <a:spAutoFit/>
          </a:bodyPr>
          <a:lstStyle/>
          <a:p>
            <a:pPr algn="l"/>
            <a:r>
              <a:rPr sz="2600" b="1" i="0">
                <a:solidFill>
                  <a:srgbClr val="FDF8F1"/>
                </a:solidFill>
                <a:latin typeface="Calibri"/>
              </a:rPr>
              <a:t>R²  =  0.929</a:t>
            </a:r>
          </a:p>
        </p:txBody>
      </p:sp>
      <p:sp>
        <p:nvSpPr>
          <p:cNvPr id="20" name="TextBox 19"/>
          <p:cNvSpPr txBox="1"/>
          <p:nvPr/>
        </p:nvSpPr>
        <p:spPr>
          <a:xfrm>
            <a:off x="6309360" y="3017520"/>
            <a:ext cx="5303520" cy="292608"/>
          </a:xfrm>
          <a:prstGeom prst="rect">
            <a:avLst/>
          </a:prstGeom>
          <a:noFill/>
        </p:spPr>
        <p:txBody>
          <a:bodyPr wrap="square">
            <a:spAutoFit/>
          </a:bodyPr>
          <a:lstStyle/>
          <a:p>
            <a:pPr algn="l"/>
            <a:r>
              <a:rPr sz="1100" b="0" i="0">
                <a:solidFill>
                  <a:srgbClr val="C8BEB0"/>
                </a:solidFill>
                <a:latin typeface="Calibri"/>
              </a:rPr>
              <a:t>500 árboles  ·  importancia por permutación</a:t>
            </a:r>
          </a:p>
        </p:txBody>
      </p:sp>
      <p:sp>
        <p:nvSpPr>
          <p:cNvPr id="21" name="Rectangle 20"/>
          <p:cNvSpPr/>
          <p:nvPr/>
        </p:nvSpPr>
        <p:spPr>
          <a:xfrm>
            <a:off x="6309360" y="3474720"/>
            <a:ext cx="5303520" cy="2148840"/>
          </a:xfrm>
          <a:prstGeom prst="rect">
            <a:avLst/>
          </a:prstGeom>
          <a:solidFill>
            <a:srgbClr val="8B26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547872"/>
            <a:ext cx="5029200" cy="228600"/>
          </a:xfrm>
          <a:prstGeom prst="rect">
            <a:avLst/>
          </a:prstGeom>
          <a:noFill/>
        </p:spPr>
        <p:txBody>
          <a:bodyPr wrap="square">
            <a:spAutoFit/>
          </a:bodyPr>
          <a:lstStyle/>
          <a:p>
            <a:pPr algn="l"/>
            <a:r>
              <a:rPr sz="900" b="0" i="0">
                <a:solidFill>
                  <a:srgbClr val="B8862A"/>
                </a:solidFill>
                <a:latin typeface="Consolas"/>
              </a:rPr>
              <a:t>TOP PREDICTORES (importancia)</a:t>
            </a:r>
          </a:p>
        </p:txBody>
      </p:sp>
      <p:sp>
        <p:nvSpPr>
          <p:cNvPr id="23" name="TextBox 22"/>
          <p:cNvSpPr txBox="1"/>
          <p:nvPr/>
        </p:nvSpPr>
        <p:spPr>
          <a:xfrm>
            <a:off x="6446520" y="3822191"/>
            <a:ext cx="365760" cy="365760"/>
          </a:xfrm>
          <a:prstGeom prst="rect">
            <a:avLst/>
          </a:prstGeom>
          <a:noFill/>
        </p:spPr>
        <p:txBody>
          <a:bodyPr wrap="square">
            <a:spAutoFit/>
          </a:bodyPr>
          <a:lstStyle/>
          <a:p>
            <a:pPr algn="l"/>
            <a:r>
              <a:rPr sz="1300" b="1" i="0">
                <a:solidFill>
                  <a:srgbClr val="B8862A"/>
                </a:solidFill>
                <a:latin typeface="Consolas"/>
              </a:rPr>
              <a:t>01</a:t>
            </a:r>
          </a:p>
        </p:txBody>
      </p:sp>
      <p:sp>
        <p:nvSpPr>
          <p:cNvPr id="24" name="TextBox 23"/>
          <p:cNvSpPr txBox="1"/>
          <p:nvPr/>
        </p:nvSpPr>
        <p:spPr>
          <a:xfrm>
            <a:off x="6949440" y="3822191"/>
            <a:ext cx="3200400" cy="365760"/>
          </a:xfrm>
          <a:prstGeom prst="rect">
            <a:avLst/>
          </a:prstGeom>
          <a:noFill/>
        </p:spPr>
        <p:txBody>
          <a:bodyPr wrap="square">
            <a:spAutoFit/>
          </a:bodyPr>
          <a:lstStyle/>
          <a:p>
            <a:pPr algn="l"/>
            <a:r>
              <a:rPr sz="1200" b="1" i="0">
                <a:solidFill>
                  <a:srgbClr val="B8862A"/>
                </a:solidFill>
                <a:latin typeface="Calibri"/>
              </a:rPr>
              <a:t>Actividad física</a:t>
            </a:r>
          </a:p>
        </p:txBody>
      </p:sp>
      <p:sp>
        <p:nvSpPr>
          <p:cNvPr id="25" name="TextBox 24"/>
          <p:cNvSpPr txBox="1"/>
          <p:nvPr/>
        </p:nvSpPr>
        <p:spPr>
          <a:xfrm>
            <a:off x="10058400" y="3822191"/>
            <a:ext cx="1371600" cy="365760"/>
          </a:xfrm>
          <a:prstGeom prst="rect">
            <a:avLst/>
          </a:prstGeom>
          <a:noFill/>
        </p:spPr>
        <p:txBody>
          <a:bodyPr wrap="square">
            <a:spAutoFit/>
          </a:bodyPr>
          <a:lstStyle/>
          <a:p>
            <a:pPr algn="l"/>
            <a:r>
              <a:rPr sz="1000" b="0" i="0">
                <a:solidFill>
                  <a:srgbClr val="C8BEB0"/>
                </a:solidFill>
                <a:latin typeface="Consolas"/>
              </a:rPr>
              <a:t>0.108</a:t>
            </a:r>
          </a:p>
        </p:txBody>
      </p:sp>
      <p:sp>
        <p:nvSpPr>
          <p:cNvPr id="26" name="TextBox 25"/>
          <p:cNvSpPr txBox="1"/>
          <p:nvPr/>
        </p:nvSpPr>
        <p:spPr>
          <a:xfrm>
            <a:off x="6446520" y="4233672"/>
            <a:ext cx="365760" cy="365760"/>
          </a:xfrm>
          <a:prstGeom prst="rect">
            <a:avLst/>
          </a:prstGeom>
          <a:noFill/>
        </p:spPr>
        <p:txBody>
          <a:bodyPr wrap="square">
            <a:spAutoFit/>
          </a:bodyPr>
          <a:lstStyle/>
          <a:p>
            <a:pPr algn="l"/>
            <a:r>
              <a:rPr sz="1300" b="1" i="0">
                <a:solidFill>
                  <a:srgbClr val="C8BEB0"/>
                </a:solidFill>
                <a:latin typeface="Consolas"/>
              </a:rPr>
              <a:t>02</a:t>
            </a:r>
          </a:p>
        </p:txBody>
      </p:sp>
      <p:sp>
        <p:nvSpPr>
          <p:cNvPr id="27" name="TextBox 26"/>
          <p:cNvSpPr txBox="1"/>
          <p:nvPr/>
        </p:nvSpPr>
        <p:spPr>
          <a:xfrm>
            <a:off x="6949440" y="4233672"/>
            <a:ext cx="3200400" cy="365760"/>
          </a:xfrm>
          <a:prstGeom prst="rect">
            <a:avLst/>
          </a:prstGeom>
          <a:noFill/>
        </p:spPr>
        <p:txBody>
          <a:bodyPr wrap="square">
            <a:spAutoFit/>
          </a:bodyPr>
          <a:lstStyle/>
          <a:p>
            <a:pPr algn="l"/>
            <a:r>
              <a:rPr sz="1200" b="0" i="0">
                <a:solidFill>
                  <a:srgbClr val="FDF8F1"/>
                </a:solidFill>
                <a:latin typeface="Calibri"/>
              </a:rPr>
              <a:t>Bebidas azucaradas</a:t>
            </a:r>
          </a:p>
        </p:txBody>
      </p:sp>
      <p:sp>
        <p:nvSpPr>
          <p:cNvPr id="28" name="TextBox 27"/>
          <p:cNvSpPr txBox="1"/>
          <p:nvPr/>
        </p:nvSpPr>
        <p:spPr>
          <a:xfrm>
            <a:off x="10058400" y="4233672"/>
            <a:ext cx="1371600" cy="365760"/>
          </a:xfrm>
          <a:prstGeom prst="rect">
            <a:avLst/>
          </a:prstGeom>
          <a:noFill/>
        </p:spPr>
        <p:txBody>
          <a:bodyPr wrap="square">
            <a:spAutoFit/>
          </a:bodyPr>
          <a:lstStyle/>
          <a:p>
            <a:pPr algn="l"/>
            <a:r>
              <a:rPr sz="1000" b="0" i="0">
                <a:solidFill>
                  <a:srgbClr val="C8BEB0"/>
                </a:solidFill>
                <a:latin typeface="Consolas"/>
              </a:rPr>
              <a:t>0.098</a:t>
            </a:r>
          </a:p>
        </p:txBody>
      </p:sp>
      <p:sp>
        <p:nvSpPr>
          <p:cNvPr id="29" name="TextBox 28"/>
          <p:cNvSpPr txBox="1"/>
          <p:nvPr/>
        </p:nvSpPr>
        <p:spPr>
          <a:xfrm>
            <a:off x="6446520" y="4645152"/>
            <a:ext cx="365760" cy="365760"/>
          </a:xfrm>
          <a:prstGeom prst="rect">
            <a:avLst/>
          </a:prstGeom>
          <a:noFill/>
        </p:spPr>
        <p:txBody>
          <a:bodyPr wrap="square">
            <a:spAutoFit/>
          </a:bodyPr>
          <a:lstStyle/>
          <a:p>
            <a:pPr algn="l"/>
            <a:r>
              <a:rPr sz="1300" b="1" i="0">
                <a:solidFill>
                  <a:srgbClr val="C8BEB0"/>
                </a:solidFill>
                <a:latin typeface="Consolas"/>
              </a:rPr>
              <a:t>03</a:t>
            </a:r>
          </a:p>
        </p:txBody>
      </p:sp>
      <p:sp>
        <p:nvSpPr>
          <p:cNvPr id="30" name="TextBox 29"/>
          <p:cNvSpPr txBox="1"/>
          <p:nvPr/>
        </p:nvSpPr>
        <p:spPr>
          <a:xfrm>
            <a:off x="6949440" y="4645152"/>
            <a:ext cx="3200400" cy="365760"/>
          </a:xfrm>
          <a:prstGeom prst="rect">
            <a:avLst/>
          </a:prstGeom>
          <a:noFill/>
        </p:spPr>
        <p:txBody>
          <a:bodyPr wrap="square">
            <a:spAutoFit/>
          </a:bodyPr>
          <a:lstStyle/>
          <a:p>
            <a:pPr algn="l"/>
            <a:r>
              <a:rPr sz="1200" b="0" i="0">
                <a:solidFill>
                  <a:srgbClr val="FDF8F1"/>
                </a:solidFill>
                <a:latin typeface="Calibri"/>
              </a:rPr>
              <a:t>Frutas y verduras</a:t>
            </a:r>
          </a:p>
        </p:txBody>
      </p:sp>
      <p:sp>
        <p:nvSpPr>
          <p:cNvPr id="31" name="TextBox 30"/>
          <p:cNvSpPr txBox="1"/>
          <p:nvPr/>
        </p:nvSpPr>
        <p:spPr>
          <a:xfrm>
            <a:off x="10058400" y="4645152"/>
            <a:ext cx="1371600" cy="365760"/>
          </a:xfrm>
          <a:prstGeom prst="rect">
            <a:avLst/>
          </a:prstGeom>
          <a:noFill/>
        </p:spPr>
        <p:txBody>
          <a:bodyPr wrap="square">
            <a:spAutoFit/>
          </a:bodyPr>
          <a:lstStyle/>
          <a:p>
            <a:pPr algn="l"/>
            <a:r>
              <a:rPr sz="1000" b="0" i="0">
                <a:solidFill>
                  <a:srgbClr val="C8BEB0"/>
                </a:solidFill>
                <a:latin typeface="Consolas"/>
              </a:rPr>
              <a:t>0.087</a:t>
            </a:r>
          </a:p>
        </p:txBody>
      </p:sp>
      <p:sp>
        <p:nvSpPr>
          <p:cNvPr id="32" name="TextBox 31"/>
          <p:cNvSpPr txBox="1"/>
          <p:nvPr/>
        </p:nvSpPr>
        <p:spPr>
          <a:xfrm>
            <a:off x="6446520" y="5056631"/>
            <a:ext cx="365760" cy="365760"/>
          </a:xfrm>
          <a:prstGeom prst="rect">
            <a:avLst/>
          </a:prstGeom>
          <a:noFill/>
        </p:spPr>
        <p:txBody>
          <a:bodyPr wrap="square">
            <a:spAutoFit/>
          </a:bodyPr>
          <a:lstStyle/>
          <a:p>
            <a:pPr algn="l"/>
            <a:r>
              <a:rPr sz="1300" b="1" i="0">
                <a:solidFill>
                  <a:srgbClr val="C8BEB0"/>
                </a:solidFill>
                <a:latin typeface="Consolas"/>
              </a:rPr>
              <a:t>08</a:t>
            </a:r>
          </a:p>
        </p:txBody>
      </p:sp>
      <p:sp>
        <p:nvSpPr>
          <p:cNvPr id="33" name="TextBox 32"/>
          <p:cNvSpPr txBox="1"/>
          <p:nvPr/>
        </p:nvSpPr>
        <p:spPr>
          <a:xfrm>
            <a:off x="6949440" y="5056631"/>
            <a:ext cx="3200400" cy="365760"/>
          </a:xfrm>
          <a:prstGeom prst="rect">
            <a:avLst/>
          </a:prstGeom>
          <a:noFill/>
        </p:spPr>
        <p:txBody>
          <a:bodyPr wrap="square">
            <a:spAutoFit/>
          </a:bodyPr>
          <a:lstStyle/>
          <a:p>
            <a:pPr algn="l"/>
            <a:r>
              <a:rPr sz="1200" b="0" i="0">
                <a:solidFill>
                  <a:srgbClr val="FDF8F1"/>
                </a:solidFill>
                <a:latin typeface="Calibri"/>
              </a:rPr>
              <a:t>Densidad tienditas</a:t>
            </a:r>
          </a:p>
        </p:txBody>
      </p:sp>
      <p:sp>
        <p:nvSpPr>
          <p:cNvPr id="34" name="TextBox 33"/>
          <p:cNvSpPr txBox="1"/>
          <p:nvPr/>
        </p:nvSpPr>
        <p:spPr>
          <a:xfrm>
            <a:off x="10058400" y="5056631"/>
            <a:ext cx="1371600" cy="365760"/>
          </a:xfrm>
          <a:prstGeom prst="rect">
            <a:avLst/>
          </a:prstGeom>
          <a:noFill/>
        </p:spPr>
        <p:txBody>
          <a:bodyPr wrap="square">
            <a:spAutoFit/>
          </a:bodyPr>
          <a:lstStyle/>
          <a:p>
            <a:pPr algn="l"/>
            <a:r>
              <a:rPr sz="1000" b="0" i="0">
                <a:solidFill>
                  <a:srgbClr val="C8BEB0"/>
                </a:solidFill>
                <a:latin typeface="Consolas"/>
              </a:rPr>
              <a:t>0.004</a:t>
            </a:r>
          </a:p>
        </p:txBody>
      </p:sp>
      <p:sp>
        <p:nvSpPr>
          <p:cNvPr id="35" name="Rectangle 34"/>
          <p:cNvSpPr/>
          <p:nvPr/>
        </p:nvSpPr>
        <p:spPr>
          <a:xfrm>
            <a:off x="457200" y="5806440"/>
            <a:ext cx="11338560" cy="4572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5870448"/>
            <a:ext cx="10972800" cy="365760"/>
          </a:xfrm>
          <a:prstGeom prst="rect">
            <a:avLst/>
          </a:prstGeom>
          <a:noFill/>
        </p:spPr>
        <p:txBody>
          <a:bodyPr wrap="square">
            <a:spAutoFit/>
          </a:bodyPr>
          <a:lstStyle/>
          <a:p>
            <a:pPr algn="l"/>
            <a:r>
              <a:rPr sz="1300" b="0" i="1">
                <a:solidFill>
                  <a:srgbClr val="B8862A"/>
                </a:solidFill>
                <a:latin typeface="Calibri"/>
              </a:rPr>
              <a:t>El predictor #1 es la actividad física  →  el problema más modificable con intervención escolar.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  ¿POR QUÉ HICIMOS NUESTRA PROPIA ENCUESTA?</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200" b="1" i="0">
                <a:solidFill>
                  <a:srgbClr val="1A1612"/>
                </a:solidFill>
                <a:latin typeface="Calibri"/>
              </a:rPr>
              <a:t>Los datos oficiales nos dieron correlaciones. Necesitábamos causas.</a:t>
            </a:r>
          </a:p>
        </p:txBody>
      </p:sp>
      <p:sp>
        <p:nvSpPr>
          <p:cNvPr id="5" name="Rectangle 4"/>
          <p:cNvSpPr/>
          <p:nvPr/>
        </p:nvSpPr>
        <p:spPr>
          <a:xfrm>
            <a:off x="457200" y="1417320"/>
            <a:ext cx="5577840" cy="429768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5212080" cy="274320"/>
          </a:xfrm>
          <a:prstGeom prst="rect">
            <a:avLst/>
          </a:prstGeom>
          <a:noFill/>
        </p:spPr>
        <p:txBody>
          <a:bodyPr wrap="square">
            <a:spAutoFit/>
          </a:bodyPr>
          <a:lstStyle/>
          <a:p>
            <a:pPr algn="l"/>
            <a:r>
              <a:rPr sz="900" b="0" i="0">
                <a:solidFill>
                  <a:srgbClr val="B8862A"/>
                </a:solidFill>
                <a:latin typeface="Consolas"/>
              </a:rPr>
              <a:t>LO QUE LOS MODELOS NOS DIERON</a:t>
            </a:r>
          </a:p>
        </p:txBody>
      </p:sp>
      <p:sp>
        <p:nvSpPr>
          <p:cNvPr id="7" name="TextBox 6"/>
          <p:cNvSpPr txBox="1"/>
          <p:nvPr/>
        </p:nvSpPr>
        <p:spPr>
          <a:xfrm>
            <a:off x="640080" y="1828800"/>
            <a:ext cx="365760" cy="320040"/>
          </a:xfrm>
          <a:prstGeom prst="rect">
            <a:avLst/>
          </a:prstGeom>
          <a:noFill/>
        </p:spPr>
        <p:txBody>
          <a:bodyPr wrap="square">
            <a:spAutoFit/>
          </a:bodyPr>
          <a:lstStyle/>
          <a:p>
            <a:pPr algn="l"/>
            <a:r>
              <a:rPr sz="1600" b="1" i="0">
                <a:solidFill>
                  <a:srgbClr val="B8332A"/>
                </a:solidFill>
                <a:latin typeface="Calibri"/>
              </a:rPr>
              <a:t>✓</a:t>
            </a:r>
          </a:p>
        </p:txBody>
      </p:sp>
      <p:sp>
        <p:nvSpPr>
          <p:cNvPr id="8" name="TextBox 7"/>
          <p:cNvSpPr txBox="1"/>
          <p:nvPr/>
        </p:nvSpPr>
        <p:spPr>
          <a:xfrm>
            <a:off x="1005840" y="1828800"/>
            <a:ext cx="4846320" cy="365760"/>
          </a:xfrm>
          <a:prstGeom prst="rect">
            <a:avLst/>
          </a:prstGeom>
          <a:noFill/>
        </p:spPr>
        <p:txBody>
          <a:bodyPr wrap="square">
            <a:spAutoFit/>
          </a:bodyPr>
          <a:lstStyle/>
          <a:p>
            <a:pPr algn="l"/>
            <a:r>
              <a:rPr sz="1300" b="0" i="0">
                <a:solidFill>
                  <a:srgbClr val="1A1612"/>
                </a:solidFill>
                <a:latin typeface="Calibri"/>
              </a:rPr>
              <a:t>Correlaciones estatales fuertes</a:t>
            </a:r>
          </a:p>
        </p:txBody>
      </p:sp>
      <p:sp>
        <p:nvSpPr>
          <p:cNvPr id="9" name="TextBox 8"/>
          <p:cNvSpPr txBox="1"/>
          <p:nvPr/>
        </p:nvSpPr>
        <p:spPr>
          <a:xfrm>
            <a:off x="640080" y="2468880"/>
            <a:ext cx="365760" cy="320040"/>
          </a:xfrm>
          <a:prstGeom prst="rect">
            <a:avLst/>
          </a:prstGeom>
          <a:noFill/>
        </p:spPr>
        <p:txBody>
          <a:bodyPr wrap="square">
            <a:spAutoFit/>
          </a:bodyPr>
          <a:lstStyle/>
          <a:p>
            <a:pPr algn="l"/>
            <a:r>
              <a:rPr sz="1600" b="1" i="0">
                <a:solidFill>
                  <a:srgbClr val="B8332A"/>
                </a:solidFill>
                <a:latin typeface="Calibri"/>
              </a:rPr>
              <a:t>✓</a:t>
            </a:r>
          </a:p>
        </p:txBody>
      </p:sp>
      <p:sp>
        <p:nvSpPr>
          <p:cNvPr id="10" name="TextBox 9"/>
          <p:cNvSpPr txBox="1"/>
          <p:nvPr/>
        </p:nvSpPr>
        <p:spPr>
          <a:xfrm>
            <a:off x="1005840" y="2468880"/>
            <a:ext cx="4846320" cy="365760"/>
          </a:xfrm>
          <a:prstGeom prst="rect">
            <a:avLst/>
          </a:prstGeom>
          <a:noFill/>
        </p:spPr>
        <p:txBody>
          <a:bodyPr wrap="square">
            <a:spAutoFit/>
          </a:bodyPr>
          <a:lstStyle/>
          <a:p>
            <a:pPr algn="l"/>
            <a:r>
              <a:rPr sz="1300" b="0" i="0">
                <a:solidFill>
                  <a:srgbClr val="1A1612"/>
                </a:solidFill>
                <a:latin typeface="Calibri"/>
              </a:rPr>
              <a:t>Predictor dominante identificado (AF)</a:t>
            </a:r>
          </a:p>
        </p:txBody>
      </p:sp>
      <p:sp>
        <p:nvSpPr>
          <p:cNvPr id="11" name="TextBox 10"/>
          <p:cNvSpPr txBox="1"/>
          <p:nvPr/>
        </p:nvSpPr>
        <p:spPr>
          <a:xfrm>
            <a:off x="640080" y="3108960"/>
            <a:ext cx="365760" cy="320040"/>
          </a:xfrm>
          <a:prstGeom prst="rect">
            <a:avLst/>
          </a:prstGeom>
          <a:noFill/>
        </p:spPr>
        <p:txBody>
          <a:bodyPr wrap="square">
            <a:spAutoFit/>
          </a:bodyPr>
          <a:lstStyle/>
          <a:p>
            <a:pPr algn="l"/>
            <a:r>
              <a:rPr sz="1600" b="1" i="0">
                <a:solidFill>
                  <a:srgbClr val="B8332A"/>
                </a:solidFill>
                <a:latin typeface="Calibri"/>
              </a:rPr>
              <a:t>✓</a:t>
            </a:r>
          </a:p>
        </p:txBody>
      </p:sp>
      <p:sp>
        <p:nvSpPr>
          <p:cNvPr id="12" name="TextBox 11"/>
          <p:cNvSpPr txBox="1"/>
          <p:nvPr/>
        </p:nvSpPr>
        <p:spPr>
          <a:xfrm>
            <a:off x="1005840" y="3108960"/>
            <a:ext cx="4846320" cy="365760"/>
          </a:xfrm>
          <a:prstGeom prst="rect">
            <a:avLst/>
          </a:prstGeom>
          <a:noFill/>
        </p:spPr>
        <p:txBody>
          <a:bodyPr wrap="square">
            <a:spAutoFit/>
          </a:bodyPr>
          <a:lstStyle/>
          <a:p>
            <a:pPr algn="l"/>
            <a:r>
              <a:rPr sz="1300" b="0" i="0">
                <a:solidFill>
                  <a:srgbClr val="1A1612"/>
                </a:solidFill>
                <a:latin typeface="Calibri"/>
              </a:rPr>
              <a:t>Efecto controlado de tienditas confirmado</a:t>
            </a:r>
          </a:p>
        </p:txBody>
      </p:sp>
      <p:sp>
        <p:nvSpPr>
          <p:cNvPr id="13" name="TextBox 12"/>
          <p:cNvSpPr txBox="1"/>
          <p:nvPr/>
        </p:nvSpPr>
        <p:spPr>
          <a:xfrm>
            <a:off x="640080" y="3749039"/>
            <a:ext cx="365760" cy="320040"/>
          </a:xfrm>
          <a:prstGeom prst="rect">
            <a:avLst/>
          </a:prstGeom>
          <a:noFill/>
        </p:spPr>
        <p:txBody>
          <a:bodyPr wrap="square">
            <a:spAutoFit/>
          </a:bodyPr>
          <a:lstStyle/>
          <a:p>
            <a:pPr algn="l"/>
            <a:r>
              <a:rPr sz="1600" b="1" i="0">
                <a:solidFill>
                  <a:srgbClr val="B8332A"/>
                </a:solidFill>
                <a:latin typeface="Calibri"/>
              </a:rPr>
              <a:t>✓</a:t>
            </a:r>
          </a:p>
        </p:txBody>
      </p:sp>
      <p:sp>
        <p:nvSpPr>
          <p:cNvPr id="14" name="TextBox 13"/>
          <p:cNvSpPr txBox="1"/>
          <p:nvPr/>
        </p:nvSpPr>
        <p:spPr>
          <a:xfrm>
            <a:off x="1005840" y="3749039"/>
            <a:ext cx="4846320" cy="365760"/>
          </a:xfrm>
          <a:prstGeom prst="rect">
            <a:avLst/>
          </a:prstGeom>
          <a:noFill/>
        </p:spPr>
        <p:txBody>
          <a:bodyPr wrap="square">
            <a:spAutoFit/>
          </a:bodyPr>
          <a:lstStyle/>
          <a:p>
            <a:pPr algn="l"/>
            <a:r>
              <a:rPr sz="1300" b="0" i="0">
                <a:solidFill>
                  <a:srgbClr val="1A1612"/>
                </a:solidFill>
                <a:latin typeface="Calibri"/>
              </a:rPr>
              <a:t>Mapa cuantitativo del problema</a:t>
            </a:r>
          </a:p>
        </p:txBody>
      </p:sp>
      <p:sp>
        <p:nvSpPr>
          <p:cNvPr id="15" name="Rectangle 14"/>
          <p:cNvSpPr/>
          <p:nvPr/>
        </p:nvSpPr>
        <p:spPr>
          <a:xfrm>
            <a:off x="640080" y="4572000"/>
            <a:ext cx="5212080" cy="10058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645152"/>
            <a:ext cx="4937760" cy="228600"/>
          </a:xfrm>
          <a:prstGeom prst="rect">
            <a:avLst/>
          </a:prstGeom>
          <a:noFill/>
        </p:spPr>
        <p:txBody>
          <a:bodyPr wrap="square">
            <a:spAutoFit/>
          </a:bodyPr>
          <a:lstStyle/>
          <a:p>
            <a:pPr algn="l"/>
            <a:r>
              <a:rPr sz="900" b="0" i="0">
                <a:solidFill>
                  <a:srgbClr val="B8862A"/>
                </a:solidFill>
                <a:latin typeface="Consolas"/>
              </a:rPr>
              <a:t>PERO NO RESPONDÍAN</a:t>
            </a:r>
          </a:p>
        </p:txBody>
      </p:sp>
      <p:sp>
        <p:nvSpPr>
          <p:cNvPr id="17" name="TextBox 16"/>
          <p:cNvSpPr txBox="1"/>
          <p:nvPr/>
        </p:nvSpPr>
        <p:spPr>
          <a:xfrm>
            <a:off x="777240" y="4892040"/>
            <a:ext cx="4937760" cy="548640"/>
          </a:xfrm>
          <a:prstGeom prst="rect">
            <a:avLst/>
          </a:prstGeom>
          <a:noFill/>
        </p:spPr>
        <p:txBody>
          <a:bodyPr wrap="square">
            <a:spAutoFit/>
          </a:bodyPr>
          <a:lstStyle/>
          <a:p>
            <a:pPr algn="l"/>
            <a:r>
              <a:rPr sz="1200" b="0" i="0">
                <a:solidFill>
                  <a:srgbClr val="FDF8F1"/>
                </a:solidFill>
                <a:latin typeface="Calibri"/>
              </a:rPr>
              <a:t>¿Por qué la gente compra lo que compra?
¿Por qué no cocinan en casa?</a:t>
            </a:r>
          </a:p>
        </p:txBody>
      </p:sp>
      <p:sp>
        <p:nvSpPr>
          <p:cNvPr id="18" name="Rectangle 17"/>
          <p:cNvSpPr/>
          <p:nvPr/>
        </p:nvSpPr>
        <p:spPr>
          <a:xfrm>
            <a:off x="6126480" y="1417320"/>
            <a:ext cx="5669280" cy="42976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0" y="1508760"/>
            <a:ext cx="5303520" cy="274320"/>
          </a:xfrm>
          <a:prstGeom prst="rect">
            <a:avLst/>
          </a:prstGeom>
          <a:noFill/>
        </p:spPr>
        <p:txBody>
          <a:bodyPr wrap="square">
            <a:spAutoFit/>
          </a:bodyPr>
          <a:lstStyle/>
          <a:p>
            <a:pPr algn="l"/>
            <a:r>
              <a:rPr sz="900" b="0" i="0">
                <a:solidFill>
                  <a:srgbClr val="B8862A"/>
                </a:solidFill>
                <a:latin typeface="Consolas"/>
              </a:rPr>
              <a:t>LO QUE NOS FALTABA</a:t>
            </a:r>
          </a:p>
        </p:txBody>
      </p:sp>
      <p:sp>
        <p:nvSpPr>
          <p:cNvPr id="20" name="TextBox 19"/>
          <p:cNvSpPr txBox="1"/>
          <p:nvPr/>
        </p:nvSpPr>
        <p:spPr>
          <a:xfrm>
            <a:off x="6309360" y="1828800"/>
            <a:ext cx="1554480" cy="365760"/>
          </a:xfrm>
          <a:prstGeom prst="rect">
            <a:avLst/>
          </a:prstGeom>
          <a:noFill/>
        </p:spPr>
        <p:txBody>
          <a:bodyPr wrap="square">
            <a:spAutoFit/>
          </a:bodyPr>
          <a:lstStyle/>
          <a:p>
            <a:pPr algn="l"/>
            <a:r>
              <a:rPr sz="1100" b="1" i="0">
                <a:solidFill>
                  <a:srgbClr val="B8862A"/>
                </a:solidFill>
                <a:latin typeface="Consolas"/>
              </a:rPr>
              <a:t>Causa real</a:t>
            </a:r>
          </a:p>
        </p:txBody>
      </p:sp>
      <p:sp>
        <p:nvSpPr>
          <p:cNvPr id="21" name="TextBox 20"/>
          <p:cNvSpPr txBox="1"/>
          <p:nvPr/>
        </p:nvSpPr>
        <p:spPr>
          <a:xfrm>
            <a:off x="7955279" y="1828800"/>
            <a:ext cx="3657600" cy="365760"/>
          </a:xfrm>
          <a:prstGeom prst="rect">
            <a:avLst/>
          </a:prstGeom>
          <a:noFill/>
        </p:spPr>
        <p:txBody>
          <a:bodyPr wrap="square">
            <a:spAutoFit/>
          </a:bodyPr>
          <a:lstStyle/>
          <a:p>
            <a:pPr algn="l"/>
            <a:r>
              <a:rPr sz="1100" b="0" i="0">
                <a:solidFill>
                  <a:srgbClr val="FDF8F1"/>
                </a:solidFill>
                <a:latin typeface="Calibri"/>
              </a:rPr>
              <a:t>Por qué se elige la comida procesada</a:t>
            </a:r>
          </a:p>
        </p:txBody>
      </p:sp>
      <p:sp>
        <p:nvSpPr>
          <p:cNvPr id="22" name="TextBox 21"/>
          <p:cNvSpPr txBox="1"/>
          <p:nvPr/>
        </p:nvSpPr>
        <p:spPr>
          <a:xfrm>
            <a:off x="6309360" y="2331720"/>
            <a:ext cx="1554480" cy="365760"/>
          </a:xfrm>
          <a:prstGeom prst="rect">
            <a:avLst/>
          </a:prstGeom>
          <a:noFill/>
        </p:spPr>
        <p:txBody>
          <a:bodyPr wrap="square">
            <a:spAutoFit/>
          </a:bodyPr>
          <a:lstStyle/>
          <a:p>
            <a:pPr algn="l"/>
            <a:r>
              <a:rPr sz="1100" b="1" i="0">
                <a:solidFill>
                  <a:srgbClr val="B8862A"/>
                </a:solidFill>
                <a:latin typeface="Consolas"/>
              </a:rPr>
              <a:t>Tiempo</a:t>
            </a:r>
          </a:p>
        </p:txBody>
      </p:sp>
      <p:sp>
        <p:nvSpPr>
          <p:cNvPr id="23" name="TextBox 22"/>
          <p:cNvSpPr txBox="1"/>
          <p:nvPr/>
        </p:nvSpPr>
        <p:spPr>
          <a:xfrm>
            <a:off x="7955279" y="2331720"/>
            <a:ext cx="3657600" cy="365760"/>
          </a:xfrm>
          <a:prstGeom prst="rect">
            <a:avLst/>
          </a:prstGeom>
          <a:noFill/>
        </p:spPr>
        <p:txBody>
          <a:bodyPr wrap="square">
            <a:spAutoFit/>
          </a:bodyPr>
          <a:lstStyle/>
          <a:p>
            <a:pPr algn="l"/>
            <a:r>
              <a:rPr sz="1100" b="0" i="0">
                <a:solidFill>
                  <a:srgbClr val="FDF8F1"/>
                </a:solidFill>
                <a:latin typeface="Calibri"/>
              </a:rPr>
              <a:t>Si la barrera es estructural o cultural</a:t>
            </a:r>
          </a:p>
        </p:txBody>
      </p:sp>
      <p:sp>
        <p:nvSpPr>
          <p:cNvPr id="24" name="TextBox 23"/>
          <p:cNvSpPr txBox="1"/>
          <p:nvPr/>
        </p:nvSpPr>
        <p:spPr>
          <a:xfrm>
            <a:off x="6309360" y="2834640"/>
            <a:ext cx="1554480" cy="365760"/>
          </a:xfrm>
          <a:prstGeom prst="rect">
            <a:avLst/>
          </a:prstGeom>
          <a:noFill/>
        </p:spPr>
        <p:txBody>
          <a:bodyPr wrap="square">
            <a:spAutoFit/>
          </a:bodyPr>
          <a:lstStyle/>
          <a:p>
            <a:pPr algn="l"/>
            <a:r>
              <a:rPr sz="1100" b="1" i="0">
                <a:solidFill>
                  <a:srgbClr val="B8862A"/>
                </a:solidFill>
                <a:latin typeface="Consolas"/>
              </a:rPr>
              <a:t>Padres</a:t>
            </a:r>
          </a:p>
        </p:txBody>
      </p:sp>
      <p:sp>
        <p:nvSpPr>
          <p:cNvPr id="25" name="TextBox 24"/>
          <p:cNvSpPr txBox="1"/>
          <p:nvPr/>
        </p:nvSpPr>
        <p:spPr>
          <a:xfrm>
            <a:off x="7955279" y="2834640"/>
            <a:ext cx="3657600" cy="365760"/>
          </a:xfrm>
          <a:prstGeom prst="rect">
            <a:avLst/>
          </a:prstGeom>
          <a:noFill/>
        </p:spPr>
        <p:txBody>
          <a:bodyPr wrap="square">
            <a:spAutoFit/>
          </a:bodyPr>
          <a:lstStyle/>
          <a:p>
            <a:pPr algn="l"/>
            <a:r>
              <a:rPr sz="1100" b="0" i="0">
                <a:solidFill>
                  <a:srgbClr val="FDF8F1"/>
                </a:solidFill>
                <a:latin typeface="Calibri"/>
              </a:rPr>
              <a:t>Qué tan preocupados están, qué hacen sus hijos</a:t>
            </a:r>
          </a:p>
        </p:txBody>
      </p:sp>
      <p:sp>
        <p:nvSpPr>
          <p:cNvPr id="26" name="TextBox 25"/>
          <p:cNvSpPr txBox="1"/>
          <p:nvPr/>
        </p:nvSpPr>
        <p:spPr>
          <a:xfrm>
            <a:off x="6309360" y="3337560"/>
            <a:ext cx="1554480" cy="365760"/>
          </a:xfrm>
          <a:prstGeom prst="rect">
            <a:avLst/>
          </a:prstGeom>
          <a:noFill/>
        </p:spPr>
        <p:txBody>
          <a:bodyPr wrap="square">
            <a:spAutoFit/>
          </a:bodyPr>
          <a:lstStyle/>
          <a:p>
            <a:pPr algn="l"/>
            <a:r>
              <a:rPr sz="1100" b="1" i="0">
                <a:solidFill>
                  <a:srgbClr val="B8862A"/>
                </a:solidFill>
                <a:latin typeface="Consolas"/>
              </a:rPr>
              <a:t>Voluntad</a:t>
            </a:r>
          </a:p>
        </p:txBody>
      </p:sp>
      <p:sp>
        <p:nvSpPr>
          <p:cNvPr id="27" name="TextBox 26"/>
          <p:cNvSpPr txBox="1"/>
          <p:nvPr/>
        </p:nvSpPr>
        <p:spPr>
          <a:xfrm>
            <a:off x="7955279" y="3337560"/>
            <a:ext cx="3657600" cy="365760"/>
          </a:xfrm>
          <a:prstGeom prst="rect">
            <a:avLst/>
          </a:prstGeom>
          <a:noFill/>
        </p:spPr>
        <p:txBody>
          <a:bodyPr wrap="square">
            <a:spAutoFit/>
          </a:bodyPr>
          <a:lstStyle/>
          <a:p>
            <a:pPr algn="l"/>
            <a:r>
              <a:rPr sz="1100" b="0" i="0">
                <a:solidFill>
                  <a:srgbClr val="FDF8F1"/>
                </a:solidFill>
                <a:latin typeface="Calibri"/>
              </a:rPr>
              <a:t>Si la gente cambiaría con más recursos</a:t>
            </a:r>
          </a:p>
        </p:txBody>
      </p:sp>
      <p:sp>
        <p:nvSpPr>
          <p:cNvPr id="28" name="TextBox 27"/>
          <p:cNvSpPr txBox="1"/>
          <p:nvPr/>
        </p:nvSpPr>
        <p:spPr>
          <a:xfrm>
            <a:off x="6309360" y="3840480"/>
            <a:ext cx="1554480" cy="365760"/>
          </a:xfrm>
          <a:prstGeom prst="rect">
            <a:avLst/>
          </a:prstGeom>
          <a:noFill/>
        </p:spPr>
        <p:txBody>
          <a:bodyPr wrap="square">
            <a:spAutoFit/>
          </a:bodyPr>
          <a:lstStyle/>
          <a:p>
            <a:pPr algn="l"/>
            <a:r>
              <a:rPr sz="1100" b="1" i="0">
                <a:solidFill>
                  <a:srgbClr val="B8862A"/>
                </a:solidFill>
                <a:latin typeface="Consolas"/>
              </a:rPr>
              <a:t>Soluciones</a:t>
            </a:r>
          </a:p>
        </p:txBody>
      </p:sp>
      <p:sp>
        <p:nvSpPr>
          <p:cNvPr id="29" name="TextBox 28"/>
          <p:cNvSpPr txBox="1"/>
          <p:nvPr/>
        </p:nvSpPr>
        <p:spPr>
          <a:xfrm>
            <a:off x="7955279" y="3840480"/>
            <a:ext cx="3657600" cy="365760"/>
          </a:xfrm>
          <a:prstGeom prst="rect">
            <a:avLst/>
          </a:prstGeom>
          <a:noFill/>
        </p:spPr>
        <p:txBody>
          <a:bodyPr wrap="square">
            <a:spAutoFit/>
          </a:bodyPr>
          <a:lstStyle/>
          <a:p>
            <a:pPr algn="l"/>
            <a:r>
              <a:rPr sz="1100" b="0" i="0">
                <a:solidFill>
                  <a:srgbClr val="FDF8F1"/>
                </a:solidFill>
                <a:latin typeface="Calibri"/>
              </a:rPr>
              <a:t>Qué pide la propia población</a:t>
            </a:r>
          </a:p>
        </p:txBody>
      </p:sp>
      <p:sp>
        <p:nvSpPr>
          <p:cNvPr id="30" name="Rectangle 29"/>
          <p:cNvSpPr/>
          <p:nvPr/>
        </p:nvSpPr>
        <p:spPr>
          <a:xfrm>
            <a:off x="6309360" y="4526280"/>
            <a:ext cx="5303520" cy="10515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4590288"/>
            <a:ext cx="5029200" cy="228600"/>
          </a:xfrm>
          <a:prstGeom prst="rect">
            <a:avLst/>
          </a:prstGeom>
          <a:noFill/>
        </p:spPr>
        <p:txBody>
          <a:bodyPr wrap="square">
            <a:spAutoFit/>
          </a:bodyPr>
          <a:lstStyle/>
          <a:p>
            <a:pPr algn="l"/>
            <a:r>
              <a:rPr sz="900" b="0" i="0">
                <a:solidFill>
                  <a:srgbClr val="FDF8F1"/>
                </a:solidFill>
                <a:latin typeface="Consolas"/>
              </a:rPr>
              <a:t>DECISIÓN</a:t>
            </a:r>
          </a:p>
        </p:txBody>
      </p:sp>
      <p:sp>
        <p:nvSpPr>
          <p:cNvPr id="32" name="TextBox 31"/>
          <p:cNvSpPr txBox="1"/>
          <p:nvPr/>
        </p:nvSpPr>
        <p:spPr>
          <a:xfrm>
            <a:off x="6446520" y="4846320"/>
            <a:ext cx="5029200" cy="640080"/>
          </a:xfrm>
          <a:prstGeom prst="rect">
            <a:avLst/>
          </a:prstGeom>
          <a:noFill/>
        </p:spPr>
        <p:txBody>
          <a:bodyPr wrap="square">
            <a:spAutoFit/>
          </a:bodyPr>
          <a:lstStyle/>
          <a:p>
            <a:pPr algn="l"/>
            <a:r>
              <a:rPr sz="1200" b="1" i="0">
                <a:solidFill>
                  <a:srgbClr val="FDF8F1"/>
                </a:solidFill>
                <a:latin typeface="Calibri"/>
              </a:rPr>
              <a:t>Hacer nuestra propia encuesta. n &gt; 100. Población real, no agregados estatales.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  LA ENCUESTA  ·  100+ RESPUESTAS EN SAN LUIS POTOSÍ</a:t>
            </a:r>
          </a:p>
        </p:txBody>
      </p:sp>
      <p:sp>
        <p:nvSpPr>
          <p:cNvPr id="4" name="TextBox 3"/>
          <p:cNvSpPr txBox="1"/>
          <p:nvPr/>
        </p:nvSpPr>
        <p:spPr>
          <a:xfrm>
            <a:off x="548640" y="640080"/>
            <a:ext cx="10972800" cy="411480"/>
          </a:xfrm>
          <a:prstGeom prst="rect">
            <a:avLst/>
          </a:prstGeom>
          <a:noFill/>
        </p:spPr>
        <p:txBody>
          <a:bodyPr wrap="square">
            <a:spAutoFit/>
          </a:bodyPr>
          <a:lstStyle/>
          <a:p>
            <a:pPr algn="l"/>
            <a:r>
              <a:rPr sz="2400" b="1" i="0">
                <a:solidFill>
                  <a:srgbClr val="1A1612"/>
                </a:solidFill>
                <a:latin typeface="Calibri"/>
              </a:rPr>
              <a:t>Hablamos con cien personas. Esto es lo que nos dijeron.</a:t>
            </a:r>
          </a:p>
        </p:txBody>
      </p:sp>
      <p:sp>
        <p:nvSpPr>
          <p:cNvPr id="5" name="Rectangle 4"/>
          <p:cNvSpPr/>
          <p:nvPr/>
        </p:nvSpPr>
        <p:spPr>
          <a:xfrm>
            <a:off x="548640" y="1097280"/>
            <a:ext cx="11155680" cy="411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161288"/>
            <a:ext cx="10972800" cy="320040"/>
          </a:xfrm>
          <a:prstGeom prst="rect">
            <a:avLst/>
          </a:prstGeom>
          <a:noFill/>
        </p:spPr>
        <p:txBody>
          <a:bodyPr wrap="square">
            <a:spAutoFit/>
          </a:bodyPr>
          <a:lstStyle/>
          <a:p>
            <a:pPr algn="l"/>
            <a:r>
              <a:rPr sz="900" b="0" i="0">
                <a:solidFill>
                  <a:srgbClr val="B8862A"/>
                </a:solidFill>
                <a:latin typeface="Consolas"/>
              </a:rPr>
              <a:t>SAN LUIS POTOSÍ  ·  DIC 2025 – ENE 2026  ·  2 PISTAS: PADRES (28) / NO PADRES (70)  ·  EDADES &lt;18 a &gt;50</a:t>
            </a:r>
          </a:p>
        </p:txBody>
      </p:sp>
      <p:pic>
        <p:nvPicPr>
          <p:cNvPr id="7" name="Picture 6" descr="survey_barriers.png"/>
          <p:cNvPicPr>
            <a:picLocks noChangeAspect="1"/>
          </p:cNvPicPr>
          <p:nvPr/>
        </p:nvPicPr>
        <p:blipFill>
          <a:blip r:embed="rId2"/>
          <a:stretch>
            <a:fillRect/>
          </a:stretch>
        </p:blipFill>
        <p:spPr>
          <a:xfrm>
            <a:off x="365760" y="1645920"/>
            <a:ext cx="6492240" cy="3108960"/>
          </a:xfrm>
          <a:prstGeom prst="rect">
            <a:avLst/>
          </a:prstGeom>
        </p:spPr>
      </p:pic>
      <p:pic>
        <p:nvPicPr>
          <p:cNvPr id="8" name="Picture 7" descr="survey_solutions.png"/>
          <p:cNvPicPr>
            <a:picLocks noChangeAspect="1"/>
          </p:cNvPicPr>
          <p:nvPr/>
        </p:nvPicPr>
        <p:blipFill>
          <a:blip r:embed="rId3"/>
          <a:stretch>
            <a:fillRect/>
          </a:stretch>
        </p:blipFill>
        <p:spPr>
          <a:xfrm>
            <a:off x="7040880" y="1645920"/>
            <a:ext cx="5029200" cy="3108960"/>
          </a:xfrm>
          <a:prstGeom prst="rect">
            <a:avLst/>
          </a:prstGeom>
        </p:spPr>
      </p:pic>
      <p:sp>
        <p:nvSpPr>
          <p:cNvPr id="9" name="Rectangle 8"/>
          <p:cNvSpPr/>
          <p:nvPr/>
        </p:nvSpPr>
        <p:spPr>
          <a:xfrm>
            <a:off x="548640" y="4937760"/>
            <a:ext cx="2743200" cy="13258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029200"/>
            <a:ext cx="2468880" cy="502920"/>
          </a:xfrm>
          <a:prstGeom prst="rect">
            <a:avLst/>
          </a:prstGeom>
          <a:noFill/>
        </p:spPr>
        <p:txBody>
          <a:bodyPr wrap="square">
            <a:spAutoFit/>
          </a:bodyPr>
          <a:lstStyle/>
          <a:p>
            <a:pPr algn="l"/>
            <a:r>
              <a:rPr sz="2800" b="1" i="0">
                <a:solidFill>
                  <a:srgbClr val="B8332A"/>
                </a:solidFill>
                <a:latin typeface="Calibri"/>
              </a:rPr>
              <a:t>38</a:t>
            </a:r>
          </a:p>
        </p:txBody>
      </p:sp>
      <p:sp>
        <p:nvSpPr>
          <p:cNvPr id="11" name="TextBox 10"/>
          <p:cNvSpPr txBox="1"/>
          <p:nvPr/>
        </p:nvSpPr>
        <p:spPr>
          <a:xfrm>
            <a:off x="685800" y="5532120"/>
            <a:ext cx="2468880" cy="685800"/>
          </a:xfrm>
          <a:prstGeom prst="rect">
            <a:avLst/>
          </a:prstGeom>
          <a:noFill/>
        </p:spPr>
        <p:txBody>
          <a:bodyPr wrap="square">
            <a:spAutoFit/>
          </a:bodyPr>
          <a:lstStyle/>
          <a:p>
            <a:pPr algn="l"/>
            <a:r>
              <a:rPr sz="1000" b="0" i="0">
                <a:solidFill>
                  <a:srgbClr val="C8BEB0"/>
                </a:solidFill>
                <a:latin typeface="Calibri"/>
              </a:rPr>
              <a:t>dicen 'no tengo tiempo
por el trabajo'</a:t>
            </a:r>
          </a:p>
        </p:txBody>
      </p:sp>
      <p:sp>
        <p:nvSpPr>
          <p:cNvPr id="12" name="Rectangle 11"/>
          <p:cNvSpPr/>
          <p:nvPr/>
        </p:nvSpPr>
        <p:spPr>
          <a:xfrm>
            <a:off x="3429000" y="4937760"/>
            <a:ext cx="2743200" cy="13258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5029200"/>
            <a:ext cx="2468880" cy="502920"/>
          </a:xfrm>
          <a:prstGeom prst="rect">
            <a:avLst/>
          </a:prstGeom>
          <a:noFill/>
        </p:spPr>
        <p:txBody>
          <a:bodyPr wrap="square">
            <a:spAutoFit/>
          </a:bodyPr>
          <a:lstStyle/>
          <a:p>
            <a:pPr algn="l"/>
            <a:r>
              <a:rPr sz="2800" b="1" i="0">
                <a:solidFill>
                  <a:srgbClr val="B8862A"/>
                </a:solidFill>
                <a:latin typeface="Calibri"/>
              </a:rPr>
              <a:t>79%</a:t>
            </a:r>
          </a:p>
        </p:txBody>
      </p:sp>
      <p:sp>
        <p:nvSpPr>
          <p:cNvPr id="14" name="TextBox 13"/>
          <p:cNvSpPr txBox="1"/>
          <p:nvPr/>
        </p:nvSpPr>
        <p:spPr>
          <a:xfrm>
            <a:off x="3566160" y="5532120"/>
            <a:ext cx="2468880" cy="685800"/>
          </a:xfrm>
          <a:prstGeom prst="rect">
            <a:avLst/>
          </a:prstGeom>
          <a:noFill/>
        </p:spPr>
        <p:txBody>
          <a:bodyPr wrap="square">
            <a:spAutoFit/>
          </a:bodyPr>
          <a:lstStyle/>
          <a:p>
            <a:pPr algn="l"/>
            <a:r>
              <a:rPr sz="1000" b="0" i="0">
                <a:solidFill>
                  <a:srgbClr val="C8BEB0"/>
                </a:solidFill>
                <a:latin typeface="Calibri"/>
              </a:rPr>
              <a:t>padres preocupados
porque sus hijos comen mal</a:t>
            </a:r>
          </a:p>
        </p:txBody>
      </p:sp>
      <p:sp>
        <p:nvSpPr>
          <p:cNvPr id="15" name="Rectangle 14"/>
          <p:cNvSpPr/>
          <p:nvPr/>
        </p:nvSpPr>
        <p:spPr>
          <a:xfrm>
            <a:off x="6309359" y="4937760"/>
            <a:ext cx="2743200" cy="13258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5029200"/>
            <a:ext cx="2468880" cy="502920"/>
          </a:xfrm>
          <a:prstGeom prst="rect">
            <a:avLst/>
          </a:prstGeom>
          <a:noFill/>
        </p:spPr>
        <p:txBody>
          <a:bodyPr wrap="square">
            <a:spAutoFit/>
          </a:bodyPr>
          <a:lstStyle/>
          <a:p>
            <a:pPr algn="l"/>
            <a:r>
              <a:rPr sz="2800" b="1" i="0">
                <a:solidFill>
                  <a:srgbClr val="B8862A"/>
                </a:solidFill>
                <a:latin typeface="Calibri"/>
              </a:rPr>
              <a:t>80/98</a:t>
            </a:r>
          </a:p>
        </p:txBody>
      </p:sp>
      <p:sp>
        <p:nvSpPr>
          <p:cNvPr id="17" name="TextBox 16"/>
          <p:cNvSpPr txBox="1"/>
          <p:nvPr/>
        </p:nvSpPr>
        <p:spPr>
          <a:xfrm>
            <a:off x="6446520" y="5532120"/>
            <a:ext cx="2468880" cy="685800"/>
          </a:xfrm>
          <a:prstGeom prst="rect">
            <a:avLst/>
          </a:prstGeom>
          <a:noFill/>
        </p:spPr>
        <p:txBody>
          <a:bodyPr wrap="square">
            <a:spAutoFit/>
          </a:bodyPr>
          <a:lstStyle/>
          <a:p>
            <a:pPr algn="l"/>
            <a:r>
              <a:rPr sz="1000" b="0" i="0">
                <a:solidFill>
                  <a:srgbClr val="C8BEB0"/>
                </a:solidFill>
                <a:latin typeface="Calibri"/>
              </a:rPr>
              <a:t>cambiarían hábitos
con más tiempo o recursos</a:t>
            </a:r>
          </a:p>
        </p:txBody>
      </p:sp>
      <p:sp>
        <p:nvSpPr>
          <p:cNvPr id="18" name="Rectangle 17"/>
          <p:cNvSpPr/>
          <p:nvPr/>
        </p:nvSpPr>
        <p:spPr>
          <a:xfrm>
            <a:off x="9189719" y="4937760"/>
            <a:ext cx="2743200" cy="13258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5029200"/>
            <a:ext cx="2468880" cy="502920"/>
          </a:xfrm>
          <a:prstGeom prst="rect">
            <a:avLst/>
          </a:prstGeom>
          <a:noFill/>
        </p:spPr>
        <p:txBody>
          <a:bodyPr wrap="square">
            <a:spAutoFit/>
          </a:bodyPr>
          <a:lstStyle/>
          <a:p>
            <a:pPr algn="l"/>
            <a:r>
              <a:rPr sz="2800" b="1" i="0">
                <a:solidFill>
                  <a:srgbClr val="B8332A"/>
                </a:solidFill>
                <a:latin typeface="Calibri"/>
              </a:rPr>
              <a:t>27</a:t>
            </a:r>
          </a:p>
        </p:txBody>
      </p:sp>
      <p:sp>
        <p:nvSpPr>
          <p:cNvPr id="20" name="TextBox 19"/>
          <p:cNvSpPr txBox="1"/>
          <p:nvPr/>
        </p:nvSpPr>
        <p:spPr>
          <a:xfrm>
            <a:off x="9326880" y="5532120"/>
            <a:ext cx="2468880" cy="685800"/>
          </a:xfrm>
          <a:prstGeom prst="rect">
            <a:avLst/>
          </a:prstGeom>
          <a:noFill/>
        </p:spPr>
        <p:txBody>
          <a:bodyPr wrap="square">
            <a:spAutoFit/>
          </a:bodyPr>
          <a:lstStyle/>
          <a:p>
            <a:pPr algn="l"/>
            <a:r>
              <a:rPr sz="1000" b="0" i="0">
                <a:solidFill>
                  <a:srgbClr val="C8BEB0"/>
                </a:solidFill>
                <a:latin typeface="Calibri"/>
              </a:rPr>
              <a:t>piden educación
nutricional explícitamente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EL MOMENTO DE CLARIDAD</a:t>
            </a:r>
          </a:p>
        </p:txBody>
      </p:sp>
      <p:sp>
        <p:nvSpPr>
          <p:cNvPr id="4" name="TextBox 3"/>
          <p:cNvSpPr txBox="1"/>
          <p:nvPr/>
        </p:nvSpPr>
        <p:spPr>
          <a:xfrm>
            <a:off x="1097280" y="1463040"/>
            <a:ext cx="10058400" cy="640080"/>
          </a:xfrm>
          <a:prstGeom prst="rect">
            <a:avLst/>
          </a:prstGeom>
          <a:noFill/>
        </p:spPr>
        <p:txBody>
          <a:bodyPr wrap="square">
            <a:spAutoFit/>
          </a:bodyPr>
          <a:lstStyle/>
          <a:p>
            <a:pPr algn="l"/>
            <a:r>
              <a:rPr sz="4200" b="1" i="1">
                <a:solidFill>
                  <a:srgbClr val="B8332A"/>
                </a:solidFill>
                <a:latin typeface="Calibri"/>
              </a:rPr>
              <a:t>"No tengo tiempo debido al trabajo."</a:t>
            </a:r>
          </a:p>
        </p:txBody>
      </p:sp>
      <p:sp>
        <p:nvSpPr>
          <p:cNvPr id="5" name="TextBox 4"/>
          <p:cNvSpPr txBox="1"/>
          <p:nvPr/>
        </p:nvSpPr>
        <p:spPr>
          <a:xfrm>
            <a:off x="1097280" y="2331720"/>
            <a:ext cx="10058400" cy="365760"/>
          </a:xfrm>
          <a:prstGeom prst="rect">
            <a:avLst/>
          </a:prstGeom>
          <a:noFill/>
        </p:spPr>
        <p:txBody>
          <a:bodyPr wrap="square">
            <a:spAutoFit/>
          </a:bodyPr>
          <a:lstStyle/>
          <a:p>
            <a:pPr algn="l"/>
            <a:r>
              <a:rPr sz="1300" b="0" i="1">
                <a:solidFill>
                  <a:srgbClr val="C8BEB0"/>
                </a:solidFill>
                <a:latin typeface="Calibri"/>
              </a:rPr>
              <a:t>— respuesta #1 · 38 menciones · 100 personas reales · San Luis Potosí · Dic 2025</a:t>
            </a:r>
          </a:p>
        </p:txBody>
      </p:sp>
      <p:sp>
        <p:nvSpPr>
          <p:cNvPr id="6" name="Rectangle 5"/>
          <p:cNvSpPr/>
          <p:nvPr/>
        </p:nvSpPr>
        <p:spPr>
          <a:xfrm>
            <a:off x="1097280" y="2880360"/>
            <a:ext cx="9966960" cy="18288"/>
          </a:xfrm>
          <a:prstGeom prst="rect">
            <a:avLst/>
          </a:prstGeom>
          <a:solidFill>
            <a:srgbClr val="B88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3154680"/>
            <a:ext cx="9966960" cy="8686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3246120"/>
            <a:ext cx="9692640" cy="685800"/>
          </a:xfrm>
          <a:prstGeom prst="rect">
            <a:avLst/>
          </a:prstGeom>
          <a:noFill/>
        </p:spPr>
        <p:txBody>
          <a:bodyPr wrap="square">
            <a:spAutoFit/>
          </a:bodyPr>
          <a:lstStyle/>
          <a:p>
            <a:pPr algn="l"/>
            <a:r>
              <a:rPr sz="3000" b="1" i="0">
                <a:solidFill>
                  <a:srgbClr val="FDF8F1"/>
                </a:solidFill>
                <a:latin typeface="Calibri"/>
              </a:rPr>
              <a:t>La población no necesita permiso. Necesita herramientas.</a:t>
            </a:r>
          </a:p>
        </p:txBody>
      </p:sp>
      <p:sp>
        <p:nvSpPr>
          <p:cNvPr id="9" name="TextBox 8"/>
          <p:cNvSpPr txBox="1"/>
          <p:nvPr/>
        </p:nvSpPr>
        <p:spPr>
          <a:xfrm>
            <a:off x="1097280" y="4206240"/>
            <a:ext cx="10058400" cy="1280160"/>
          </a:xfrm>
          <a:prstGeom prst="rect">
            <a:avLst/>
          </a:prstGeom>
          <a:noFill/>
        </p:spPr>
        <p:txBody>
          <a:bodyPr wrap="square">
            <a:spAutoFit/>
          </a:bodyPr>
          <a:lstStyle/>
          <a:p>
            <a:pPr algn="l"/>
            <a:r>
              <a:rPr sz="1600" b="0" i="0">
                <a:solidFill>
                  <a:srgbClr val="C8BEB0"/>
                </a:solidFill>
                <a:latin typeface="Calibri"/>
              </a:rPr>
              <a:t>Si el tiempo es estructural — si las familias no pueden cocinar distinto porque trabajan más
de lo que el día permite — entonces el cambio no llega regulando las tienditas.
Llega equipando a los adolescentes dentro del sistema que ya existe: la escuela.</a:t>
            </a:r>
          </a:p>
        </p:txBody>
      </p:sp>
      <p:sp>
        <p:nvSpPr>
          <p:cNvPr id="10" name="TextBox 9"/>
          <p:cNvSpPr txBox="1"/>
          <p:nvPr/>
        </p:nvSpPr>
        <p:spPr>
          <a:xfrm>
            <a:off x="1097280" y="5623560"/>
            <a:ext cx="10058400" cy="457200"/>
          </a:xfrm>
          <a:prstGeom prst="rect">
            <a:avLst/>
          </a:prstGeom>
          <a:noFill/>
        </p:spPr>
        <p:txBody>
          <a:bodyPr wrap="square">
            <a:spAutoFit/>
          </a:bodyPr>
          <a:lstStyle/>
          <a:p>
            <a:pPr algn="l"/>
            <a:r>
              <a:rPr sz="1100" b="0" i="0">
                <a:solidFill>
                  <a:srgbClr val="B8862A"/>
                </a:solidFill>
                <a:latin typeface="Consolas"/>
              </a:rPr>
              <a:t>MODELOS: predictor #1 = actividad física  (r = −0.911)
ENCUESTA: la población misma pide educación nutricional  →  El plan ya estaba en los datos.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  EL PLAN  ·  CENTRADO EN PERSONAS</a:t>
            </a:r>
          </a:p>
        </p:txBody>
      </p:sp>
      <p:sp>
        <p:nvSpPr>
          <p:cNvPr id="4" name="TextBox 3"/>
          <p:cNvSpPr txBox="1"/>
          <p:nvPr/>
        </p:nvSpPr>
        <p:spPr>
          <a:xfrm>
            <a:off x="548640" y="640080"/>
            <a:ext cx="10972800" cy="411480"/>
          </a:xfrm>
          <a:prstGeom prst="rect">
            <a:avLst/>
          </a:prstGeom>
          <a:noFill/>
        </p:spPr>
        <p:txBody>
          <a:bodyPr wrap="square">
            <a:spAutoFit/>
          </a:bodyPr>
          <a:lstStyle/>
          <a:p>
            <a:pPr algn="l"/>
            <a:r>
              <a:rPr sz="2400" b="1" i="0">
                <a:solidFill>
                  <a:srgbClr val="1A1612"/>
                </a:solidFill>
                <a:latin typeface="Calibri"/>
              </a:rPr>
              <a:t>Cinco componentes. Diseñados desde lo que la gente nos dijo.</a:t>
            </a:r>
          </a:p>
        </p:txBody>
      </p:sp>
      <p:sp>
        <p:nvSpPr>
          <p:cNvPr id="5" name="TextBox 4"/>
          <p:cNvSpPr txBox="1"/>
          <p:nvPr/>
        </p:nvSpPr>
        <p:spPr>
          <a:xfrm>
            <a:off x="548640" y="1097280"/>
            <a:ext cx="10972800" cy="292608"/>
          </a:xfrm>
          <a:prstGeom prst="rect">
            <a:avLst/>
          </a:prstGeom>
          <a:noFill/>
        </p:spPr>
        <p:txBody>
          <a:bodyPr wrap="square">
            <a:spAutoFit/>
          </a:bodyPr>
          <a:lstStyle/>
          <a:p>
            <a:pPr algn="l"/>
            <a:r>
              <a:rPr sz="1100" b="0" i="0">
                <a:solidFill>
                  <a:srgbClr val="7A7368"/>
                </a:solidFill>
                <a:latin typeface="Consolas"/>
              </a:rPr>
              <a:t>Secundaria (12–15 años)  ·  Refuerzo a EF + Vida Saludable  ·  Sobre lo que ya existe en el NEM 2022</a:t>
            </a:r>
          </a:p>
        </p:txBody>
      </p:sp>
      <p:sp>
        <p:nvSpPr>
          <p:cNvPr id="6" name="Rectangle 5"/>
          <p:cNvSpPr/>
          <p:nvPr/>
        </p:nvSpPr>
        <p:spPr>
          <a:xfrm>
            <a:off x="457200" y="1600200"/>
            <a:ext cx="2194560" cy="54864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45920"/>
            <a:ext cx="2194560" cy="457200"/>
          </a:xfrm>
          <a:prstGeom prst="rect">
            <a:avLst/>
          </a:prstGeom>
          <a:noFill/>
        </p:spPr>
        <p:txBody>
          <a:bodyPr wrap="square">
            <a:spAutoFit/>
          </a:bodyPr>
          <a:lstStyle/>
          <a:p>
            <a:pPr algn="ctr"/>
            <a:r>
              <a:rPr sz="3200" b="1" i="0">
                <a:solidFill>
                  <a:srgbClr val="FDF8F1"/>
                </a:solidFill>
                <a:latin typeface="Calibri"/>
              </a:rPr>
              <a:t>A</a:t>
            </a:r>
          </a:p>
        </p:txBody>
      </p:sp>
      <p:sp>
        <p:nvSpPr>
          <p:cNvPr id="8" name="Rectangle 7"/>
          <p:cNvSpPr/>
          <p:nvPr/>
        </p:nvSpPr>
        <p:spPr>
          <a:xfrm>
            <a:off x="457200" y="2194560"/>
            <a:ext cx="2194560" cy="2697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67712"/>
            <a:ext cx="1965960" cy="548640"/>
          </a:xfrm>
          <a:prstGeom prst="rect">
            <a:avLst/>
          </a:prstGeom>
          <a:noFill/>
        </p:spPr>
        <p:txBody>
          <a:bodyPr wrap="square">
            <a:spAutoFit/>
          </a:bodyPr>
          <a:lstStyle/>
          <a:p>
            <a:pPr algn="ctr"/>
            <a:r>
              <a:rPr sz="1300" b="1" i="0">
                <a:solidFill>
                  <a:srgbClr val="B8862A"/>
                </a:solidFill>
                <a:latin typeface="Calibri"/>
              </a:rPr>
              <a:t>EF
2h → 3h</a:t>
            </a:r>
          </a:p>
        </p:txBody>
      </p:sp>
      <p:sp>
        <p:nvSpPr>
          <p:cNvPr id="10" name="TextBox 9"/>
          <p:cNvSpPr txBox="1"/>
          <p:nvPr/>
        </p:nvSpPr>
        <p:spPr>
          <a:xfrm>
            <a:off x="566928" y="2880360"/>
            <a:ext cx="1965960" cy="1965960"/>
          </a:xfrm>
          <a:prstGeom prst="rect">
            <a:avLst/>
          </a:prstGeom>
          <a:noFill/>
        </p:spPr>
        <p:txBody>
          <a:bodyPr wrap="square">
            <a:spAutoFit/>
          </a:bodyPr>
          <a:lstStyle/>
          <a:p>
            <a:pPr algn="ctr"/>
            <a:r>
              <a:rPr sz="1000" b="0" i="0">
                <a:solidFill>
                  <a:srgbClr val="FDF8F1"/>
                </a:solidFill>
                <a:latin typeface="Calibri"/>
              </a:rPr>
              <a:t>Alfabetización
aplicada:
etiquetas,
snack ≤20 MXN,
mapeo del entorno</a:t>
            </a:r>
          </a:p>
        </p:txBody>
      </p:sp>
      <p:sp>
        <p:nvSpPr>
          <p:cNvPr id="11" name="Rectangle 10"/>
          <p:cNvSpPr/>
          <p:nvPr/>
        </p:nvSpPr>
        <p:spPr>
          <a:xfrm>
            <a:off x="457200" y="4937760"/>
            <a:ext cx="2194560" cy="96012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983480"/>
            <a:ext cx="1965960" cy="201168"/>
          </a:xfrm>
          <a:prstGeom prst="rect">
            <a:avLst/>
          </a:prstGeom>
          <a:noFill/>
        </p:spPr>
        <p:txBody>
          <a:bodyPr wrap="square">
            <a:spAutoFit/>
          </a:bodyPr>
          <a:lstStyle/>
          <a:p>
            <a:pPr algn="l"/>
            <a:r>
              <a:rPr sz="700" b="0" i="0">
                <a:solidFill>
                  <a:srgbClr val="B8332A"/>
                </a:solidFill>
                <a:latin typeface="Consolas"/>
              </a:rPr>
              <a:t>ANCLA EN DATOS</a:t>
            </a:r>
          </a:p>
        </p:txBody>
      </p:sp>
      <p:sp>
        <p:nvSpPr>
          <p:cNvPr id="13" name="TextBox 12"/>
          <p:cNvSpPr txBox="1"/>
          <p:nvPr/>
        </p:nvSpPr>
        <p:spPr>
          <a:xfrm>
            <a:off x="566928" y="5193792"/>
            <a:ext cx="1965960" cy="640080"/>
          </a:xfrm>
          <a:prstGeom prst="rect">
            <a:avLst/>
          </a:prstGeom>
          <a:noFill/>
        </p:spPr>
        <p:txBody>
          <a:bodyPr wrap="square">
            <a:spAutoFit/>
          </a:bodyPr>
          <a:lstStyle/>
          <a:p>
            <a:pPr algn="l"/>
            <a:r>
              <a:rPr sz="900" b="0" i="1">
                <a:solidFill>
                  <a:srgbClr val="1A1612"/>
                </a:solidFill>
                <a:latin typeface="Calibri"/>
              </a:rPr>
              <a:t>Responde al
predictor #1
(actividad física)</a:t>
            </a:r>
          </a:p>
        </p:txBody>
      </p:sp>
      <p:sp>
        <p:nvSpPr>
          <p:cNvPr id="14" name="Rectangle 13"/>
          <p:cNvSpPr/>
          <p:nvPr/>
        </p:nvSpPr>
        <p:spPr>
          <a:xfrm>
            <a:off x="2788920" y="1600200"/>
            <a:ext cx="2194560" cy="54864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88920" y="1645920"/>
            <a:ext cx="2194560" cy="457200"/>
          </a:xfrm>
          <a:prstGeom prst="rect">
            <a:avLst/>
          </a:prstGeom>
          <a:noFill/>
        </p:spPr>
        <p:txBody>
          <a:bodyPr wrap="square">
            <a:spAutoFit/>
          </a:bodyPr>
          <a:lstStyle/>
          <a:p>
            <a:pPr algn="ctr"/>
            <a:r>
              <a:rPr sz="3200" b="1" i="0">
                <a:solidFill>
                  <a:srgbClr val="FDF8F1"/>
                </a:solidFill>
                <a:latin typeface="Calibri"/>
              </a:rPr>
              <a:t>B</a:t>
            </a:r>
          </a:p>
        </p:txBody>
      </p:sp>
      <p:sp>
        <p:nvSpPr>
          <p:cNvPr id="16" name="Rectangle 15"/>
          <p:cNvSpPr/>
          <p:nvPr/>
        </p:nvSpPr>
        <p:spPr>
          <a:xfrm>
            <a:off x="2788920" y="2194560"/>
            <a:ext cx="2194560" cy="2697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98648" y="2267712"/>
            <a:ext cx="1965960" cy="548640"/>
          </a:xfrm>
          <a:prstGeom prst="rect">
            <a:avLst/>
          </a:prstGeom>
          <a:noFill/>
        </p:spPr>
        <p:txBody>
          <a:bodyPr wrap="square">
            <a:spAutoFit/>
          </a:bodyPr>
          <a:lstStyle/>
          <a:p>
            <a:pPr algn="ctr"/>
            <a:r>
              <a:rPr sz="1300" b="1" i="0">
                <a:solidFill>
                  <a:srgbClr val="B8862A"/>
                </a:solidFill>
                <a:latin typeface="Calibri"/>
              </a:rPr>
              <a:t>Auditoría
Tienditas</a:t>
            </a:r>
          </a:p>
        </p:txBody>
      </p:sp>
      <p:sp>
        <p:nvSpPr>
          <p:cNvPr id="18" name="TextBox 17"/>
          <p:cNvSpPr txBox="1"/>
          <p:nvPr/>
        </p:nvSpPr>
        <p:spPr>
          <a:xfrm>
            <a:off x="2898648" y="2880360"/>
            <a:ext cx="1965960" cy="1965960"/>
          </a:xfrm>
          <a:prstGeom prst="rect">
            <a:avLst/>
          </a:prstGeom>
          <a:noFill/>
        </p:spPr>
        <p:txBody>
          <a:bodyPr wrap="square">
            <a:spAutoFit/>
          </a:bodyPr>
          <a:lstStyle/>
          <a:p>
            <a:pPr algn="ctr"/>
            <a:r>
              <a:rPr sz="1000" b="0" i="0">
                <a:solidFill>
                  <a:srgbClr val="FDF8F1"/>
                </a:solidFill>
                <a:latin typeface="Calibri"/>
              </a:rPr>
              <a:t>Ciencia ciudadana
30 min bisemanal
Dataset nacional
geolocalizado</a:t>
            </a:r>
          </a:p>
        </p:txBody>
      </p:sp>
      <p:sp>
        <p:nvSpPr>
          <p:cNvPr id="19" name="Rectangle 18"/>
          <p:cNvSpPr/>
          <p:nvPr/>
        </p:nvSpPr>
        <p:spPr>
          <a:xfrm>
            <a:off x="2788920" y="4937760"/>
            <a:ext cx="2194560" cy="96012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98648" y="4983480"/>
            <a:ext cx="1965960" cy="201168"/>
          </a:xfrm>
          <a:prstGeom prst="rect">
            <a:avLst/>
          </a:prstGeom>
          <a:noFill/>
        </p:spPr>
        <p:txBody>
          <a:bodyPr wrap="square">
            <a:spAutoFit/>
          </a:bodyPr>
          <a:lstStyle/>
          <a:p>
            <a:pPr algn="l"/>
            <a:r>
              <a:rPr sz="700" b="0" i="0">
                <a:solidFill>
                  <a:srgbClr val="B8332A"/>
                </a:solidFill>
                <a:latin typeface="Consolas"/>
              </a:rPr>
              <a:t>ANCLA EN DATOS</a:t>
            </a:r>
          </a:p>
        </p:txBody>
      </p:sp>
      <p:sp>
        <p:nvSpPr>
          <p:cNvPr id="21" name="TextBox 20"/>
          <p:cNvSpPr txBox="1"/>
          <p:nvPr/>
        </p:nvSpPr>
        <p:spPr>
          <a:xfrm>
            <a:off x="2898648" y="5193792"/>
            <a:ext cx="1965960" cy="640080"/>
          </a:xfrm>
          <a:prstGeom prst="rect">
            <a:avLst/>
          </a:prstGeom>
          <a:noFill/>
        </p:spPr>
        <p:txBody>
          <a:bodyPr wrap="square">
            <a:spAutoFit/>
          </a:bodyPr>
          <a:lstStyle/>
          <a:p>
            <a:pPr algn="l"/>
            <a:r>
              <a:rPr sz="900" b="0" i="1">
                <a:solidFill>
                  <a:srgbClr val="1A1612"/>
                </a:solidFill>
                <a:latin typeface="Calibri"/>
              </a:rPr>
              <a:t>Responde a las
tienditas como
entorno obesogénico</a:t>
            </a:r>
          </a:p>
        </p:txBody>
      </p:sp>
      <p:sp>
        <p:nvSpPr>
          <p:cNvPr id="22" name="Rectangle 21"/>
          <p:cNvSpPr/>
          <p:nvPr/>
        </p:nvSpPr>
        <p:spPr>
          <a:xfrm>
            <a:off x="5120640" y="1600200"/>
            <a:ext cx="2194560" cy="54864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0640" y="1645920"/>
            <a:ext cx="2194560" cy="457200"/>
          </a:xfrm>
          <a:prstGeom prst="rect">
            <a:avLst/>
          </a:prstGeom>
          <a:noFill/>
        </p:spPr>
        <p:txBody>
          <a:bodyPr wrap="square">
            <a:spAutoFit/>
          </a:bodyPr>
          <a:lstStyle/>
          <a:p>
            <a:pPr algn="ctr"/>
            <a:r>
              <a:rPr sz="3200" b="1" i="0">
                <a:solidFill>
                  <a:srgbClr val="FDF8F1"/>
                </a:solidFill>
                <a:latin typeface="Calibri"/>
              </a:rPr>
              <a:t>C</a:t>
            </a:r>
          </a:p>
        </p:txBody>
      </p:sp>
      <p:sp>
        <p:nvSpPr>
          <p:cNvPr id="24" name="Rectangle 23"/>
          <p:cNvSpPr/>
          <p:nvPr/>
        </p:nvSpPr>
        <p:spPr>
          <a:xfrm>
            <a:off x="5120640" y="2194560"/>
            <a:ext cx="2194560" cy="2697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30368" y="2267712"/>
            <a:ext cx="1965960" cy="548640"/>
          </a:xfrm>
          <a:prstGeom prst="rect">
            <a:avLst/>
          </a:prstGeom>
          <a:noFill/>
        </p:spPr>
        <p:txBody>
          <a:bodyPr wrap="square">
            <a:spAutoFit/>
          </a:bodyPr>
          <a:lstStyle/>
          <a:p>
            <a:pPr algn="ctr"/>
            <a:r>
              <a:rPr sz="1300" b="1" i="0">
                <a:solidFill>
                  <a:srgbClr val="B8862A"/>
                </a:solidFill>
                <a:latin typeface="Calibri"/>
              </a:rPr>
              <a:t>Capa
Estructural</a:t>
            </a:r>
          </a:p>
        </p:txBody>
      </p:sp>
      <p:sp>
        <p:nvSpPr>
          <p:cNvPr id="26" name="TextBox 25"/>
          <p:cNvSpPr txBox="1"/>
          <p:nvPr/>
        </p:nvSpPr>
        <p:spPr>
          <a:xfrm>
            <a:off x="5230368" y="2880360"/>
            <a:ext cx="1965960" cy="1965960"/>
          </a:xfrm>
          <a:prstGeom prst="rect">
            <a:avLst/>
          </a:prstGeom>
          <a:noFill/>
        </p:spPr>
        <p:txBody>
          <a:bodyPr wrap="square">
            <a:spAutoFit/>
          </a:bodyPr>
          <a:lstStyle/>
          <a:p>
            <a:pPr algn="ctr"/>
            <a:r>
              <a:rPr sz="1000" b="0" i="0">
                <a:solidFill>
                  <a:srgbClr val="FDF8F1"/>
                </a:solidFill>
                <a:latin typeface="Calibri"/>
              </a:rPr>
              <a:t>Nudges en
tiendas socias
Reposicionamiento
de productos</a:t>
            </a:r>
          </a:p>
        </p:txBody>
      </p:sp>
      <p:sp>
        <p:nvSpPr>
          <p:cNvPr id="27" name="Rectangle 26"/>
          <p:cNvSpPr/>
          <p:nvPr/>
        </p:nvSpPr>
        <p:spPr>
          <a:xfrm>
            <a:off x="5120640" y="4937760"/>
            <a:ext cx="2194560" cy="96012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30368" y="4983480"/>
            <a:ext cx="1965960" cy="201168"/>
          </a:xfrm>
          <a:prstGeom prst="rect">
            <a:avLst/>
          </a:prstGeom>
          <a:noFill/>
        </p:spPr>
        <p:txBody>
          <a:bodyPr wrap="square">
            <a:spAutoFit/>
          </a:bodyPr>
          <a:lstStyle/>
          <a:p>
            <a:pPr algn="l"/>
            <a:r>
              <a:rPr sz="700" b="0" i="0">
                <a:solidFill>
                  <a:srgbClr val="B8332A"/>
                </a:solidFill>
                <a:latin typeface="Consolas"/>
              </a:rPr>
              <a:t>ANCLA EN DATOS</a:t>
            </a:r>
          </a:p>
        </p:txBody>
      </p:sp>
      <p:sp>
        <p:nvSpPr>
          <p:cNvPr id="29" name="TextBox 28"/>
          <p:cNvSpPr txBox="1"/>
          <p:nvPr/>
        </p:nvSpPr>
        <p:spPr>
          <a:xfrm>
            <a:off x="5230368" y="5193792"/>
            <a:ext cx="1965960" cy="640080"/>
          </a:xfrm>
          <a:prstGeom prst="rect">
            <a:avLst/>
          </a:prstGeom>
          <a:noFill/>
        </p:spPr>
        <p:txBody>
          <a:bodyPr wrap="square">
            <a:spAutoFit/>
          </a:bodyPr>
          <a:lstStyle/>
          <a:p>
            <a:pPr algn="l"/>
            <a:r>
              <a:rPr sz="900" b="0" i="1">
                <a:solidFill>
                  <a:srgbClr val="1A1612"/>
                </a:solidFill>
                <a:latin typeface="Calibri"/>
              </a:rPr>
              <a:t>Responde a la
falta de tiempo
en el punto de venta</a:t>
            </a:r>
          </a:p>
        </p:txBody>
      </p:sp>
      <p:sp>
        <p:nvSpPr>
          <p:cNvPr id="30" name="Rectangle 29"/>
          <p:cNvSpPr/>
          <p:nvPr/>
        </p:nvSpPr>
        <p:spPr>
          <a:xfrm>
            <a:off x="7452359" y="1600200"/>
            <a:ext cx="2194560" cy="54864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52359" y="1645920"/>
            <a:ext cx="2194560" cy="457200"/>
          </a:xfrm>
          <a:prstGeom prst="rect">
            <a:avLst/>
          </a:prstGeom>
          <a:noFill/>
        </p:spPr>
        <p:txBody>
          <a:bodyPr wrap="square">
            <a:spAutoFit/>
          </a:bodyPr>
          <a:lstStyle/>
          <a:p>
            <a:pPr algn="ctr"/>
            <a:r>
              <a:rPr sz="3200" b="1" i="0">
                <a:solidFill>
                  <a:srgbClr val="FDF8F1"/>
                </a:solidFill>
                <a:latin typeface="Calibri"/>
              </a:rPr>
              <a:t>D</a:t>
            </a:r>
          </a:p>
        </p:txBody>
      </p:sp>
      <p:sp>
        <p:nvSpPr>
          <p:cNvPr id="32" name="Rectangle 31"/>
          <p:cNvSpPr/>
          <p:nvPr/>
        </p:nvSpPr>
        <p:spPr>
          <a:xfrm>
            <a:off x="7452359" y="2194560"/>
            <a:ext cx="2194560" cy="2697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62087" y="2267712"/>
            <a:ext cx="1965960" cy="548640"/>
          </a:xfrm>
          <a:prstGeom prst="rect">
            <a:avLst/>
          </a:prstGeom>
          <a:noFill/>
        </p:spPr>
        <p:txBody>
          <a:bodyPr wrap="square">
            <a:spAutoFit/>
          </a:bodyPr>
          <a:lstStyle/>
          <a:p>
            <a:pPr algn="ctr"/>
            <a:r>
              <a:rPr sz="1300" b="1" i="0">
                <a:solidFill>
                  <a:srgbClr val="B8862A"/>
                </a:solidFill>
                <a:latin typeface="Calibri"/>
              </a:rPr>
              <a:t>CPD
Docente</a:t>
            </a:r>
          </a:p>
        </p:txBody>
      </p:sp>
      <p:sp>
        <p:nvSpPr>
          <p:cNvPr id="34" name="TextBox 33"/>
          <p:cNvSpPr txBox="1"/>
          <p:nvPr/>
        </p:nvSpPr>
        <p:spPr>
          <a:xfrm>
            <a:off x="7562087" y="2880360"/>
            <a:ext cx="1965960" cy="1965960"/>
          </a:xfrm>
          <a:prstGeom prst="rect">
            <a:avLst/>
          </a:prstGeom>
          <a:noFill/>
        </p:spPr>
        <p:txBody>
          <a:bodyPr wrap="square">
            <a:spAutoFit/>
          </a:bodyPr>
          <a:lstStyle/>
          <a:p>
            <a:pPr algn="ctr"/>
            <a:r>
              <a:rPr sz="1000" b="0" i="0">
                <a:solidFill>
                  <a:srgbClr val="FDF8F1"/>
                </a:solidFill>
                <a:latin typeface="Calibri"/>
              </a:rPr>
              <a:t>8h asíncrona
+ 4h opcional
Pedagogía de
autonomía</a:t>
            </a:r>
          </a:p>
        </p:txBody>
      </p:sp>
      <p:sp>
        <p:nvSpPr>
          <p:cNvPr id="35" name="Rectangle 34"/>
          <p:cNvSpPr/>
          <p:nvPr/>
        </p:nvSpPr>
        <p:spPr>
          <a:xfrm>
            <a:off x="7452359" y="4937760"/>
            <a:ext cx="2194560" cy="96012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562087" y="4983480"/>
            <a:ext cx="1965960" cy="201168"/>
          </a:xfrm>
          <a:prstGeom prst="rect">
            <a:avLst/>
          </a:prstGeom>
          <a:noFill/>
        </p:spPr>
        <p:txBody>
          <a:bodyPr wrap="square">
            <a:spAutoFit/>
          </a:bodyPr>
          <a:lstStyle/>
          <a:p>
            <a:pPr algn="l"/>
            <a:r>
              <a:rPr sz="700" b="0" i="0">
                <a:solidFill>
                  <a:srgbClr val="B8332A"/>
                </a:solidFill>
                <a:latin typeface="Consolas"/>
              </a:rPr>
              <a:t>ANCLA EN DATOS</a:t>
            </a:r>
          </a:p>
        </p:txBody>
      </p:sp>
      <p:sp>
        <p:nvSpPr>
          <p:cNvPr id="37" name="TextBox 36"/>
          <p:cNvSpPr txBox="1"/>
          <p:nvPr/>
        </p:nvSpPr>
        <p:spPr>
          <a:xfrm>
            <a:off x="7562087" y="5193792"/>
            <a:ext cx="1965960" cy="640080"/>
          </a:xfrm>
          <a:prstGeom prst="rect">
            <a:avLst/>
          </a:prstGeom>
          <a:noFill/>
        </p:spPr>
        <p:txBody>
          <a:bodyPr wrap="square">
            <a:spAutoFit/>
          </a:bodyPr>
          <a:lstStyle/>
          <a:p>
            <a:pPr algn="l"/>
            <a:r>
              <a:rPr sz="900" b="0" i="1">
                <a:solidFill>
                  <a:srgbClr val="1A1612"/>
                </a:solidFill>
                <a:latin typeface="Calibri"/>
              </a:rPr>
              <a:t>Asegura fidelidad
de implementación</a:t>
            </a:r>
          </a:p>
        </p:txBody>
      </p:sp>
      <p:sp>
        <p:nvSpPr>
          <p:cNvPr id="38" name="Rectangle 37"/>
          <p:cNvSpPr/>
          <p:nvPr/>
        </p:nvSpPr>
        <p:spPr>
          <a:xfrm>
            <a:off x="9784080" y="1600200"/>
            <a:ext cx="2194560" cy="54864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784080" y="1645920"/>
            <a:ext cx="2194560" cy="457200"/>
          </a:xfrm>
          <a:prstGeom prst="rect">
            <a:avLst/>
          </a:prstGeom>
          <a:noFill/>
        </p:spPr>
        <p:txBody>
          <a:bodyPr wrap="square">
            <a:spAutoFit/>
          </a:bodyPr>
          <a:lstStyle/>
          <a:p>
            <a:pPr algn="ctr"/>
            <a:r>
              <a:rPr sz="3200" b="1" i="0">
                <a:solidFill>
                  <a:srgbClr val="FDF8F1"/>
                </a:solidFill>
                <a:latin typeface="Calibri"/>
              </a:rPr>
              <a:t>E</a:t>
            </a:r>
          </a:p>
        </p:txBody>
      </p:sp>
      <p:sp>
        <p:nvSpPr>
          <p:cNvPr id="40" name="Rectangle 39"/>
          <p:cNvSpPr/>
          <p:nvPr/>
        </p:nvSpPr>
        <p:spPr>
          <a:xfrm>
            <a:off x="9784080" y="2194560"/>
            <a:ext cx="2194560" cy="2697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93807" y="2267712"/>
            <a:ext cx="1965960" cy="548640"/>
          </a:xfrm>
          <a:prstGeom prst="rect">
            <a:avLst/>
          </a:prstGeom>
          <a:noFill/>
        </p:spPr>
        <p:txBody>
          <a:bodyPr wrap="square">
            <a:spAutoFit/>
          </a:bodyPr>
          <a:lstStyle/>
          <a:p>
            <a:pPr algn="ctr"/>
            <a:r>
              <a:rPr sz="1300" b="1" i="0">
                <a:solidFill>
                  <a:srgbClr val="B8862A"/>
                </a:solidFill>
                <a:latin typeface="Calibri"/>
              </a:rPr>
              <a:t>Puente
Familiar</a:t>
            </a:r>
          </a:p>
        </p:txBody>
      </p:sp>
      <p:sp>
        <p:nvSpPr>
          <p:cNvPr id="42" name="TextBox 41"/>
          <p:cNvSpPr txBox="1"/>
          <p:nvPr/>
        </p:nvSpPr>
        <p:spPr>
          <a:xfrm>
            <a:off x="9893807" y="2880360"/>
            <a:ext cx="1965960" cy="1965960"/>
          </a:xfrm>
          <a:prstGeom prst="rect">
            <a:avLst/>
          </a:prstGeom>
          <a:noFill/>
        </p:spPr>
        <p:txBody>
          <a:bodyPr wrap="square">
            <a:spAutoFit/>
          </a:bodyPr>
          <a:lstStyle/>
          <a:p>
            <a:pPr algn="ctr"/>
            <a:r>
              <a:rPr sz="1000" b="0" i="0">
                <a:solidFill>
                  <a:srgbClr val="FDF8F1"/>
                </a:solidFill>
                <a:latin typeface="Calibri"/>
              </a:rPr>
              <a:t>Invitación
mensual
No es tarea
Respeta el tiempo</a:t>
            </a:r>
          </a:p>
        </p:txBody>
      </p:sp>
      <p:sp>
        <p:nvSpPr>
          <p:cNvPr id="43" name="Rectangle 42"/>
          <p:cNvSpPr/>
          <p:nvPr/>
        </p:nvSpPr>
        <p:spPr>
          <a:xfrm>
            <a:off x="9784080" y="4937760"/>
            <a:ext cx="2194560" cy="96012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893807" y="4983480"/>
            <a:ext cx="1965960" cy="201168"/>
          </a:xfrm>
          <a:prstGeom prst="rect">
            <a:avLst/>
          </a:prstGeom>
          <a:noFill/>
        </p:spPr>
        <p:txBody>
          <a:bodyPr wrap="square">
            <a:spAutoFit/>
          </a:bodyPr>
          <a:lstStyle/>
          <a:p>
            <a:pPr algn="l"/>
            <a:r>
              <a:rPr sz="700" b="0" i="0">
                <a:solidFill>
                  <a:srgbClr val="B8332A"/>
                </a:solidFill>
                <a:latin typeface="Consolas"/>
              </a:rPr>
              <a:t>ANCLA EN DATOS</a:t>
            </a:r>
          </a:p>
        </p:txBody>
      </p:sp>
      <p:sp>
        <p:nvSpPr>
          <p:cNvPr id="45" name="TextBox 44"/>
          <p:cNvSpPr txBox="1"/>
          <p:nvPr/>
        </p:nvSpPr>
        <p:spPr>
          <a:xfrm>
            <a:off x="9893807" y="5193792"/>
            <a:ext cx="1965960" cy="640080"/>
          </a:xfrm>
          <a:prstGeom prst="rect">
            <a:avLst/>
          </a:prstGeom>
          <a:noFill/>
        </p:spPr>
        <p:txBody>
          <a:bodyPr wrap="square">
            <a:spAutoFit/>
          </a:bodyPr>
          <a:lstStyle/>
          <a:p>
            <a:pPr algn="l"/>
            <a:r>
              <a:rPr sz="900" b="0" i="1">
                <a:solidFill>
                  <a:srgbClr val="1A1612"/>
                </a:solidFill>
                <a:latin typeface="Calibri"/>
              </a:rPr>
              <a:t>Responde a la
barrera #1 de la
encuesta</a:t>
            </a:r>
          </a:p>
        </p:txBody>
      </p:sp>
      <p:sp>
        <p:nvSpPr>
          <p:cNvPr id="46" name="Rectangle 45"/>
          <p:cNvSpPr/>
          <p:nvPr/>
        </p:nvSpPr>
        <p:spPr>
          <a:xfrm>
            <a:off x="457200" y="5989320"/>
            <a:ext cx="11338560" cy="411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6053328"/>
            <a:ext cx="10972800" cy="274320"/>
          </a:xfrm>
          <a:prstGeom prst="rect">
            <a:avLst/>
          </a:prstGeom>
          <a:noFill/>
        </p:spPr>
        <p:txBody>
          <a:bodyPr wrap="square">
            <a:spAutoFit/>
          </a:bodyPr>
          <a:lstStyle/>
          <a:p>
            <a:pPr algn="l"/>
            <a:r>
              <a:rPr sz="1100" b="0" i="0">
                <a:solidFill>
                  <a:srgbClr val="B8862A"/>
                </a:solidFill>
                <a:latin typeface="Consolas"/>
              </a:rPr>
              <a:t>Costo: MXN 12,000/escuela/año  ·  Nacional: MXN 420M  ·  &lt; 0.1% presupuesto SEP  ·  Sin reforma legislativa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DASHBOARD  ·  MONTE CARLO  ·  PROBAMOS EL PLAN ANTES DE PROPONERLO</a:t>
            </a:r>
          </a:p>
        </p:txBody>
      </p:sp>
      <p:sp>
        <p:nvSpPr>
          <p:cNvPr id="4" name="TextBox 3"/>
          <p:cNvSpPr txBox="1"/>
          <p:nvPr/>
        </p:nvSpPr>
        <p:spPr>
          <a:xfrm>
            <a:off x="548640" y="640080"/>
            <a:ext cx="10972800" cy="411480"/>
          </a:xfrm>
          <a:prstGeom prst="rect">
            <a:avLst/>
          </a:prstGeom>
          <a:noFill/>
        </p:spPr>
        <p:txBody>
          <a:bodyPr wrap="square">
            <a:spAutoFit/>
          </a:bodyPr>
          <a:lstStyle/>
          <a:p>
            <a:pPr algn="l"/>
            <a:r>
              <a:rPr sz="2400" b="1" i="0">
                <a:solidFill>
                  <a:srgbClr val="1A1612"/>
                </a:solidFill>
                <a:latin typeface="Calibri"/>
              </a:rPr>
              <a:t>5,000 corridas. 5 escenarios. Incertidumbre honesta.</a:t>
            </a:r>
          </a:p>
        </p:txBody>
      </p:sp>
      <p:sp>
        <p:nvSpPr>
          <p:cNvPr id="5" name="Rectangle 4"/>
          <p:cNvSpPr/>
          <p:nvPr/>
        </p:nvSpPr>
        <p:spPr>
          <a:xfrm>
            <a:off x="457200" y="1280160"/>
            <a:ext cx="2194560" cy="365760"/>
          </a:xfrm>
          <a:prstGeom prst="rect">
            <a:avLst/>
          </a:prstGeom>
          <a:solidFill>
            <a:srgbClr val="B88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25880"/>
            <a:ext cx="2194560" cy="310896"/>
          </a:xfrm>
          <a:prstGeom prst="rect">
            <a:avLst/>
          </a:prstGeom>
          <a:noFill/>
        </p:spPr>
        <p:txBody>
          <a:bodyPr wrap="square">
            <a:spAutoFit/>
          </a:bodyPr>
          <a:lstStyle/>
          <a:p>
            <a:pPr algn="ctr"/>
            <a:r>
              <a:rPr sz="900" b="1" i="0">
                <a:solidFill>
                  <a:srgbClr val="1A1612"/>
                </a:solidFill>
                <a:latin typeface="Consolas"/>
              </a:rPr>
              <a:t>OPTIMISTA</a:t>
            </a:r>
          </a:p>
        </p:txBody>
      </p:sp>
      <p:sp>
        <p:nvSpPr>
          <p:cNvPr id="7" name="Rectangle 6"/>
          <p:cNvSpPr/>
          <p:nvPr/>
        </p:nvSpPr>
        <p:spPr>
          <a:xfrm>
            <a:off x="457200" y="1691640"/>
            <a:ext cx="2194560" cy="1554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10512"/>
            <a:ext cx="2011680" cy="960120"/>
          </a:xfrm>
          <a:prstGeom prst="rect">
            <a:avLst/>
          </a:prstGeom>
          <a:noFill/>
        </p:spPr>
        <p:txBody>
          <a:bodyPr wrap="square">
            <a:spAutoFit/>
          </a:bodyPr>
          <a:lstStyle/>
          <a:p>
            <a:pPr algn="ctr"/>
            <a:r>
              <a:rPr sz="2400" b="1" i="0">
                <a:solidFill>
                  <a:srgbClr val="B8332A"/>
                </a:solidFill>
                <a:latin typeface="Calibri"/>
              </a:rPr>
              <a:t>−0.95 kg/m²</a:t>
            </a:r>
          </a:p>
        </p:txBody>
      </p:sp>
      <p:sp>
        <p:nvSpPr>
          <p:cNvPr id="9" name="TextBox 8"/>
          <p:cNvSpPr txBox="1"/>
          <p:nvPr/>
        </p:nvSpPr>
        <p:spPr>
          <a:xfrm>
            <a:off x="548640" y="2852928"/>
            <a:ext cx="2011680" cy="365760"/>
          </a:xfrm>
          <a:prstGeom prst="rect">
            <a:avLst/>
          </a:prstGeom>
          <a:noFill/>
        </p:spPr>
        <p:txBody>
          <a:bodyPr wrap="square">
            <a:spAutoFit/>
          </a:bodyPr>
          <a:lstStyle/>
          <a:p>
            <a:pPr algn="ctr"/>
            <a:r>
              <a:rPr sz="1000" b="0" i="0">
                <a:solidFill>
                  <a:srgbClr val="C8BEB0"/>
                </a:solidFill>
                <a:latin typeface="Calibri"/>
              </a:rPr>
              <a:t>Cota superior
IC 95%</a:t>
            </a:r>
          </a:p>
        </p:txBody>
      </p:sp>
      <p:sp>
        <p:nvSpPr>
          <p:cNvPr id="10" name="Rectangle 9"/>
          <p:cNvSpPr/>
          <p:nvPr/>
        </p:nvSpPr>
        <p:spPr>
          <a:xfrm>
            <a:off x="2788920" y="1280160"/>
            <a:ext cx="2194560" cy="3657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20" y="1325880"/>
            <a:ext cx="2194560" cy="310896"/>
          </a:xfrm>
          <a:prstGeom prst="rect">
            <a:avLst/>
          </a:prstGeom>
          <a:noFill/>
        </p:spPr>
        <p:txBody>
          <a:bodyPr wrap="square">
            <a:spAutoFit/>
          </a:bodyPr>
          <a:lstStyle/>
          <a:p>
            <a:pPr algn="ctr"/>
            <a:r>
              <a:rPr sz="900" b="1" i="0">
                <a:solidFill>
                  <a:srgbClr val="FDF8F1"/>
                </a:solidFill>
                <a:latin typeface="Consolas"/>
              </a:rPr>
              <a:t>CENTRAL</a:t>
            </a:r>
          </a:p>
        </p:txBody>
      </p:sp>
      <p:sp>
        <p:nvSpPr>
          <p:cNvPr id="12" name="Rectangle 11"/>
          <p:cNvSpPr/>
          <p:nvPr/>
        </p:nvSpPr>
        <p:spPr>
          <a:xfrm>
            <a:off x="2788920" y="1691640"/>
            <a:ext cx="2194560" cy="1554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80360" y="1810512"/>
            <a:ext cx="2011680" cy="960120"/>
          </a:xfrm>
          <a:prstGeom prst="rect">
            <a:avLst/>
          </a:prstGeom>
          <a:noFill/>
        </p:spPr>
        <p:txBody>
          <a:bodyPr wrap="square">
            <a:spAutoFit/>
          </a:bodyPr>
          <a:lstStyle/>
          <a:p>
            <a:pPr algn="ctr"/>
            <a:r>
              <a:rPr sz="2400" b="1" i="0">
                <a:solidFill>
                  <a:srgbClr val="B8332A"/>
                </a:solidFill>
                <a:latin typeface="Calibri"/>
              </a:rPr>
              <a:t>−0.68 kg/m²</a:t>
            </a:r>
          </a:p>
        </p:txBody>
      </p:sp>
      <p:sp>
        <p:nvSpPr>
          <p:cNvPr id="14" name="TextBox 13"/>
          <p:cNvSpPr txBox="1"/>
          <p:nvPr/>
        </p:nvSpPr>
        <p:spPr>
          <a:xfrm>
            <a:off x="2880360" y="2852928"/>
            <a:ext cx="2011680" cy="365760"/>
          </a:xfrm>
          <a:prstGeom prst="rect">
            <a:avLst/>
          </a:prstGeom>
          <a:noFill/>
        </p:spPr>
        <p:txBody>
          <a:bodyPr wrap="square">
            <a:spAutoFit/>
          </a:bodyPr>
          <a:lstStyle/>
          <a:p>
            <a:pPr algn="ctr"/>
            <a:r>
              <a:rPr sz="1000" b="0" i="0">
                <a:solidFill>
                  <a:srgbClr val="C8BEB0"/>
                </a:solidFill>
                <a:latin typeface="Calibri"/>
              </a:rPr>
              <a:t>Estimaciones
punto publicadas</a:t>
            </a:r>
          </a:p>
        </p:txBody>
      </p:sp>
      <p:sp>
        <p:nvSpPr>
          <p:cNvPr id="15" name="Rectangle 14"/>
          <p:cNvSpPr/>
          <p:nvPr/>
        </p:nvSpPr>
        <p:spPr>
          <a:xfrm>
            <a:off x="5120640" y="1280160"/>
            <a:ext cx="2194560" cy="365760"/>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1325880"/>
            <a:ext cx="2194560" cy="310896"/>
          </a:xfrm>
          <a:prstGeom prst="rect">
            <a:avLst/>
          </a:prstGeom>
          <a:noFill/>
        </p:spPr>
        <p:txBody>
          <a:bodyPr wrap="square">
            <a:spAutoFit/>
          </a:bodyPr>
          <a:lstStyle/>
          <a:p>
            <a:pPr algn="ctr"/>
            <a:r>
              <a:rPr sz="900" b="1" i="0">
                <a:solidFill>
                  <a:srgbClr val="FDF8F1"/>
                </a:solidFill>
                <a:latin typeface="Consolas"/>
              </a:rPr>
              <a:t>CONSERVADOR</a:t>
            </a:r>
          </a:p>
        </p:txBody>
      </p:sp>
      <p:sp>
        <p:nvSpPr>
          <p:cNvPr id="17" name="Rectangle 16"/>
          <p:cNvSpPr/>
          <p:nvPr/>
        </p:nvSpPr>
        <p:spPr>
          <a:xfrm>
            <a:off x="5120640" y="1691640"/>
            <a:ext cx="2194560" cy="15544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79" y="1810512"/>
            <a:ext cx="2011680" cy="960120"/>
          </a:xfrm>
          <a:prstGeom prst="rect">
            <a:avLst/>
          </a:prstGeom>
          <a:noFill/>
        </p:spPr>
        <p:txBody>
          <a:bodyPr wrap="square">
            <a:spAutoFit/>
          </a:bodyPr>
          <a:lstStyle/>
          <a:p>
            <a:pPr algn="ctr"/>
            <a:r>
              <a:rPr sz="2400" b="1" i="0">
                <a:solidFill>
                  <a:srgbClr val="C8BEB0"/>
                </a:solidFill>
                <a:latin typeface="Calibri"/>
              </a:rPr>
              <a:t>−0.30 kg/m²</a:t>
            </a:r>
          </a:p>
        </p:txBody>
      </p:sp>
      <p:sp>
        <p:nvSpPr>
          <p:cNvPr id="19" name="TextBox 18"/>
          <p:cNvSpPr txBox="1"/>
          <p:nvPr/>
        </p:nvSpPr>
        <p:spPr>
          <a:xfrm>
            <a:off x="5212079" y="2852928"/>
            <a:ext cx="2011680" cy="365760"/>
          </a:xfrm>
          <a:prstGeom prst="rect">
            <a:avLst/>
          </a:prstGeom>
          <a:noFill/>
        </p:spPr>
        <p:txBody>
          <a:bodyPr wrap="square">
            <a:spAutoFit/>
          </a:bodyPr>
          <a:lstStyle/>
          <a:p>
            <a:pPr algn="ctr"/>
            <a:r>
              <a:rPr sz="1000" b="0" i="0">
                <a:solidFill>
                  <a:srgbClr val="C8BEB0"/>
                </a:solidFill>
                <a:latin typeface="Calibri"/>
              </a:rPr>
              <a:t>Cota inferior
publicada</a:t>
            </a:r>
          </a:p>
        </p:txBody>
      </p:sp>
      <p:sp>
        <p:nvSpPr>
          <p:cNvPr id="20" name="Rectangle 19"/>
          <p:cNvSpPr/>
          <p:nvPr/>
        </p:nvSpPr>
        <p:spPr>
          <a:xfrm>
            <a:off x="7452359" y="1280160"/>
            <a:ext cx="2194560" cy="3657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59" y="1325880"/>
            <a:ext cx="2194560" cy="310896"/>
          </a:xfrm>
          <a:prstGeom prst="rect">
            <a:avLst/>
          </a:prstGeom>
          <a:noFill/>
        </p:spPr>
        <p:txBody>
          <a:bodyPr wrap="square">
            <a:spAutoFit/>
          </a:bodyPr>
          <a:lstStyle/>
          <a:p>
            <a:pPr algn="ctr"/>
            <a:r>
              <a:rPr sz="900" b="1" i="0">
                <a:solidFill>
                  <a:srgbClr val="C8BEB0"/>
                </a:solidFill>
                <a:latin typeface="Consolas"/>
              </a:rPr>
              <a:t>NULO ★</a:t>
            </a:r>
          </a:p>
        </p:txBody>
      </p:sp>
      <p:sp>
        <p:nvSpPr>
          <p:cNvPr id="22" name="Rectangle 21"/>
          <p:cNvSpPr/>
          <p:nvPr/>
        </p:nvSpPr>
        <p:spPr>
          <a:xfrm>
            <a:off x="7452359" y="1691640"/>
            <a:ext cx="2194560" cy="155448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43799" y="1810512"/>
            <a:ext cx="2011680" cy="960120"/>
          </a:xfrm>
          <a:prstGeom prst="rect">
            <a:avLst/>
          </a:prstGeom>
          <a:noFill/>
        </p:spPr>
        <p:txBody>
          <a:bodyPr wrap="square">
            <a:spAutoFit/>
          </a:bodyPr>
          <a:lstStyle/>
          <a:p>
            <a:pPr algn="ctr"/>
            <a:r>
              <a:rPr sz="2400" b="1" i="0">
                <a:solidFill>
                  <a:srgbClr val="C8BEB0"/>
                </a:solidFill>
                <a:latin typeface="Calibri"/>
              </a:rPr>
              <a:t> 0.00 kg/m²</a:t>
            </a:r>
          </a:p>
        </p:txBody>
      </p:sp>
      <p:sp>
        <p:nvSpPr>
          <p:cNvPr id="24" name="TextBox 23"/>
          <p:cNvSpPr txBox="1"/>
          <p:nvPr/>
        </p:nvSpPr>
        <p:spPr>
          <a:xfrm>
            <a:off x="7543799" y="2852928"/>
            <a:ext cx="2011680" cy="365760"/>
          </a:xfrm>
          <a:prstGeom prst="rect">
            <a:avLst/>
          </a:prstGeom>
          <a:noFill/>
        </p:spPr>
        <p:txBody>
          <a:bodyPr wrap="square">
            <a:spAutoFit/>
          </a:bodyPr>
          <a:lstStyle/>
          <a:p>
            <a:pPr algn="ctr"/>
            <a:r>
              <a:rPr sz="1000" b="0" i="0">
                <a:solidFill>
                  <a:srgbClr val="C8BEB0"/>
                </a:solidFill>
                <a:latin typeface="Calibri"/>
              </a:rPr>
              <a:t>MA 2021
largo plazo</a:t>
            </a:r>
          </a:p>
        </p:txBody>
      </p:sp>
      <p:sp>
        <p:nvSpPr>
          <p:cNvPr id="25" name="Rectangle 24"/>
          <p:cNvSpPr/>
          <p:nvPr/>
        </p:nvSpPr>
        <p:spPr>
          <a:xfrm>
            <a:off x="9784080" y="1280160"/>
            <a:ext cx="2194560" cy="3657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1325880"/>
            <a:ext cx="2194560" cy="310896"/>
          </a:xfrm>
          <a:prstGeom prst="rect">
            <a:avLst/>
          </a:prstGeom>
          <a:noFill/>
        </p:spPr>
        <p:txBody>
          <a:bodyPr wrap="square">
            <a:spAutoFit/>
          </a:bodyPr>
          <a:lstStyle/>
          <a:p>
            <a:pPr algn="ctr"/>
            <a:r>
              <a:rPr sz="900" b="1" i="0">
                <a:solidFill>
                  <a:srgbClr val="7A7368"/>
                </a:solidFill>
                <a:latin typeface="Consolas"/>
              </a:rPr>
              <a:t>BASELINE</a:t>
            </a:r>
          </a:p>
        </p:txBody>
      </p:sp>
      <p:sp>
        <p:nvSpPr>
          <p:cNvPr id="27" name="Rectangle 26"/>
          <p:cNvSpPr/>
          <p:nvPr/>
        </p:nvSpPr>
        <p:spPr>
          <a:xfrm>
            <a:off x="9784080" y="1691640"/>
            <a:ext cx="2194560" cy="155448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75519" y="1810512"/>
            <a:ext cx="2011680" cy="960120"/>
          </a:xfrm>
          <a:prstGeom prst="rect">
            <a:avLst/>
          </a:prstGeom>
          <a:noFill/>
        </p:spPr>
        <p:txBody>
          <a:bodyPr wrap="square">
            <a:spAutoFit/>
          </a:bodyPr>
          <a:lstStyle/>
          <a:p>
            <a:pPr algn="ctr"/>
            <a:r>
              <a:rPr sz="2400" b="1" i="0">
                <a:solidFill>
                  <a:srgbClr val="C8BEB0"/>
                </a:solidFill>
                <a:latin typeface="Calibri"/>
              </a:rPr>
              <a:t>+0.45 kg/m²</a:t>
            </a:r>
          </a:p>
        </p:txBody>
      </p:sp>
      <p:sp>
        <p:nvSpPr>
          <p:cNvPr id="29" name="TextBox 28"/>
          <p:cNvSpPr txBox="1"/>
          <p:nvPr/>
        </p:nvSpPr>
        <p:spPr>
          <a:xfrm>
            <a:off x="9875519" y="2852928"/>
            <a:ext cx="2011680" cy="365760"/>
          </a:xfrm>
          <a:prstGeom prst="rect">
            <a:avLst/>
          </a:prstGeom>
          <a:noFill/>
        </p:spPr>
        <p:txBody>
          <a:bodyPr wrap="square">
            <a:spAutoFit/>
          </a:bodyPr>
          <a:lstStyle/>
          <a:p>
            <a:pPr algn="ctr"/>
            <a:r>
              <a:rPr sz="1000" b="0" i="0">
                <a:solidFill>
                  <a:srgbClr val="C8BEB0"/>
                </a:solidFill>
                <a:latin typeface="Calibri"/>
              </a:rPr>
              <a:t>Sin intervención
crecimiento</a:t>
            </a:r>
          </a:p>
        </p:txBody>
      </p:sp>
      <p:sp>
        <p:nvSpPr>
          <p:cNvPr id="30" name="TextBox 29"/>
          <p:cNvSpPr txBox="1"/>
          <p:nvPr/>
        </p:nvSpPr>
        <p:spPr>
          <a:xfrm>
            <a:off x="548640" y="3474720"/>
            <a:ext cx="10972800" cy="256032"/>
          </a:xfrm>
          <a:prstGeom prst="rect">
            <a:avLst/>
          </a:prstGeom>
          <a:noFill/>
        </p:spPr>
        <p:txBody>
          <a:bodyPr wrap="square">
            <a:spAutoFit/>
          </a:bodyPr>
          <a:lstStyle/>
          <a:p>
            <a:pPr algn="l"/>
            <a:r>
              <a:rPr sz="900" b="0" i="0">
                <a:solidFill>
                  <a:srgbClr val="B8862A"/>
                </a:solidFill>
                <a:latin typeface="Consolas"/>
              </a:rPr>
              <a:t>PARÁMETROS DE EFECTO — META-ANÁLISIS PUBLICADOS</a:t>
            </a:r>
          </a:p>
        </p:txBody>
      </p:sp>
      <p:sp>
        <p:nvSpPr>
          <p:cNvPr id="31" name="Rectangle 30"/>
          <p:cNvSpPr/>
          <p:nvPr/>
        </p:nvSpPr>
        <p:spPr>
          <a:xfrm>
            <a:off x="457200" y="3749039"/>
            <a:ext cx="434340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785615"/>
            <a:ext cx="4251959" cy="237744"/>
          </a:xfrm>
          <a:prstGeom prst="rect">
            <a:avLst/>
          </a:prstGeom>
          <a:noFill/>
        </p:spPr>
        <p:txBody>
          <a:bodyPr wrap="square">
            <a:spAutoFit/>
          </a:bodyPr>
          <a:lstStyle/>
          <a:p>
            <a:pPr algn="l"/>
            <a:r>
              <a:rPr sz="900" b="1" i="0">
                <a:solidFill>
                  <a:srgbClr val="B8862A"/>
                </a:solidFill>
                <a:latin typeface="Consolas"/>
              </a:rPr>
              <a:t>Componente</a:t>
            </a:r>
          </a:p>
        </p:txBody>
      </p:sp>
      <p:sp>
        <p:nvSpPr>
          <p:cNvPr id="33" name="Rectangle 32"/>
          <p:cNvSpPr/>
          <p:nvPr/>
        </p:nvSpPr>
        <p:spPr>
          <a:xfrm>
            <a:off x="5029200" y="3749039"/>
            <a:ext cx="187452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0" y="3785615"/>
            <a:ext cx="1783080" cy="237744"/>
          </a:xfrm>
          <a:prstGeom prst="rect">
            <a:avLst/>
          </a:prstGeom>
          <a:noFill/>
        </p:spPr>
        <p:txBody>
          <a:bodyPr wrap="square">
            <a:spAutoFit/>
          </a:bodyPr>
          <a:lstStyle/>
          <a:p>
            <a:pPr algn="l"/>
            <a:r>
              <a:rPr sz="900" b="1" i="0">
                <a:solidFill>
                  <a:srgbClr val="B8862A"/>
                </a:solidFill>
                <a:latin typeface="Consolas"/>
              </a:rPr>
              <a:t>ΔIMC (kg/m²)</a:t>
            </a:r>
          </a:p>
        </p:txBody>
      </p:sp>
      <p:sp>
        <p:nvSpPr>
          <p:cNvPr id="35" name="Rectangle 34"/>
          <p:cNvSpPr/>
          <p:nvPr/>
        </p:nvSpPr>
        <p:spPr>
          <a:xfrm>
            <a:off x="7132320" y="3749039"/>
            <a:ext cx="196596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23759" y="3785615"/>
            <a:ext cx="1874520" cy="237744"/>
          </a:xfrm>
          <a:prstGeom prst="rect">
            <a:avLst/>
          </a:prstGeom>
          <a:noFill/>
        </p:spPr>
        <p:txBody>
          <a:bodyPr wrap="square">
            <a:spAutoFit/>
          </a:bodyPr>
          <a:lstStyle/>
          <a:p>
            <a:pPr algn="l"/>
            <a:r>
              <a:rPr sz="900" b="1" i="0">
                <a:solidFill>
                  <a:srgbClr val="B8862A"/>
                </a:solidFill>
                <a:latin typeface="Consolas"/>
              </a:rPr>
              <a:t>IC 95%</a:t>
            </a:r>
          </a:p>
        </p:txBody>
      </p:sp>
      <p:sp>
        <p:nvSpPr>
          <p:cNvPr id="37" name="Rectangle 36"/>
          <p:cNvSpPr/>
          <p:nvPr/>
        </p:nvSpPr>
        <p:spPr>
          <a:xfrm>
            <a:off x="9326880" y="3749039"/>
            <a:ext cx="2606040" cy="292608"/>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19" y="3785615"/>
            <a:ext cx="2514600" cy="237744"/>
          </a:xfrm>
          <a:prstGeom prst="rect">
            <a:avLst/>
          </a:prstGeom>
          <a:noFill/>
        </p:spPr>
        <p:txBody>
          <a:bodyPr wrap="square">
            <a:spAutoFit/>
          </a:bodyPr>
          <a:lstStyle/>
          <a:p>
            <a:pPr algn="l"/>
            <a:r>
              <a:rPr sz="900" b="1" i="0">
                <a:solidFill>
                  <a:srgbClr val="B8862A"/>
                </a:solidFill>
                <a:latin typeface="Consolas"/>
              </a:rPr>
              <a:t>Fuente</a:t>
            </a:r>
          </a:p>
        </p:txBody>
      </p:sp>
      <p:sp>
        <p:nvSpPr>
          <p:cNvPr id="39" name="Rectangle 38"/>
          <p:cNvSpPr/>
          <p:nvPr/>
        </p:nvSpPr>
        <p:spPr>
          <a:xfrm>
            <a:off x="457200" y="4069080"/>
            <a:ext cx="434340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105656"/>
            <a:ext cx="4251959" cy="256032"/>
          </a:xfrm>
          <a:prstGeom prst="rect">
            <a:avLst/>
          </a:prstGeom>
          <a:noFill/>
        </p:spPr>
        <p:txBody>
          <a:bodyPr wrap="square">
            <a:spAutoFit/>
          </a:bodyPr>
          <a:lstStyle/>
          <a:p>
            <a:pPr algn="l"/>
            <a:r>
              <a:rPr sz="1000" b="0" i="0">
                <a:solidFill>
                  <a:srgbClr val="1A1612"/>
                </a:solidFill>
                <a:latin typeface="Calibri"/>
              </a:rPr>
              <a:t>Nutrición sola (Silveira 2013)</a:t>
            </a:r>
          </a:p>
        </p:txBody>
      </p:sp>
      <p:sp>
        <p:nvSpPr>
          <p:cNvPr id="41" name="Rectangle 40"/>
          <p:cNvSpPr/>
          <p:nvPr/>
        </p:nvSpPr>
        <p:spPr>
          <a:xfrm>
            <a:off x="5029200" y="4069080"/>
            <a:ext cx="187452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20640" y="4105656"/>
            <a:ext cx="1783080" cy="256032"/>
          </a:xfrm>
          <a:prstGeom prst="rect">
            <a:avLst/>
          </a:prstGeom>
          <a:noFill/>
        </p:spPr>
        <p:txBody>
          <a:bodyPr wrap="square">
            <a:spAutoFit/>
          </a:bodyPr>
          <a:lstStyle/>
          <a:p>
            <a:pPr algn="l"/>
            <a:r>
              <a:rPr sz="1000" b="0" i="0">
                <a:solidFill>
                  <a:srgbClr val="1A1612"/>
                </a:solidFill>
                <a:latin typeface="Calibri"/>
              </a:rPr>
              <a:t>−0.33</a:t>
            </a:r>
          </a:p>
        </p:txBody>
      </p:sp>
      <p:sp>
        <p:nvSpPr>
          <p:cNvPr id="43" name="Rectangle 42"/>
          <p:cNvSpPr/>
          <p:nvPr/>
        </p:nvSpPr>
        <p:spPr>
          <a:xfrm>
            <a:off x="7132320" y="4069080"/>
            <a:ext cx="196596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223759" y="4105656"/>
            <a:ext cx="1874520" cy="256032"/>
          </a:xfrm>
          <a:prstGeom prst="rect">
            <a:avLst/>
          </a:prstGeom>
          <a:noFill/>
        </p:spPr>
        <p:txBody>
          <a:bodyPr wrap="square">
            <a:spAutoFit/>
          </a:bodyPr>
          <a:lstStyle/>
          <a:p>
            <a:pPr algn="l"/>
            <a:r>
              <a:rPr sz="1000" b="0" i="0">
                <a:solidFill>
                  <a:srgbClr val="1A1612"/>
                </a:solidFill>
                <a:latin typeface="Calibri"/>
              </a:rPr>
              <a:t>(−0.55, −0.11)</a:t>
            </a:r>
          </a:p>
        </p:txBody>
      </p:sp>
      <p:sp>
        <p:nvSpPr>
          <p:cNvPr id="45" name="Rectangle 44"/>
          <p:cNvSpPr/>
          <p:nvPr/>
        </p:nvSpPr>
        <p:spPr>
          <a:xfrm>
            <a:off x="9326880" y="4069080"/>
            <a:ext cx="260604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19" y="4105656"/>
            <a:ext cx="2514600" cy="256032"/>
          </a:xfrm>
          <a:prstGeom prst="rect">
            <a:avLst/>
          </a:prstGeom>
          <a:noFill/>
        </p:spPr>
        <p:txBody>
          <a:bodyPr wrap="square">
            <a:spAutoFit/>
          </a:bodyPr>
          <a:lstStyle/>
          <a:p>
            <a:pPr algn="l"/>
            <a:r>
              <a:rPr sz="1000" b="0" i="0">
                <a:solidFill>
                  <a:srgbClr val="1A1612"/>
                </a:solidFill>
                <a:latin typeface="Calibri"/>
              </a:rPr>
              <a:t>Silveira et al.</a:t>
            </a:r>
          </a:p>
        </p:txBody>
      </p:sp>
      <p:sp>
        <p:nvSpPr>
          <p:cNvPr id="47" name="Rectangle 46"/>
          <p:cNvSpPr/>
          <p:nvPr/>
        </p:nvSpPr>
        <p:spPr>
          <a:xfrm>
            <a:off x="457200" y="4398264"/>
            <a:ext cx="434340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4434840"/>
            <a:ext cx="4251959" cy="256032"/>
          </a:xfrm>
          <a:prstGeom prst="rect">
            <a:avLst/>
          </a:prstGeom>
          <a:noFill/>
        </p:spPr>
        <p:txBody>
          <a:bodyPr wrap="square">
            <a:spAutoFit/>
          </a:bodyPr>
          <a:lstStyle/>
          <a:p>
            <a:pPr algn="l"/>
            <a:r>
              <a:rPr sz="1000" b="0" i="0">
                <a:solidFill>
                  <a:srgbClr val="1A1612"/>
                </a:solidFill>
                <a:latin typeface="Calibri"/>
              </a:rPr>
              <a:t>Actividad física (Cochrane)</a:t>
            </a:r>
          </a:p>
        </p:txBody>
      </p:sp>
      <p:sp>
        <p:nvSpPr>
          <p:cNvPr id="49" name="Rectangle 48"/>
          <p:cNvSpPr/>
          <p:nvPr/>
        </p:nvSpPr>
        <p:spPr>
          <a:xfrm>
            <a:off x="5029200" y="4398264"/>
            <a:ext cx="187452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120640" y="4434840"/>
            <a:ext cx="1783080" cy="256032"/>
          </a:xfrm>
          <a:prstGeom prst="rect">
            <a:avLst/>
          </a:prstGeom>
          <a:noFill/>
        </p:spPr>
        <p:txBody>
          <a:bodyPr wrap="square">
            <a:spAutoFit/>
          </a:bodyPr>
          <a:lstStyle/>
          <a:p>
            <a:pPr algn="l"/>
            <a:r>
              <a:rPr sz="1000" b="0" i="0">
                <a:solidFill>
                  <a:srgbClr val="1A1612"/>
                </a:solidFill>
                <a:latin typeface="Calibri"/>
              </a:rPr>
              <a:t>−0.13</a:t>
            </a:r>
          </a:p>
        </p:txBody>
      </p:sp>
      <p:sp>
        <p:nvSpPr>
          <p:cNvPr id="51" name="Rectangle 50"/>
          <p:cNvSpPr/>
          <p:nvPr/>
        </p:nvSpPr>
        <p:spPr>
          <a:xfrm>
            <a:off x="7132320" y="4398264"/>
            <a:ext cx="196596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59" y="4434840"/>
            <a:ext cx="1874520" cy="256032"/>
          </a:xfrm>
          <a:prstGeom prst="rect">
            <a:avLst/>
          </a:prstGeom>
          <a:noFill/>
        </p:spPr>
        <p:txBody>
          <a:bodyPr wrap="square">
            <a:spAutoFit/>
          </a:bodyPr>
          <a:lstStyle/>
          <a:p>
            <a:pPr algn="l"/>
            <a:r>
              <a:rPr sz="1000" b="0" i="0">
                <a:solidFill>
                  <a:srgbClr val="1A1612"/>
                </a:solidFill>
                <a:latin typeface="Calibri"/>
              </a:rPr>
              <a:t>(−0.22, −0.04)</a:t>
            </a:r>
          </a:p>
        </p:txBody>
      </p:sp>
      <p:sp>
        <p:nvSpPr>
          <p:cNvPr id="53" name="Rectangle 52"/>
          <p:cNvSpPr/>
          <p:nvPr/>
        </p:nvSpPr>
        <p:spPr>
          <a:xfrm>
            <a:off x="9326880" y="4398264"/>
            <a:ext cx="260604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418319" y="4434840"/>
            <a:ext cx="2514600" cy="256032"/>
          </a:xfrm>
          <a:prstGeom prst="rect">
            <a:avLst/>
          </a:prstGeom>
          <a:noFill/>
        </p:spPr>
        <p:txBody>
          <a:bodyPr wrap="square">
            <a:spAutoFit/>
          </a:bodyPr>
          <a:lstStyle/>
          <a:p>
            <a:pPr algn="l"/>
            <a:r>
              <a:rPr sz="1000" b="0" i="0">
                <a:solidFill>
                  <a:srgbClr val="1A1612"/>
                </a:solidFill>
                <a:latin typeface="Calibri"/>
              </a:rPr>
              <a:t>Cochrane SR</a:t>
            </a:r>
          </a:p>
        </p:txBody>
      </p:sp>
      <p:sp>
        <p:nvSpPr>
          <p:cNvPr id="55" name="Rectangle 54"/>
          <p:cNvSpPr/>
          <p:nvPr/>
        </p:nvSpPr>
        <p:spPr>
          <a:xfrm>
            <a:off x="457200" y="4727448"/>
            <a:ext cx="434340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4764024"/>
            <a:ext cx="4251959" cy="256032"/>
          </a:xfrm>
          <a:prstGeom prst="rect">
            <a:avLst/>
          </a:prstGeom>
          <a:noFill/>
        </p:spPr>
        <p:txBody>
          <a:bodyPr wrap="square">
            <a:spAutoFit/>
          </a:bodyPr>
          <a:lstStyle/>
          <a:p>
            <a:pPr algn="l"/>
            <a:r>
              <a:rPr sz="1000" b="0" i="0">
                <a:solidFill>
                  <a:srgbClr val="1A1612"/>
                </a:solidFill>
                <a:latin typeface="Calibri"/>
              </a:rPr>
              <a:t>AF + nutrición combinado (Cochrane)</a:t>
            </a:r>
          </a:p>
        </p:txBody>
      </p:sp>
      <p:sp>
        <p:nvSpPr>
          <p:cNvPr id="57" name="Rectangle 56"/>
          <p:cNvSpPr/>
          <p:nvPr/>
        </p:nvSpPr>
        <p:spPr>
          <a:xfrm>
            <a:off x="5029200" y="4727448"/>
            <a:ext cx="187452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20640" y="4764024"/>
            <a:ext cx="1783080" cy="256032"/>
          </a:xfrm>
          <a:prstGeom prst="rect">
            <a:avLst/>
          </a:prstGeom>
          <a:noFill/>
        </p:spPr>
        <p:txBody>
          <a:bodyPr wrap="square">
            <a:spAutoFit/>
          </a:bodyPr>
          <a:lstStyle/>
          <a:p>
            <a:pPr algn="l"/>
            <a:r>
              <a:rPr sz="1000" b="0" i="0">
                <a:solidFill>
                  <a:srgbClr val="1A1612"/>
                </a:solidFill>
                <a:latin typeface="Calibri"/>
              </a:rPr>
              <a:t>−0.17</a:t>
            </a:r>
          </a:p>
        </p:txBody>
      </p:sp>
      <p:sp>
        <p:nvSpPr>
          <p:cNvPr id="59" name="Rectangle 58"/>
          <p:cNvSpPr/>
          <p:nvPr/>
        </p:nvSpPr>
        <p:spPr>
          <a:xfrm>
            <a:off x="7132320" y="4727448"/>
            <a:ext cx="196596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59" y="4764024"/>
            <a:ext cx="1874520" cy="256032"/>
          </a:xfrm>
          <a:prstGeom prst="rect">
            <a:avLst/>
          </a:prstGeom>
          <a:noFill/>
        </p:spPr>
        <p:txBody>
          <a:bodyPr wrap="square">
            <a:spAutoFit/>
          </a:bodyPr>
          <a:lstStyle/>
          <a:p>
            <a:pPr algn="l"/>
            <a:r>
              <a:rPr sz="1000" b="0" i="0">
                <a:solidFill>
                  <a:srgbClr val="1A1612"/>
                </a:solidFill>
                <a:latin typeface="Calibri"/>
              </a:rPr>
              <a:t>(−0.29, −0.06)</a:t>
            </a:r>
          </a:p>
        </p:txBody>
      </p:sp>
      <p:sp>
        <p:nvSpPr>
          <p:cNvPr id="61" name="Rectangle 60"/>
          <p:cNvSpPr/>
          <p:nvPr/>
        </p:nvSpPr>
        <p:spPr>
          <a:xfrm>
            <a:off x="9326880" y="4727448"/>
            <a:ext cx="2606040" cy="310896"/>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418319" y="4764024"/>
            <a:ext cx="2514600" cy="256032"/>
          </a:xfrm>
          <a:prstGeom prst="rect">
            <a:avLst/>
          </a:prstGeom>
          <a:noFill/>
        </p:spPr>
        <p:txBody>
          <a:bodyPr wrap="square">
            <a:spAutoFit/>
          </a:bodyPr>
          <a:lstStyle/>
          <a:p>
            <a:pPr algn="l"/>
            <a:r>
              <a:rPr sz="1000" b="0" i="0">
                <a:solidFill>
                  <a:srgbClr val="1A1612"/>
                </a:solidFill>
                <a:latin typeface="Calibri"/>
              </a:rPr>
              <a:t>Cochrane SR</a:t>
            </a:r>
          </a:p>
        </p:txBody>
      </p:sp>
      <p:sp>
        <p:nvSpPr>
          <p:cNvPr id="63" name="Rectangle 62"/>
          <p:cNvSpPr/>
          <p:nvPr/>
        </p:nvSpPr>
        <p:spPr>
          <a:xfrm>
            <a:off x="457200" y="5056632"/>
            <a:ext cx="434340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8640" y="5093208"/>
            <a:ext cx="4251959" cy="256032"/>
          </a:xfrm>
          <a:prstGeom prst="rect">
            <a:avLst/>
          </a:prstGeom>
          <a:noFill/>
        </p:spPr>
        <p:txBody>
          <a:bodyPr wrap="square">
            <a:spAutoFit/>
          </a:bodyPr>
          <a:lstStyle/>
          <a:p>
            <a:pPr algn="l"/>
            <a:r>
              <a:rPr sz="1000" b="0" i="0">
                <a:solidFill>
                  <a:srgbClr val="1A1612"/>
                </a:solidFill>
                <a:latin typeface="Calibri"/>
              </a:rPr>
              <a:t>Ed. salud adolescentes (Brown 2020)</a:t>
            </a:r>
          </a:p>
        </p:txBody>
      </p:sp>
      <p:sp>
        <p:nvSpPr>
          <p:cNvPr id="65" name="Rectangle 64"/>
          <p:cNvSpPr/>
          <p:nvPr/>
        </p:nvSpPr>
        <p:spPr>
          <a:xfrm>
            <a:off x="5029200" y="5056632"/>
            <a:ext cx="187452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093208"/>
            <a:ext cx="1783080" cy="256032"/>
          </a:xfrm>
          <a:prstGeom prst="rect">
            <a:avLst/>
          </a:prstGeom>
          <a:noFill/>
        </p:spPr>
        <p:txBody>
          <a:bodyPr wrap="square">
            <a:spAutoFit/>
          </a:bodyPr>
          <a:lstStyle/>
          <a:p>
            <a:pPr algn="l"/>
            <a:r>
              <a:rPr sz="1000" b="0" i="0">
                <a:solidFill>
                  <a:srgbClr val="1A1612"/>
                </a:solidFill>
                <a:latin typeface="Calibri"/>
              </a:rPr>
              <a:t>−0.06z</a:t>
            </a:r>
          </a:p>
        </p:txBody>
      </p:sp>
      <p:sp>
        <p:nvSpPr>
          <p:cNvPr id="67" name="Rectangle 66"/>
          <p:cNvSpPr/>
          <p:nvPr/>
        </p:nvSpPr>
        <p:spPr>
          <a:xfrm>
            <a:off x="7132320" y="5056632"/>
            <a:ext cx="196596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59" y="5093208"/>
            <a:ext cx="1874520" cy="256032"/>
          </a:xfrm>
          <a:prstGeom prst="rect">
            <a:avLst/>
          </a:prstGeom>
          <a:noFill/>
        </p:spPr>
        <p:txBody>
          <a:bodyPr wrap="square">
            <a:spAutoFit/>
          </a:bodyPr>
          <a:lstStyle/>
          <a:p>
            <a:pPr algn="l"/>
            <a:r>
              <a:rPr sz="1000" b="0" i="0">
                <a:solidFill>
                  <a:srgbClr val="1A1612"/>
                </a:solidFill>
                <a:latin typeface="Calibri"/>
              </a:rPr>
              <a:t>(−0.10, −0.03)</a:t>
            </a:r>
          </a:p>
        </p:txBody>
      </p:sp>
      <p:sp>
        <p:nvSpPr>
          <p:cNvPr id="69" name="Rectangle 68"/>
          <p:cNvSpPr/>
          <p:nvPr/>
        </p:nvSpPr>
        <p:spPr>
          <a:xfrm>
            <a:off x="9326880" y="5056632"/>
            <a:ext cx="2606040" cy="310896"/>
          </a:xfrm>
          <a:prstGeom prst="rect">
            <a:avLst/>
          </a:prstGeom>
          <a:solidFill>
            <a:srgbClr val="FFF9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19" y="5093208"/>
            <a:ext cx="2514600" cy="256032"/>
          </a:xfrm>
          <a:prstGeom prst="rect">
            <a:avLst/>
          </a:prstGeom>
          <a:noFill/>
        </p:spPr>
        <p:txBody>
          <a:bodyPr wrap="square">
            <a:spAutoFit/>
          </a:bodyPr>
          <a:lstStyle/>
          <a:p>
            <a:pPr algn="l"/>
            <a:r>
              <a:rPr sz="1000" b="0" i="0">
                <a:solidFill>
                  <a:srgbClr val="1A1612"/>
                </a:solidFill>
                <a:latin typeface="Calibri"/>
              </a:rPr>
              <a:t>BMC PH 2020</a:t>
            </a:r>
          </a:p>
        </p:txBody>
      </p:sp>
      <p:sp>
        <p:nvSpPr>
          <p:cNvPr id="71" name="Rectangle 70"/>
          <p:cNvSpPr/>
          <p:nvPr/>
        </p:nvSpPr>
        <p:spPr>
          <a:xfrm>
            <a:off x="457200" y="5385816"/>
            <a:ext cx="4343400" cy="310896"/>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48640" y="5422392"/>
            <a:ext cx="4251959" cy="256032"/>
          </a:xfrm>
          <a:prstGeom prst="rect">
            <a:avLst/>
          </a:prstGeom>
          <a:noFill/>
        </p:spPr>
        <p:txBody>
          <a:bodyPr wrap="square">
            <a:spAutoFit/>
          </a:bodyPr>
          <a:lstStyle/>
          <a:p>
            <a:pPr algn="l"/>
            <a:r>
              <a:rPr sz="1000" b="0" i="0">
                <a:solidFill>
                  <a:srgbClr val="1A1612"/>
                </a:solidFill>
                <a:latin typeface="Calibri"/>
              </a:rPr>
              <a:t>Nulo largo plazo ★ (Hodder 2021)</a:t>
            </a:r>
          </a:p>
        </p:txBody>
      </p:sp>
      <p:sp>
        <p:nvSpPr>
          <p:cNvPr id="73" name="Rectangle 72"/>
          <p:cNvSpPr/>
          <p:nvPr/>
        </p:nvSpPr>
        <p:spPr>
          <a:xfrm>
            <a:off x="5029200" y="5385816"/>
            <a:ext cx="1874520" cy="310896"/>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0640" y="5422392"/>
            <a:ext cx="1783080" cy="256032"/>
          </a:xfrm>
          <a:prstGeom prst="rect">
            <a:avLst/>
          </a:prstGeom>
          <a:noFill/>
        </p:spPr>
        <p:txBody>
          <a:bodyPr wrap="square">
            <a:spAutoFit/>
          </a:bodyPr>
          <a:lstStyle/>
          <a:p>
            <a:pPr algn="l"/>
            <a:r>
              <a:rPr sz="1000" b="0" i="0">
                <a:solidFill>
                  <a:srgbClr val="B8332A"/>
                </a:solidFill>
                <a:latin typeface="Calibri"/>
              </a:rPr>
              <a:t> 0.00</a:t>
            </a:r>
          </a:p>
        </p:txBody>
      </p:sp>
      <p:sp>
        <p:nvSpPr>
          <p:cNvPr id="75" name="Rectangle 74"/>
          <p:cNvSpPr/>
          <p:nvPr/>
        </p:nvSpPr>
        <p:spPr>
          <a:xfrm>
            <a:off x="7132320" y="5385816"/>
            <a:ext cx="1965960" cy="310896"/>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23759" y="5422392"/>
            <a:ext cx="1874520" cy="256032"/>
          </a:xfrm>
          <a:prstGeom prst="rect">
            <a:avLst/>
          </a:prstGeom>
          <a:noFill/>
        </p:spPr>
        <p:txBody>
          <a:bodyPr wrap="square">
            <a:spAutoFit/>
          </a:bodyPr>
          <a:lstStyle/>
          <a:p>
            <a:pPr algn="l"/>
            <a:r>
              <a:rPr sz="1000" b="0" i="0">
                <a:solidFill>
                  <a:srgbClr val="1A1612"/>
                </a:solidFill>
                <a:latin typeface="Calibri"/>
              </a:rPr>
              <a:t>(−0.05, +0.04)</a:t>
            </a:r>
          </a:p>
        </p:txBody>
      </p:sp>
      <p:sp>
        <p:nvSpPr>
          <p:cNvPr id="77" name="Rectangle 76"/>
          <p:cNvSpPr/>
          <p:nvPr/>
        </p:nvSpPr>
        <p:spPr>
          <a:xfrm>
            <a:off x="9326880" y="5385816"/>
            <a:ext cx="2606040" cy="310896"/>
          </a:xfrm>
          <a:prstGeom prst="rect">
            <a:avLst/>
          </a:prstGeom>
          <a:solidFill>
            <a:srgbClr val="FF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418319" y="5422392"/>
            <a:ext cx="2514600" cy="256032"/>
          </a:xfrm>
          <a:prstGeom prst="rect">
            <a:avLst/>
          </a:prstGeom>
          <a:noFill/>
        </p:spPr>
        <p:txBody>
          <a:bodyPr wrap="square">
            <a:spAutoFit/>
          </a:bodyPr>
          <a:lstStyle/>
          <a:p>
            <a:pPr algn="l"/>
            <a:r>
              <a:rPr sz="1000" b="0" i="0">
                <a:solidFill>
                  <a:srgbClr val="1A1612"/>
                </a:solidFill>
                <a:latin typeface="Calibri"/>
              </a:rPr>
              <a:t>Hodder 2021</a:t>
            </a:r>
          </a:p>
        </p:txBody>
      </p:sp>
      <p:sp>
        <p:nvSpPr>
          <p:cNvPr id="79" name="TextBox 78"/>
          <p:cNvSpPr txBox="1"/>
          <p:nvPr/>
        </p:nvSpPr>
        <p:spPr>
          <a:xfrm>
            <a:off x="457200" y="5852160"/>
            <a:ext cx="11338560" cy="365760"/>
          </a:xfrm>
          <a:prstGeom prst="rect">
            <a:avLst/>
          </a:prstGeom>
          <a:noFill/>
        </p:spPr>
        <p:txBody>
          <a:bodyPr wrap="square">
            <a:spAutoFit/>
          </a:bodyPr>
          <a:lstStyle/>
          <a:p>
            <a:pPr algn="l"/>
            <a:r>
              <a:rPr sz="1100" b="0" i="1">
                <a:solidFill>
                  <a:srgbClr val="B8332A"/>
                </a:solidFill>
                <a:latin typeface="Calibri"/>
              </a:rPr>
              <a:t>★  El escenario nulo se incluye explícitamente. Si nuestro plan no mueve el IMC a largo plazo, lo decimos. Eso es ciencia honesta.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#1  ·  INVESTIGACIÓN EDUCATIVA</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Dr. José Manuel Olais Govea</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Tec de Monterrey · Campus SLP  ·  INVESTIGACIÓN EDUCATIVA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#2  ·  INVESTIGACIÓN EDUCATIVA</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Dr. Leopoldo Zúñiga Silva</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Tec de Monterrey · Campus SLP  ·  INVESTIGACIÓN EDUCATIVA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#3  ·  IMPLEMENTACIÓN INSTITUCIONAL</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Director · Sec. Téc. 78</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Matehuala · San Luis Potosí  ·  IMPLEMENTACIÓN INSTITUCIONAL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#4  ·  PRÁCTICA EN AULA</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Docente de Secundaria</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Practicante de fitness  ·  PRÁCTICA EN AULA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#5  ·  VOZ ESTUDIANTIL / ED. EMERGENTE</a:t>
            </a:r>
          </a:p>
        </p:txBody>
      </p:sp>
      <p:sp>
        <p:nvSpPr>
          <p:cNvPr id="4" name="Rectangle 3"/>
          <p:cNvSpPr/>
          <p:nvPr/>
        </p:nvSpPr>
        <p:spPr>
          <a:xfrm>
            <a:off x="1371600" y="1051560"/>
            <a:ext cx="9418320" cy="4206240"/>
          </a:xfrm>
          <a:prstGeom prst="rect">
            <a:avLst/>
          </a:prstGeom>
          <a:solidFill>
            <a:srgbClr val="1110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349240" y="2834640"/>
            <a:ext cx="1463040" cy="10972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349240" y="2907792"/>
            <a:ext cx="1463040" cy="914400"/>
          </a:xfrm>
          <a:prstGeom prst="rect">
            <a:avLst/>
          </a:prstGeom>
          <a:noFill/>
        </p:spPr>
        <p:txBody>
          <a:bodyPr wrap="square">
            <a:spAutoFit/>
          </a:bodyPr>
          <a:lstStyle/>
          <a:p>
            <a:pPr algn="ctr"/>
            <a:r>
              <a:rPr sz="5200" b="1" i="0">
                <a:solidFill>
                  <a:srgbClr val="FDF8F1"/>
                </a:solidFill>
                <a:latin typeface="Calibri"/>
              </a:rPr>
              <a:t>▶</a:t>
            </a:r>
          </a:p>
        </p:txBody>
      </p:sp>
      <p:sp>
        <p:nvSpPr>
          <p:cNvPr id="7" name="TextBox 6"/>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8" name="Rectangle 7"/>
          <p:cNvSpPr/>
          <p:nvPr/>
        </p:nvSpPr>
        <p:spPr>
          <a:xfrm>
            <a:off x="1371600" y="5440680"/>
            <a:ext cx="9418320" cy="100584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54480" y="5504688"/>
            <a:ext cx="9144000" cy="411480"/>
          </a:xfrm>
          <a:prstGeom prst="rect">
            <a:avLst/>
          </a:prstGeom>
          <a:noFill/>
        </p:spPr>
        <p:txBody>
          <a:bodyPr wrap="square">
            <a:spAutoFit/>
          </a:bodyPr>
          <a:lstStyle/>
          <a:p>
            <a:pPr algn="l"/>
            <a:r>
              <a:rPr sz="2200" b="1" i="0">
                <a:solidFill>
                  <a:srgbClr val="1A1612"/>
                </a:solidFill>
                <a:latin typeface="Calibri"/>
              </a:rPr>
              <a:t>Estudiante de Educación</a:t>
            </a:r>
          </a:p>
        </p:txBody>
      </p:sp>
      <p:sp>
        <p:nvSpPr>
          <p:cNvPr id="10" name="TextBox 9"/>
          <p:cNvSpPr txBox="1"/>
          <p:nvPr/>
        </p:nvSpPr>
        <p:spPr>
          <a:xfrm>
            <a:off x="1554480" y="5943600"/>
            <a:ext cx="9144000" cy="320040"/>
          </a:xfrm>
          <a:prstGeom prst="rect">
            <a:avLst/>
          </a:prstGeom>
          <a:noFill/>
        </p:spPr>
        <p:txBody>
          <a:bodyPr wrap="square">
            <a:spAutoFit/>
          </a:bodyPr>
          <a:lstStyle/>
          <a:p>
            <a:pPr algn="l"/>
            <a:r>
              <a:rPr sz="1100" b="0" i="1">
                <a:solidFill>
                  <a:srgbClr val="7A7368"/>
                </a:solidFill>
                <a:latin typeface="Calibri"/>
              </a:rPr>
              <a:t>Background físico-deportivo  ·  VOZ ESTUDIANTIL / ED. EMERGENTE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1430000" cy="320040"/>
          </a:xfrm>
          <a:prstGeom prst="rect">
            <a:avLst/>
          </a:prstGeom>
          <a:noFill/>
        </p:spPr>
        <p:txBody>
          <a:bodyPr wrap="square">
            <a:spAutoFit/>
          </a:bodyPr>
          <a:lstStyle/>
          <a:p>
            <a:pPr algn="l"/>
            <a:r>
              <a:rPr sz="1000" b="0" i="0">
                <a:solidFill>
                  <a:srgbClr val="B8862A"/>
                </a:solidFill>
                <a:latin typeface="Consolas"/>
              </a:rPr>
              <a:t>CIERRE  ·  MIT LIFTLAB NATIONAL COMPETITION 2026</a:t>
            </a:r>
          </a:p>
        </p:txBody>
      </p:sp>
      <p:sp>
        <p:nvSpPr>
          <p:cNvPr id="4" name="TextBox 3"/>
          <p:cNvSpPr txBox="1"/>
          <p:nvPr/>
        </p:nvSpPr>
        <p:spPr>
          <a:xfrm>
            <a:off x="548640" y="777240"/>
            <a:ext cx="10972800" cy="502920"/>
          </a:xfrm>
          <a:prstGeom prst="rect">
            <a:avLst/>
          </a:prstGeom>
          <a:noFill/>
        </p:spPr>
        <p:txBody>
          <a:bodyPr wrap="square">
            <a:spAutoFit/>
          </a:bodyPr>
          <a:lstStyle/>
          <a:p>
            <a:pPr algn="l"/>
            <a:r>
              <a:rPr sz="3600" b="1" i="0">
                <a:solidFill>
                  <a:srgbClr val="1A1612"/>
                </a:solidFill>
                <a:latin typeface="Calibri"/>
              </a:rPr>
              <a:t>De los datos a las aulas.</a:t>
            </a:r>
          </a:p>
        </p:txBody>
      </p:sp>
      <p:sp>
        <p:nvSpPr>
          <p:cNvPr id="5" name="TextBox 4"/>
          <p:cNvSpPr txBox="1"/>
          <p:nvPr/>
        </p:nvSpPr>
        <p:spPr>
          <a:xfrm>
            <a:off x="548640" y="1325880"/>
            <a:ext cx="10972800" cy="411480"/>
          </a:xfrm>
          <a:prstGeom prst="rect">
            <a:avLst/>
          </a:prstGeom>
          <a:noFill/>
        </p:spPr>
        <p:txBody>
          <a:bodyPr wrap="square">
            <a:spAutoFit/>
          </a:bodyPr>
          <a:lstStyle/>
          <a:p>
            <a:pPr algn="l"/>
            <a:r>
              <a:rPr sz="1600" b="0" i="1">
                <a:solidFill>
                  <a:srgbClr val="B8332A"/>
                </a:solidFill>
                <a:latin typeface="Calibri"/>
              </a:rPr>
              <a:t>De un modelo malo a un plan basado en evidencia para la salud infantil en México.</a:t>
            </a:r>
          </a:p>
        </p:txBody>
      </p:sp>
      <p:sp>
        <p:nvSpPr>
          <p:cNvPr id="6" name="Rectangle 5"/>
          <p:cNvSpPr/>
          <p:nvPr/>
        </p:nvSpPr>
        <p:spPr>
          <a:xfrm>
            <a:off x="548640" y="2103120"/>
            <a:ext cx="3566160" cy="50292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176272"/>
            <a:ext cx="3566160" cy="411480"/>
          </a:xfrm>
          <a:prstGeom prst="rect">
            <a:avLst/>
          </a:prstGeom>
          <a:noFill/>
        </p:spPr>
        <p:txBody>
          <a:bodyPr wrap="square">
            <a:spAutoFit/>
          </a:bodyPr>
          <a:lstStyle/>
          <a:p>
            <a:pPr algn="ctr"/>
            <a:r>
              <a:rPr sz="2000" b="1" i="0">
                <a:solidFill>
                  <a:srgbClr val="FDF8F1"/>
                </a:solidFill>
                <a:latin typeface="Calibri"/>
              </a:rPr>
              <a:t>Fernanda Ita</a:t>
            </a:r>
          </a:p>
        </p:txBody>
      </p:sp>
      <p:sp>
        <p:nvSpPr>
          <p:cNvPr id="8" name="Rectangle 7"/>
          <p:cNvSpPr/>
          <p:nvPr/>
        </p:nvSpPr>
        <p:spPr>
          <a:xfrm>
            <a:off x="548640" y="2651760"/>
            <a:ext cx="3566160" cy="21945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724912"/>
            <a:ext cx="3246120" cy="256032"/>
          </a:xfrm>
          <a:prstGeom prst="rect">
            <a:avLst/>
          </a:prstGeom>
          <a:noFill/>
        </p:spPr>
        <p:txBody>
          <a:bodyPr wrap="square">
            <a:spAutoFit/>
          </a:bodyPr>
          <a:lstStyle/>
          <a:p>
            <a:pPr algn="l"/>
            <a:r>
              <a:rPr sz="900" b="0" i="0">
                <a:solidFill>
                  <a:srgbClr val="B8862A"/>
                </a:solidFill>
                <a:latin typeface="Consolas"/>
              </a:rPr>
              <a:t>INVESTIGACIÓN EDUCATIVA</a:t>
            </a:r>
          </a:p>
        </p:txBody>
      </p:sp>
      <p:sp>
        <p:nvSpPr>
          <p:cNvPr id="10" name="TextBox 9"/>
          <p:cNvSpPr txBox="1"/>
          <p:nvPr/>
        </p:nvSpPr>
        <p:spPr>
          <a:xfrm>
            <a:off x="713232" y="3063240"/>
            <a:ext cx="3246120" cy="1463040"/>
          </a:xfrm>
          <a:prstGeom prst="rect">
            <a:avLst/>
          </a:prstGeom>
          <a:noFill/>
        </p:spPr>
        <p:txBody>
          <a:bodyPr wrap="square">
            <a:spAutoFit/>
          </a:bodyPr>
          <a:lstStyle/>
          <a:p>
            <a:pPr algn="l"/>
            <a:r>
              <a:rPr sz="1200" b="0" i="0">
                <a:solidFill>
                  <a:srgbClr val="FDF8F1"/>
                </a:solidFill>
                <a:latin typeface="Calibri"/>
              </a:rPr>
              <a:t>Literatura sistemática
Marco curricular NEM
Codificación entrevistas</a:t>
            </a:r>
          </a:p>
        </p:txBody>
      </p:sp>
      <p:sp>
        <p:nvSpPr>
          <p:cNvPr id="11" name="Rectangle 10"/>
          <p:cNvSpPr/>
          <p:nvPr/>
        </p:nvSpPr>
        <p:spPr>
          <a:xfrm>
            <a:off x="4343400" y="2103120"/>
            <a:ext cx="3566160" cy="50292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176272"/>
            <a:ext cx="3566160" cy="411480"/>
          </a:xfrm>
          <a:prstGeom prst="rect">
            <a:avLst/>
          </a:prstGeom>
          <a:noFill/>
        </p:spPr>
        <p:txBody>
          <a:bodyPr wrap="square">
            <a:spAutoFit/>
          </a:bodyPr>
          <a:lstStyle/>
          <a:p>
            <a:pPr algn="ctr"/>
            <a:r>
              <a:rPr sz="2000" b="1" i="0">
                <a:solidFill>
                  <a:srgbClr val="FDF8F1"/>
                </a:solidFill>
                <a:latin typeface="Calibri"/>
              </a:rPr>
              <a:t>Alexis Marcos</a:t>
            </a:r>
          </a:p>
        </p:txBody>
      </p:sp>
      <p:sp>
        <p:nvSpPr>
          <p:cNvPr id="13" name="Rectangle 12"/>
          <p:cNvSpPr/>
          <p:nvPr/>
        </p:nvSpPr>
        <p:spPr>
          <a:xfrm>
            <a:off x="4343400" y="2651760"/>
            <a:ext cx="3566160" cy="21945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7992" y="2724912"/>
            <a:ext cx="3246120" cy="256032"/>
          </a:xfrm>
          <a:prstGeom prst="rect">
            <a:avLst/>
          </a:prstGeom>
          <a:noFill/>
        </p:spPr>
        <p:txBody>
          <a:bodyPr wrap="square">
            <a:spAutoFit/>
          </a:bodyPr>
          <a:lstStyle/>
          <a:p>
            <a:pPr algn="l"/>
            <a:r>
              <a:rPr sz="900" b="0" i="0">
                <a:solidFill>
                  <a:srgbClr val="B8862A"/>
                </a:solidFill>
                <a:latin typeface="Consolas"/>
              </a:rPr>
              <a:t>INVESTIGACIÓN DE CAMPO</a:t>
            </a:r>
          </a:p>
        </p:txBody>
      </p:sp>
      <p:sp>
        <p:nvSpPr>
          <p:cNvPr id="15" name="TextBox 14"/>
          <p:cNvSpPr txBox="1"/>
          <p:nvPr/>
        </p:nvSpPr>
        <p:spPr>
          <a:xfrm>
            <a:off x="4507992" y="3063240"/>
            <a:ext cx="3246120" cy="1463040"/>
          </a:xfrm>
          <a:prstGeom prst="rect">
            <a:avLst/>
          </a:prstGeom>
          <a:noFill/>
        </p:spPr>
        <p:txBody>
          <a:bodyPr wrap="square">
            <a:spAutoFit/>
          </a:bodyPr>
          <a:lstStyle/>
          <a:p>
            <a:pPr algn="l"/>
            <a:r>
              <a:rPr sz="1200" b="0" i="0">
                <a:solidFill>
                  <a:srgbClr val="FDF8F1"/>
                </a:solidFill>
                <a:latin typeface="Calibri"/>
              </a:rPr>
              <a:t>Instrumento de encuesta
Expertos y validación
Síntesis cualitativa</a:t>
            </a:r>
          </a:p>
        </p:txBody>
      </p:sp>
      <p:sp>
        <p:nvSpPr>
          <p:cNvPr id="16" name="Rectangle 15"/>
          <p:cNvSpPr/>
          <p:nvPr/>
        </p:nvSpPr>
        <p:spPr>
          <a:xfrm>
            <a:off x="8138160" y="2103120"/>
            <a:ext cx="3566160" cy="50292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38160" y="2176272"/>
            <a:ext cx="3566160" cy="411480"/>
          </a:xfrm>
          <a:prstGeom prst="rect">
            <a:avLst/>
          </a:prstGeom>
          <a:noFill/>
        </p:spPr>
        <p:txBody>
          <a:bodyPr wrap="square">
            <a:spAutoFit/>
          </a:bodyPr>
          <a:lstStyle/>
          <a:p>
            <a:pPr algn="ctr"/>
            <a:r>
              <a:rPr sz="2000" b="1" i="0">
                <a:solidFill>
                  <a:srgbClr val="FDF8F1"/>
                </a:solidFill>
                <a:latin typeface="Calibri"/>
              </a:rPr>
              <a:t>Carlos Torres</a:t>
            </a:r>
          </a:p>
        </p:txBody>
      </p:sp>
      <p:sp>
        <p:nvSpPr>
          <p:cNvPr id="18" name="Rectangle 17"/>
          <p:cNvSpPr/>
          <p:nvPr/>
        </p:nvSpPr>
        <p:spPr>
          <a:xfrm>
            <a:off x="8138160" y="2651760"/>
            <a:ext cx="3566160" cy="21945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2752" y="2724912"/>
            <a:ext cx="3246120" cy="256032"/>
          </a:xfrm>
          <a:prstGeom prst="rect">
            <a:avLst/>
          </a:prstGeom>
          <a:noFill/>
        </p:spPr>
        <p:txBody>
          <a:bodyPr wrap="square">
            <a:spAutoFit/>
          </a:bodyPr>
          <a:lstStyle/>
          <a:p>
            <a:pPr algn="l"/>
            <a:r>
              <a:rPr sz="900" b="0" i="0">
                <a:solidFill>
                  <a:srgbClr val="B8862A"/>
                </a:solidFill>
                <a:latin typeface="Consolas"/>
              </a:rPr>
              <a:t>MODELADO CUANTITATIVO</a:t>
            </a:r>
          </a:p>
        </p:txBody>
      </p:sp>
      <p:sp>
        <p:nvSpPr>
          <p:cNvPr id="20" name="TextBox 19"/>
          <p:cNvSpPr txBox="1"/>
          <p:nvPr/>
        </p:nvSpPr>
        <p:spPr>
          <a:xfrm>
            <a:off x="8302752" y="3063240"/>
            <a:ext cx="3246120" cy="1463040"/>
          </a:xfrm>
          <a:prstGeom prst="rect">
            <a:avLst/>
          </a:prstGeom>
          <a:noFill/>
        </p:spPr>
        <p:txBody>
          <a:bodyPr wrap="square">
            <a:spAutoFit/>
          </a:bodyPr>
          <a:lstStyle/>
          <a:p>
            <a:pPr algn="l"/>
            <a:r>
              <a:rPr sz="1200" b="0" i="0">
                <a:solidFill>
                  <a:srgbClr val="FDF8F1"/>
                </a:solidFill>
                <a:latin typeface="Calibri"/>
              </a:rPr>
              <a:t>Regresión + Random Forest
Monte Carlo · Plataforma</a:t>
            </a:r>
          </a:p>
        </p:txBody>
      </p:sp>
      <p:sp>
        <p:nvSpPr>
          <p:cNvPr id="21" name="Rectangle 20"/>
          <p:cNvSpPr/>
          <p:nvPr/>
        </p:nvSpPr>
        <p:spPr>
          <a:xfrm>
            <a:off x="548640" y="5074920"/>
            <a:ext cx="1051560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212080"/>
            <a:ext cx="2743200" cy="411480"/>
          </a:xfrm>
          <a:prstGeom prst="rect">
            <a:avLst/>
          </a:prstGeom>
          <a:noFill/>
        </p:spPr>
        <p:txBody>
          <a:bodyPr wrap="square">
            <a:spAutoFit/>
          </a:bodyPr>
          <a:lstStyle/>
          <a:p>
            <a:pPr algn="l"/>
            <a:r>
              <a:rPr sz="1600" b="1" i="0">
                <a:solidFill>
                  <a:srgbClr val="B8332A"/>
                </a:solidFill>
                <a:latin typeface="Calibri"/>
              </a:rPr>
              <a:t>0.064 → 0.634</a:t>
            </a:r>
          </a:p>
        </p:txBody>
      </p:sp>
      <p:sp>
        <p:nvSpPr>
          <p:cNvPr id="23" name="TextBox 22"/>
          <p:cNvSpPr txBox="1"/>
          <p:nvPr/>
        </p:nvSpPr>
        <p:spPr>
          <a:xfrm>
            <a:off x="548640" y="5623560"/>
            <a:ext cx="2743200" cy="274320"/>
          </a:xfrm>
          <a:prstGeom prst="rect">
            <a:avLst/>
          </a:prstGeom>
          <a:noFill/>
        </p:spPr>
        <p:txBody>
          <a:bodyPr wrap="square">
            <a:spAutoFit/>
          </a:bodyPr>
          <a:lstStyle/>
          <a:p>
            <a:pPr algn="l"/>
            <a:r>
              <a:rPr sz="900" b="0" i="0">
                <a:solidFill>
                  <a:srgbClr val="7A7368"/>
                </a:solidFill>
                <a:latin typeface="Calibri"/>
              </a:rPr>
              <a:t>R² del primer modelo al modelo expandido</a:t>
            </a:r>
          </a:p>
        </p:txBody>
      </p:sp>
      <p:sp>
        <p:nvSpPr>
          <p:cNvPr id="24" name="TextBox 23"/>
          <p:cNvSpPr txBox="1"/>
          <p:nvPr/>
        </p:nvSpPr>
        <p:spPr>
          <a:xfrm>
            <a:off x="3429000" y="5212080"/>
            <a:ext cx="2743200" cy="411480"/>
          </a:xfrm>
          <a:prstGeom prst="rect">
            <a:avLst/>
          </a:prstGeom>
          <a:noFill/>
        </p:spPr>
        <p:txBody>
          <a:bodyPr wrap="square">
            <a:spAutoFit/>
          </a:bodyPr>
          <a:lstStyle/>
          <a:p>
            <a:pPr algn="l"/>
            <a:r>
              <a:rPr sz="1600" b="1" i="0">
                <a:solidFill>
                  <a:srgbClr val="B8332A"/>
                </a:solidFill>
                <a:latin typeface="Calibri"/>
              </a:rPr>
              <a:t>r = −0.911</a:t>
            </a:r>
          </a:p>
        </p:txBody>
      </p:sp>
      <p:sp>
        <p:nvSpPr>
          <p:cNvPr id="25" name="TextBox 24"/>
          <p:cNvSpPr txBox="1"/>
          <p:nvPr/>
        </p:nvSpPr>
        <p:spPr>
          <a:xfrm>
            <a:off x="3429000" y="5623560"/>
            <a:ext cx="2743200" cy="274320"/>
          </a:xfrm>
          <a:prstGeom prst="rect">
            <a:avLst/>
          </a:prstGeom>
          <a:noFill/>
        </p:spPr>
        <p:txBody>
          <a:bodyPr wrap="square">
            <a:spAutoFit/>
          </a:bodyPr>
          <a:lstStyle/>
          <a:p>
            <a:pPr algn="l"/>
            <a:r>
              <a:rPr sz="900" b="0" i="0">
                <a:solidFill>
                  <a:srgbClr val="7A7368"/>
                </a:solidFill>
                <a:latin typeface="Calibri"/>
              </a:rPr>
              <a:t>actividad física vs obesidad (RF)</a:t>
            </a:r>
          </a:p>
        </p:txBody>
      </p:sp>
      <p:sp>
        <p:nvSpPr>
          <p:cNvPr id="26" name="TextBox 25"/>
          <p:cNvSpPr txBox="1"/>
          <p:nvPr/>
        </p:nvSpPr>
        <p:spPr>
          <a:xfrm>
            <a:off x="6309359" y="5212080"/>
            <a:ext cx="2743200" cy="411480"/>
          </a:xfrm>
          <a:prstGeom prst="rect">
            <a:avLst/>
          </a:prstGeom>
          <a:noFill/>
        </p:spPr>
        <p:txBody>
          <a:bodyPr wrap="square">
            <a:spAutoFit/>
          </a:bodyPr>
          <a:lstStyle/>
          <a:p>
            <a:pPr algn="l"/>
            <a:r>
              <a:rPr sz="1600" b="1" i="0">
                <a:solidFill>
                  <a:srgbClr val="B8332A"/>
                </a:solidFill>
                <a:latin typeface="Calibri"/>
              </a:rPr>
              <a:t>100+</a:t>
            </a:r>
          </a:p>
        </p:txBody>
      </p:sp>
      <p:sp>
        <p:nvSpPr>
          <p:cNvPr id="27" name="TextBox 26"/>
          <p:cNvSpPr txBox="1"/>
          <p:nvPr/>
        </p:nvSpPr>
        <p:spPr>
          <a:xfrm>
            <a:off x="6309359" y="5623560"/>
            <a:ext cx="2743200" cy="274320"/>
          </a:xfrm>
          <a:prstGeom prst="rect">
            <a:avLst/>
          </a:prstGeom>
          <a:noFill/>
        </p:spPr>
        <p:txBody>
          <a:bodyPr wrap="square">
            <a:spAutoFit/>
          </a:bodyPr>
          <a:lstStyle/>
          <a:p>
            <a:pPr algn="l"/>
            <a:r>
              <a:rPr sz="900" b="0" i="0">
                <a:solidFill>
                  <a:srgbClr val="7A7368"/>
                </a:solidFill>
                <a:latin typeface="Calibri"/>
              </a:rPr>
              <a:t>voces reales en SLP</a:t>
            </a:r>
          </a:p>
        </p:txBody>
      </p:sp>
      <p:sp>
        <p:nvSpPr>
          <p:cNvPr id="28" name="TextBox 27"/>
          <p:cNvSpPr txBox="1"/>
          <p:nvPr/>
        </p:nvSpPr>
        <p:spPr>
          <a:xfrm>
            <a:off x="9189719" y="5212080"/>
            <a:ext cx="2743200" cy="411480"/>
          </a:xfrm>
          <a:prstGeom prst="rect">
            <a:avLst/>
          </a:prstGeom>
          <a:noFill/>
        </p:spPr>
        <p:txBody>
          <a:bodyPr wrap="square">
            <a:spAutoFit/>
          </a:bodyPr>
          <a:lstStyle/>
          <a:p>
            <a:pPr algn="l"/>
            <a:r>
              <a:rPr sz="1600" b="1" i="0">
                <a:solidFill>
                  <a:srgbClr val="B8332A"/>
                </a:solidFill>
                <a:latin typeface="Calibri"/>
              </a:rPr>
              <a:t>5,000</a:t>
            </a:r>
          </a:p>
        </p:txBody>
      </p:sp>
      <p:sp>
        <p:nvSpPr>
          <p:cNvPr id="29" name="TextBox 28"/>
          <p:cNvSpPr txBox="1"/>
          <p:nvPr/>
        </p:nvSpPr>
        <p:spPr>
          <a:xfrm>
            <a:off x="9189719" y="5623560"/>
            <a:ext cx="2743200" cy="274320"/>
          </a:xfrm>
          <a:prstGeom prst="rect">
            <a:avLst/>
          </a:prstGeom>
          <a:noFill/>
        </p:spPr>
        <p:txBody>
          <a:bodyPr wrap="square">
            <a:spAutoFit/>
          </a:bodyPr>
          <a:lstStyle/>
          <a:p>
            <a:pPr algn="l"/>
            <a:r>
              <a:rPr sz="900" b="0" i="0">
                <a:solidFill>
                  <a:srgbClr val="7A7368"/>
                </a:solidFill>
                <a:latin typeface="Calibri"/>
              </a:rPr>
              <a:t>corridas Monte Carlo</a:t>
            </a:r>
          </a:p>
        </p:txBody>
      </p:sp>
      <p:sp>
        <p:nvSpPr>
          <p:cNvPr id="30" name="Rectangle 29"/>
          <p:cNvSpPr/>
          <p:nvPr/>
        </p:nvSpPr>
        <p:spPr>
          <a:xfrm>
            <a:off x="548640" y="5989320"/>
            <a:ext cx="1051560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53328"/>
            <a:ext cx="11338560" cy="365760"/>
          </a:xfrm>
          <a:prstGeom prst="rect">
            <a:avLst/>
          </a:prstGeom>
          <a:noFill/>
        </p:spPr>
        <p:txBody>
          <a:bodyPr wrap="square">
            <a:spAutoFit/>
          </a:bodyPr>
          <a:lstStyle/>
          <a:p>
            <a:pPr algn="ctr"/>
            <a:r>
              <a:rPr sz="1000" b="0" i="0">
                <a:solidFill>
                  <a:srgbClr val="B8862A"/>
                </a:solidFill>
                <a:latin typeface="Consolas"/>
              </a:rPr>
              <a:t>DATOS ABIERTOS  ·  CÓDIGO ABIERTO  ·  LICENCIA MIT  ·  Tec de Monterrey · Campus SLP · Ing. Mecatrónica · 4° Semestre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