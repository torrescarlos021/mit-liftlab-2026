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62A"/>
                </a:solidFill>
                <a:latin typeface="Consolas"/>
              </a:rPr>
              <a:t>MIT LIFTLAB  ·  NATIONAL COMPETITION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1A1612"/>
                </a:solidFill>
                <a:latin typeface="Calibri"/>
              </a:rPr>
              <a:t>From Nanostores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1">
                <a:solidFill>
                  <a:srgbClr val="B8332A"/>
                </a:solidFill>
                <a:latin typeface="Calibri"/>
              </a:rPr>
              <a:t>→ Classrooms.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7368"/>
                </a:solidFill>
                <a:latin typeface="Calibri"/>
              </a:rPr>
              <a:t>A data-driven story of five phases, 104 voices, and one curricular proposal
for Mexican childhood health.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983480"/>
            <a:ext cx="10515600" cy="9144"/>
          </a:xfrm>
          <a:prstGeom prst="rect">
            <a:avLst/>
          </a:prstGeom>
          <a:solidFill>
            <a:srgbClr val="C8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368"/>
                </a:solidFill>
                <a:latin typeface="Consolas"/>
              </a:rPr>
              <a:t>INSTITUTION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12"/>
                </a:solidFill>
                <a:latin typeface="Calibri"/>
              </a:rPr>
              <a:t>Tec de Monterrey, Campus SLP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07492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368"/>
                </a:solidFill>
                <a:latin typeface="Consolas"/>
              </a:rPr>
              <a:t>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5303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12"/>
                </a:solidFill>
                <a:latin typeface="Calibri"/>
              </a:rPr>
              <a:t>Mechatronics Eng. · 4th Semester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07492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368"/>
                </a:solidFill>
                <a:latin typeface="Consolas"/>
              </a:rPr>
              <a:t>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303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12"/>
                </a:solidFill>
                <a:latin typeface="Calibri"/>
              </a:rPr>
              <a:t>5-Phase Analytical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507492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368"/>
                </a:solidFill>
                <a:latin typeface="Consolas"/>
              </a:rP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5303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12"/>
                </a:solidFill>
                <a:latin typeface="Calibri"/>
              </a:rPr>
              <a:t>Ita · Marcos · Torres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62A"/>
                </a:solidFill>
                <a:latin typeface="Consolas"/>
              </a:rPr>
              <a:t>CAPÍTULO 01  ·  LA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612"/>
                </a:solidFill>
                <a:latin typeface="Calibri"/>
              </a:rPr>
              <a:t>Todo comenzó con una cifra que no podíamos ignorar.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7368"/>
                </a:solidFill>
                <a:latin typeface="Calibri"/>
              </a:rPr>
              <a:t>México enfrenta una de las crisis de obesidad infantil más severas del mundo. Los datos son contundentes: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383280" cy="18288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8332A"/>
                </a:solidFill>
                <a:latin typeface="Calibri"/>
              </a:rPr>
              <a:t>36.6%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DF8F1"/>
                </a:solidFill>
                <a:latin typeface="Calibri"/>
              </a:rPr>
              <a:t>niños 5–11 años
con sobrepeso u obesidad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862A"/>
                </a:solidFill>
                <a:latin typeface="Consolas"/>
              </a:rPr>
              <a:t>ENSANUT 2020–2024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691640"/>
            <a:ext cx="3383280" cy="18288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8288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8332A"/>
                </a:solidFill>
                <a:latin typeface="Calibri"/>
              </a:rPr>
              <a:t>40.1%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377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DF8F1"/>
                </a:solidFill>
                <a:latin typeface="Calibri"/>
              </a:rPr>
              <a:t>adolescentes 12–19 años
con sobrepeso u obesidad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200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862A"/>
                </a:solidFill>
                <a:latin typeface="Consolas"/>
              </a:rPr>
              <a:t>ENSANUT 2020–2024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91640"/>
            <a:ext cx="3383280" cy="18288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8332A"/>
                </a:solidFill>
                <a:latin typeface="Calibri"/>
              </a:rPr>
              <a:t>7 de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77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DF8F1"/>
                </a:solidFill>
                <a:latin typeface="Calibri"/>
              </a:rPr>
              <a:t>escolares sin
actividad física alguna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862A"/>
                </a:solidFill>
                <a:latin typeface="Consolas"/>
              </a:rPr>
              <a:t>SEP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3383280" cy="18288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8332A"/>
                </a:solidFill>
                <a:latin typeface="Calibri"/>
              </a:rPr>
              <a:t>1.1M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348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DF8F1"/>
                </a:solidFill>
                <a:latin typeface="Calibri"/>
              </a:rPr>
              <a:t>tienditas — punto
principal de acceso a comida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578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862A"/>
                </a:solidFill>
                <a:latin typeface="Consolas"/>
              </a:rPr>
              <a:t>INEGI DENUE 2024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3749039"/>
            <a:ext cx="3383280" cy="18288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886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8332A"/>
                </a:solidFill>
                <a:latin typeface="Calibri"/>
              </a:rPr>
              <a:t>2h/sem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4348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DF8F1"/>
                </a:solidFill>
                <a:latin typeface="Calibri"/>
              </a:rPr>
              <a:t>EF en secundaria
(antes eran 5h pre-2010)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2578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862A"/>
                </a:solidFill>
                <a:latin typeface="Consolas"/>
              </a:rPr>
              <a:t>SEP Plan 2022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749039"/>
            <a:ext cx="3383280" cy="18288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886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8332A"/>
                </a:solidFill>
                <a:latin typeface="Calibri"/>
              </a:rPr>
              <a:t>+5.8pp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4348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DF8F1"/>
                </a:solidFill>
                <a:latin typeface="Calibri"/>
              </a:rPr>
              <a:t>obesidad en escolares
varones 2006→2022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2578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862A"/>
                </a:solidFill>
                <a:latin typeface="Consolas"/>
              </a:rPr>
              <a:t>ENSANUT Continua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62A"/>
                </a:solidFill>
                <a:latin typeface="Consolas"/>
              </a:rPr>
              <a:t>CAPÍTULO 01  ·  LA PREGUNTA INCORRECTA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612"/>
                </a:solidFill>
                <a:latin typeface="Calibri"/>
              </a:rPr>
              <a:t>Al principio miramos en la dirección equivocada.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029200" cy="2194560"/>
          </a:xfrm>
          <a:prstGeom prst="rect">
            <a:avLst/>
          </a:prstGeom>
          <a:solidFill>
            <a:srgbClr val="F5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8"/>
                </a:solidFill>
                <a:latin typeface="Consolas"/>
              </a:rPr>
              <a:t>HIPÓTESIS INICIAL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612"/>
                </a:solidFill>
                <a:latin typeface="Calibri"/>
              </a:rPr>
              <a:t>Si las tienditas son el principal punto
de acceso a comida ultraprocesada,
¿deberíamos regularlas?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7368"/>
                </a:solidFill>
                <a:latin typeface="Calibri"/>
              </a:rPr>
              <a:t>← Primer instinto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377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B8332A"/>
                </a:solidFill>
                <a:latin typeface="Calibri"/>
              </a:rPr>
              <a:t>✗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508760"/>
            <a:ext cx="5120640" cy="219456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002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PREGUNTA CORRECTA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DF8F1"/>
                </a:solidFill>
                <a:latin typeface="Calibri"/>
              </a:rPr>
              <a:t>Si las familias dependen de las tienditas,
¿cómo equipamos a la siguiente generación
para tomar mejores decisiones dentro de ese entorno?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A7368"/>
                </a:solidFill>
                <a:latin typeface="Calibri"/>
              </a:rPr>
              <a:t>El modelo correcto no es regulación — es educación. Y los datos nos lo demostrarían.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26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EB0"/>
                </a:solidFill>
                <a:latin typeface="Consolas"/>
              </a:rPr>
              <a:t>CINCO FASES  →  REGRESIÓN  →  ENCUESTA  →  DISEÑO CURRICULAR  →  SIMULACIÓN  →  VALIDACIÓN EXPERTA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62A"/>
                </a:solidFill>
                <a:latin typeface="Consolas"/>
              </a:rPr>
              <a:t>CAPÍTULO 02  ·  EL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612"/>
                </a:solidFill>
                <a:latin typeface="Calibri"/>
              </a:rPr>
              <a:t>Construimos una cadena de evidencia, fase por fase.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7368"/>
                </a:solidFill>
                <a:latin typeface="Calibri"/>
              </a:rPr>
              <a:t>Cada fase prueba el supuesto en que se apoya la siguiente. Reportamos todo — incluyendo resultados nulos.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005840" cy="82296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0992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DF8F1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600200"/>
            <a:ext cx="10149840" cy="82296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645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368"/>
                </a:solidFill>
                <a:latin typeface="Consolas"/>
              </a:rPr>
              <a:t>DIAGNÓSTICO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562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612"/>
                </a:solidFill>
                <a:latin typeface="Calibri"/>
              </a:rPr>
              <a:t>Regresión Lineal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691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055"/>
                </a:solidFill>
                <a:latin typeface="Calibri"/>
              </a:rPr>
              <a:t>OLS en 32 estados: densidad de tienditas vs. obesidad infantil controlando marginación.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1005840" cy="82296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2432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DF8F1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514600"/>
            <a:ext cx="10149840" cy="82296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25603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368"/>
                </a:solidFill>
                <a:latin typeface="Consolas"/>
              </a:rPr>
              <a:t>DIAGNÓSTICO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7706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612"/>
                </a:solidFill>
                <a:latin typeface="Calibri"/>
              </a:rPr>
              <a:t>Datos Extendidos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606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055"/>
                </a:solidFill>
                <a:latin typeface="Calibri"/>
              </a:rPr>
              <a:t>ENSANUT actividad física, ENIGH gasto, Anuarios. Identificar el predictor más modificable.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29000"/>
            <a:ext cx="1005840" cy="82296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3872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DF8F1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3429000"/>
            <a:ext cx="10149840" cy="82296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34747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862A"/>
                </a:solidFill>
                <a:latin typeface="Consolas"/>
              </a:rPr>
              <a:t>ESCUCHAR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6850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F8F1"/>
                </a:solidFill>
                <a:latin typeface="Calibri"/>
              </a:rPr>
              <a:t>Encuesta Primaria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520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BEB0"/>
                </a:solidFill>
                <a:latin typeface="Calibri"/>
              </a:rPr>
              <a:t>104 personas reales en SLP. Probar: ¿es la falta de tiempo la barrera estructural?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43400"/>
            <a:ext cx="1005840" cy="82296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45312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DF8F1"/>
                </a:solidFill>
                <a:latin typeface="Calibri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4343400"/>
            <a:ext cx="10149840" cy="82296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91640" y="43891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368"/>
                </a:solidFill>
                <a:latin typeface="Consolas"/>
              </a:rPr>
              <a:t>DISEÑAR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599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612"/>
                </a:solidFill>
                <a:latin typeface="Calibri"/>
              </a:rPr>
              <a:t>Intervención Curricular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4348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055"/>
                </a:solidFill>
                <a:latin typeface="Calibri"/>
              </a:rPr>
              <a:t>Fortalecer EF + Vida Saludable para 12–15 años. 5 componentes, alineados al NEM 2022.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57800"/>
            <a:ext cx="1005840" cy="82296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36752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DF8F1"/>
                </a:solidFill>
                <a:latin typeface="Calibri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480" y="5257800"/>
            <a:ext cx="10149840" cy="82296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91640" y="53035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368"/>
                </a:solidFill>
                <a:latin typeface="Consolas"/>
              </a:rPr>
              <a:t>PROYECTAR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55138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612"/>
                </a:solidFill>
                <a:latin typeface="Calibri"/>
              </a:rPr>
              <a:t>Simulación Monte Carlo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3492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055"/>
                </a:solidFill>
                <a:latin typeface="Calibri"/>
              </a:rPr>
              <a:t>5,000 corridas × 5 escenarios. Tamaños de efecto de meta-análisis. Escenario nulo incluido.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8862A"/>
                </a:solidFill>
                <a:latin typeface="Consolas"/>
              </a:rPr>
              <a:t>Fases 1–2–3 diagnostican la causa raíz   ·   Fases 4–5 diseñan y proyectan la intervención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62A"/>
                </a:solidFill>
                <a:latin typeface="Consolas"/>
              </a:rPr>
              <a:t>CAPÍTULO 02  ·  FASE 1–2  ·  CORRIMOS LOS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612"/>
                </a:solidFill>
                <a:latin typeface="Calibri"/>
              </a:rPr>
              <a:t>Primero, dejamos que los datos estatales hablaran.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789920" cy="64008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862A"/>
                </a:solidFill>
                <a:latin typeface="Consolas"/>
              </a:rPr>
              <a:t>y_i = β₀ + β₁ · nanostore_density + β₂ · marginalization_index + β₃ · urbanization_pct + 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332A"/>
                </a:solidFill>
                <a:latin typeface="Consolas"/>
              </a:rPr>
              <a:t>FASE 1 — REGRESIÓN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12"/>
                </a:solidFill>
                <a:latin typeface="Calibri"/>
              </a:rPr>
              <a:t>→  32 entidades federativas como observaciones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24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12"/>
                </a:solidFill>
                <a:latin typeface="Calibri"/>
              </a:rPr>
              <a:t>→  2 variables dependientes: obesidad 5–11 y 12–19 años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723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12"/>
                </a:solidFill>
                <a:latin typeface="Calibri"/>
              </a:rPr>
              <a:t>→  Diagnósticos: R², VIF, Breusch–Pagan, Cook's 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198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12"/>
                </a:solidFill>
                <a:latin typeface="Calibri"/>
              </a:rPr>
              <a:t>→  Todos los coeficientes reportados — incluidos no significativos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67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12"/>
                </a:solidFill>
                <a:latin typeface="Calibri"/>
              </a:rPr>
              <a:t>→  Fase 1 es descriptiva, no causal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332A"/>
                </a:solidFill>
                <a:latin typeface="Consolas"/>
              </a:rPr>
              <a:t>FASE 2 — DATASETS EXTENDIDOS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377440"/>
            <a:ext cx="5303520" cy="56692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40487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332A"/>
                </a:solidFill>
                <a:latin typeface="Consolas"/>
              </a:rPr>
              <a:t>ENSANUT PA 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606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  <a:latin typeface="Calibri"/>
              </a:rPr>
              <a:t>% menores que cumplen recom. WHO actividad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017520"/>
            <a:ext cx="5303520" cy="56692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04495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332A"/>
                </a:solidFill>
                <a:latin typeface="Consolas"/>
              </a:rPr>
              <a:t>ENSANUT Alimentos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  <a:latin typeface="Calibri"/>
              </a:rPr>
              <a:t>Porciones F&amp;V diarias; bebidas azucaradas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657600"/>
            <a:ext cx="5303520" cy="56692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685031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332A"/>
                </a:solidFill>
                <a:latin typeface="Consolas"/>
              </a:rPr>
              <a:t>ENIGH 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886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  <a:latin typeface="Calibri"/>
              </a:rPr>
              <a:t>Gasto en alimentos procesados vs frescos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297679"/>
            <a:ext cx="5303520" cy="56692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32511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332A"/>
                </a:solidFill>
                <a:latin typeface="Consolas"/>
              </a:rPr>
              <a:t>Anuarios Morbilidad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5262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  <a:latin typeface="Calibri"/>
              </a:rPr>
              <a:t>Incidencia diabetes tipo 2 en menores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74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7368"/>
                </a:solidFill>
                <a:latin typeface="Calibri"/>
              </a:rPr>
              <a:t>Resultado: el modelo extendido eleva el poder explicativo y revela el predictor más modificable → guía el diseño de la intervención.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62A"/>
                </a:solidFill>
                <a:latin typeface="Consolas"/>
              </a:rPr>
              <a:t>CAPÍTULO 02  ·  FASE 3  ·  ESCUCHAMOS A 104 PERSONAS REALES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612"/>
                </a:solidFill>
                <a:latin typeface="Calibri"/>
              </a:rPr>
              <a:t>Los modelos estadísticos nos dieron correlaciones. Las personas nos dieron causas.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7368"/>
                </a:solidFill>
                <a:latin typeface="Consolas"/>
              </a:rPr>
              <a:t>104 respondentes · San Luis Potosí · Dic 2025 – Ene 2026 · Mix: estudiantes, padres, docentes, trabajadores · Formulario en dos pistas (padres / no padres)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103120" cy="36576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647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DF8F1"/>
                </a:solidFill>
                <a:latin typeface="Calibri"/>
              </a:rPr>
              <a:t>H1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2103120" cy="155448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F8F1"/>
                </a:solidFill>
                <a:latin typeface="Calibri"/>
              </a:rPr>
              <a:t>Falta de tiempo
es la barrera principal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62A"/>
                </a:solidFill>
                <a:latin typeface="Calibri"/>
              </a:rPr>
              <a:t>"No tengo tiempo
por el trabajo" — respuesta #1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737360"/>
            <a:ext cx="2103120" cy="36576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7647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DF8F1"/>
                </a:solidFill>
                <a:latin typeface="Calibri"/>
              </a:rPr>
              <a:t>H2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148840"/>
            <a:ext cx="2103120" cy="155448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F8F1"/>
                </a:solidFill>
                <a:latin typeface="Calibri"/>
              </a:rPr>
              <a:t>Los padres están
preocupados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926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62A"/>
                </a:solidFill>
                <a:latin typeface="Calibri"/>
              </a:rPr>
              <a:t>91.7% responde
"Muy" o "Algo preocupado"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737360"/>
            <a:ext cx="2103120" cy="36576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7647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DF8F1"/>
                </a:solidFill>
                <a:latin typeface="Calibri"/>
              </a:rPr>
              <a:t>H3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148840"/>
            <a:ext cx="2103120" cy="155448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F8F1"/>
                </a:solidFill>
                <a:latin typeface="Calibri"/>
              </a:rPr>
              <a:t>Los niños compran
ultrапrocesados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926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62A"/>
                </a:solidFill>
                <a:latin typeface="Calibri"/>
              </a:rPr>
              <a:t>Papas, dulces y refrescos
— compras más frecuentes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1737360"/>
            <a:ext cx="2103120" cy="36576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17647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DF8F1"/>
                </a:solidFill>
                <a:latin typeface="Calibri"/>
              </a:rPr>
              <a:t>H4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148840"/>
            <a:ext cx="2103120" cy="155448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F8F1"/>
                </a:solidFill>
                <a:latin typeface="Calibri"/>
              </a:rPr>
              <a:t>La población pide
educación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926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62A"/>
                </a:solidFill>
                <a:latin typeface="Calibri"/>
              </a:rPr>
              <a:t>Ed. nutricional en
top-2 soluciones pedidas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1737360"/>
            <a:ext cx="2103120" cy="36576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17647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DF8F1"/>
                </a:solidFill>
                <a:latin typeface="Calibri"/>
              </a:rPr>
              <a:t>H5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2148840"/>
            <a:ext cx="2103120" cy="155448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F8F1"/>
                </a:solidFill>
                <a:latin typeface="Calibri"/>
              </a:rPr>
              <a:t>Alta disposición
al cambio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926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62A"/>
                </a:solidFill>
                <a:latin typeface="Calibri"/>
              </a:rPr>
              <a:t>85% dice "Sí" — la
estructura es el límite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8862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332A"/>
                </a:solidFill>
                <a:latin typeface="Calibri"/>
              </a:rPr>
              <a:t>✓  ✓  ✓  ✓  ✓   Las cinco hipótesis confirmadas.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612"/>
                </a:solidFill>
                <a:latin typeface="Calibri"/>
              </a:rPr>
              <a:t>¿Por qué no cocinas frecuentemente?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663440"/>
            <a:ext cx="4114800" cy="219456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466344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612"/>
                </a:solidFill>
                <a:latin typeface="Calibri"/>
              </a:rPr>
              <a:t>No tengo tiempo (trabajo)  (38)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937759"/>
            <a:ext cx="3031957" cy="219456"/>
          </a:xfrm>
          <a:prstGeom prst="rect">
            <a:avLst/>
          </a:prstGeom>
          <a:solidFill>
            <a:srgbClr val="7A7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34877" y="4937759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612"/>
                </a:solidFill>
                <a:latin typeface="Calibri"/>
              </a:rPr>
              <a:t>No me gusta cocinar  (28)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212079"/>
            <a:ext cx="1299410" cy="219456"/>
          </a:xfrm>
          <a:prstGeom prst="rect">
            <a:avLst/>
          </a:prstGeom>
          <a:solidFill>
            <a:srgbClr val="7A7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02330" y="5212079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612"/>
                </a:solidFill>
                <a:latin typeface="Calibri"/>
              </a:rPr>
              <a:t>Prefiero comprar hecho  (12)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486400"/>
            <a:ext cx="757989" cy="219456"/>
          </a:xfrm>
          <a:prstGeom prst="rect">
            <a:avLst/>
          </a:prstGeom>
          <a:solidFill>
            <a:srgbClr val="7A7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60909" y="548640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612"/>
                </a:solidFill>
                <a:latin typeface="Calibri"/>
              </a:rPr>
              <a:t>Estudios/universidad  (7)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612"/>
                </a:solidFill>
                <a:latin typeface="Calibri"/>
              </a:rPr>
              <a:t>¿Qué soluciones quieres?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663440"/>
            <a:ext cx="4114800" cy="219456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07040" y="4663440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612"/>
                </a:solidFill>
                <a:latin typeface="Calibri"/>
              </a:rPr>
              <a:t>Acceso a alimentos saludables  (41)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937759"/>
            <a:ext cx="2709746" cy="219456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01986" y="4937759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612"/>
                </a:solidFill>
                <a:latin typeface="Calibri"/>
              </a:rPr>
              <a:t>Educación nutricional  (27)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5212079"/>
            <a:ext cx="2107580" cy="219456"/>
          </a:xfrm>
          <a:prstGeom prst="rect">
            <a:avLst/>
          </a:prstGeom>
          <a:solidFill>
            <a:srgbClr val="7A7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99820" y="5212079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612"/>
                </a:solidFill>
                <a:latin typeface="Calibri"/>
              </a:rPr>
              <a:t>Menos horas de trabajo  (21)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623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8862A"/>
                </a:solidFill>
                <a:latin typeface="Calibri"/>
              </a:rPr>
              <a:t>La intervención que proponemos es la que la propia población nombra.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0B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62A"/>
                </a:solidFill>
                <a:latin typeface="Consolas"/>
              </a:rPr>
              <a:t>EL MOMENTO DE CLARIDAD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1">
                <a:solidFill>
                  <a:srgbClr val="B8332A"/>
                </a:solidFill>
                <a:latin typeface="Calibri"/>
              </a:rPr>
              <a:t>"No tengo tiempo debido al trabajo."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BEB0"/>
                </a:solidFill>
                <a:latin typeface="Calibri"/>
              </a:rPr>
              <a:t>— La respuesta más frecuente de 104 personas reales cuando se les preguntó por qué no cocinan.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10058400" cy="9144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DF8F1"/>
                </a:solidFill>
                <a:latin typeface="Calibri"/>
              </a:rPr>
              <a:t>Ese dato lo cambió todo.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BEB0"/>
                </a:solidFill>
                <a:latin typeface="Calibri"/>
              </a:rPr>
              <a:t>Si el tiempo es estructural — si las familias físicamente no pueden cocinar distinto —
entonces no podemos cambiar a los adultos de hoy.
Pero sí podemos equipar a los adolescentes de mañana.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60520"/>
            <a:ext cx="10058400" cy="91440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51960"/>
            <a:ext cx="9692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DF8F1"/>
                </a:solidFill>
                <a:latin typeface="Calibri"/>
              </a:rPr>
              <a:t>La población no necesita permiso. Necesita herramientas.
Nuestra propuesta no es un mandato — es un refuerzo al currículo que la NEM ya nombra pero aún no equipa.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862A"/>
                </a:solidFill>
                <a:latin typeface="Consolas"/>
              </a:rPr>
              <a:t>Fase 1–2: correlación estadística.    Fase 3: causa estructural confirmada.    Fase 4: diseño de la solución.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62A"/>
                </a:solidFill>
                <a:latin typeface="Consolas"/>
              </a:rPr>
              <a:t>CAPÍTULO 03  ·  FASE 4  ·  DISEÑAMOS LO QUE ELLOS PEDÍAN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612"/>
                </a:solidFill>
                <a:latin typeface="Calibri"/>
              </a:rPr>
              <a:t>Cuatro componentes. Construidos sobre lo que ya existe.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7368"/>
                </a:solidFill>
                <a:latin typeface="Calibri"/>
              </a:rPr>
              <a:t>Secundaria (12–15 años): mayor prevalencia de obesidad + hábitos que persisten en la adultez · Sin reforma legislativa · Sin presupuesto nuevo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057400" cy="45720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DF8F1"/>
                </a:solidFill>
                <a:latin typeface="Calibri"/>
              </a:rPr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2057400" cy="32461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62A"/>
                </a:solidFill>
                <a:latin typeface="Calibri"/>
              </a:rPr>
              <a:t>EF Expandida
(2h → 3h/semana)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EB0"/>
                </a:solidFill>
                <a:latin typeface="Calibri"/>
              </a:rPr>
              <a:t>3ª sesión: Alfabetización de Estilo de Vida Activo
— lectura de etiquetas, snack saludable con ≤20 MXN,
mapeo del entorno alimentario alrededor de la escuela.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554480"/>
            <a:ext cx="2057400" cy="45720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581912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DF8F1"/>
                </a:solidFill>
                <a:latin typeface="Calibri"/>
              </a:rPr>
              <a:t>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2057400"/>
            <a:ext cx="2057400" cy="32461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10312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62A"/>
                </a:solidFill>
                <a:latin typeface="Calibri"/>
              </a:rPr>
              <a:t>Módulo Entorno Crítico
(Vida Saludable)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78892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EB0"/>
                </a:solidFill>
                <a:latin typeface="Calibri"/>
              </a:rPr>
              <a:t>Auditorías bisemanales 30 min: contar/clasificar
productos en tienditas, documentar precios, presentar
hallazgos a compañeros y padres.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1554480"/>
            <a:ext cx="2057400" cy="45720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1581912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DF8F1"/>
                </a:solidFill>
                <a:latin typeface="Calibri"/>
              </a:rPr>
              <a:t>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2057400"/>
            <a:ext cx="2057400" cy="32461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10312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62A"/>
                </a:solidFill>
                <a:latin typeface="Calibri"/>
              </a:rPr>
              <a:t>Capa Estructural
(punto de decisión)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78892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EB0"/>
                </a:solidFill>
                <a:latin typeface="Calibri"/>
              </a:rPr>
              <a:t>Nudges de visibilidad co-diseñados con tienditas
vecinas: reposicionar agua/fruta al frente, señalización
'snack saludable ≤20 pesos' diseñada por estudiantes.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1554480"/>
            <a:ext cx="2057400" cy="45720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1581912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DF8F1"/>
                </a:solidFill>
                <a:latin typeface="Calibri"/>
              </a:rPr>
              <a:t>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2057400"/>
            <a:ext cx="2057400" cy="32461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79" y="210312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62A"/>
                </a:solidFill>
                <a:latin typeface="Calibri"/>
              </a:rPr>
              <a:t>Capacitación Docente
(8h + 4h opcional)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79" y="278892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EB0"/>
                </a:solidFill>
                <a:latin typeface="Calibri"/>
              </a:rPr>
              <a:t>CPD asíncrono: nutrición, pedagogía centrada en
autonomía, protocolo de auditoría. Paquete de
recursos imprimibles.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18320" y="1554480"/>
            <a:ext cx="2057400" cy="45720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81912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DF8F1"/>
                </a:solidFill>
                <a:latin typeface="Calibri"/>
              </a:rPr>
              <a:t>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2057400"/>
            <a:ext cx="2057400" cy="32461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210312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62A"/>
                </a:solidFill>
                <a:latin typeface="Calibri"/>
              </a:rPr>
              <a:t>Puente Familiar
(mensual)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78892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EB0"/>
                </a:solidFill>
                <a:latin typeface="Calibri"/>
              </a:rPr>
              <a:t>Invitación mensual para casa: discusión, receta
económica, reflexión firmada. Una invitación —
no tarea — que respeta el tiempo de las familias.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8862A"/>
                </a:solidFill>
                <a:latin typeface="Consolas"/>
              </a:rPr>
              <a:t>Marco teórico: Modelo Socioecológico  ·  Teoría de Autodeterminación  ·  Economía conductual (System 1)  ·  Revisiones Cochrane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7368"/>
                </a:solidFill>
                <a:latin typeface="Calibri"/>
              </a:rPr>
              <a:t>Costo estimado: ~MXN 12,000/escuela/año  ·  Escalado a 35,000 secundarias ≈ MXN 420M (&lt;0.1% presupuesto SEP)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62A"/>
                </a:solidFill>
                <a:latin typeface="Consolas"/>
              </a:rPr>
              <a:t>CAPÍTULO 03  ·  ALINEACIÓN AL NEM 2022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612"/>
                </a:solidFill>
                <a:latin typeface="Calibri"/>
              </a:rPr>
              <a:t>Refuerzo, no reemplazo — construido dentro de la NEM.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332A"/>
                </a:solidFill>
                <a:latin typeface="Consolas"/>
              </a:rPr>
              <a:t>¿POR QUÉ SECUNDARIA (12–15)?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12"/>
                </a:solidFill>
                <a:latin typeface="Calibri"/>
              </a:rPr>
              <a:t>→  Mayor prevalencia: 40.1% vs 36.6% en niños menores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12"/>
                </a:solidFill>
                <a:latin typeface="Calibri"/>
              </a:rPr>
              <a:t>→  Mayor gasto discrecional en tienditas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12"/>
                </a:solidFill>
                <a:latin typeface="Calibri"/>
              </a:rPr>
              <a:t>→  Hábitos formados aquí persisten en la adultez (Singh 2008)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12"/>
                </a:solidFill>
                <a:latin typeface="Calibri"/>
              </a:rPr>
              <a:t>→  Capacidad cognitiva para análisis crítico del entorno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12"/>
                </a:solidFill>
                <a:latin typeface="Calibri"/>
              </a:rPr>
              <a:t>→  Validado con director de Sec. Téc. 78, Matehuala, SLP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234440"/>
            <a:ext cx="10515600" cy="9144"/>
          </a:xfrm>
          <a:prstGeom prst="rect">
            <a:avLst/>
          </a:prstGeom>
          <a:solidFill>
            <a:srgbClr val="C8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332A"/>
                </a:solidFill>
                <a:latin typeface="Consolas"/>
              </a:rPr>
              <a:t>ALINEACIÓN NEM / PLAN 2022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5303520" cy="50292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6420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612"/>
                </a:solidFill>
                <a:latin typeface="Calibri"/>
              </a:rPr>
              <a:t>Campo: De lo humano y lo comunitario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89280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368"/>
                </a:solidFill>
                <a:latin typeface="Calibri"/>
              </a:rPr>
              <a:t>Componentes B y C anclados aquí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194560"/>
            <a:ext cx="5303520" cy="50292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21284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612"/>
                </a:solidFill>
                <a:latin typeface="Calibri"/>
              </a:rPr>
              <a:t>Eje: Vida Saludable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4414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368"/>
                </a:solidFill>
                <a:latin typeface="Calibri"/>
              </a:rPr>
              <a:t>Todos los componentes alimentan este eje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743200"/>
            <a:ext cx="5303520" cy="50292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614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612"/>
                </a:solidFill>
                <a:latin typeface="Calibri"/>
              </a:rPr>
              <a:t>Eje: Pensamiento crítico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990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368"/>
                </a:solidFill>
                <a:latin typeface="Calibri"/>
              </a:rPr>
              <a:t>Auditorías + análisis de marketing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291839"/>
            <a:ext cx="5303520" cy="50292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310127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612"/>
                </a:solidFill>
                <a:latin typeface="Calibri"/>
              </a:rPr>
              <a:t>Eje: Lectura y escritura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538727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368"/>
                </a:solidFill>
                <a:latin typeface="Calibri"/>
              </a:rPr>
              <a:t>Lectura de etiquetas + reflexiones familiares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840480"/>
            <a:ext cx="5303520" cy="50292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8587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612"/>
                </a:solidFill>
                <a:latin typeface="Calibri"/>
              </a:rPr>
              <a:t>PDAs existentes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0873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368"/>
                </a:solidFill>
                <a:latin typeface="Calibri"/>
              </a:rPr>
              <a:t>No se crean nuevos — se fortalece su entrega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80560"/>
            <a:ext cx="11247120" cy="11887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5262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CADENA DE CAMBIO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4632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DF8F1"/>
                </a:solidFill>
                <a:latin typeface="Calibri"/>
              </a:rPr>
              <a:t>CPD docente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846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862A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84632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DF8F1"/>
                </a:solidFill>
                <a:latin typeface="Calibri"/>
              </a:rPr>
              <a:t>Alfabetización aplicada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4846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862A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84632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DF8F1"/>
                </a:solidFill>
                <a:latin typeface="Calibri"/>
              </a:rPr>
              <a:t>Agencia del estudiante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4846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862A"/>
                </a:solidFill>
                <a:latin typeface="Calibri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484632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DF8F1"/>
                </a:solidFill>
                <a:latin typeface="Calibri"/>
              </a:rPr>
              <a:t>Cambio en compras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846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862A"/>
                </a:solidFill>
                <a:latin typeface="Calibri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84632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DF8F1"/>
                </a:solidFill>
                <a:latin typeface="Calibri"/>
              </a:rPr>
              <a:t>Entorno alimentario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349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BEB0"/>
                </a:solidFill>
                <a:latin typeface="Calibri"/>
              </a:rPr>
              <a:t>El mecanismo que probamos: el cambio ocurre a través del entorno proximal y la agencia del adolescente — no del conocimiento per 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62A"/>
                </a:solidFill>
                <a:latin typeface="Consolas"/>
              </a:rPr>
              <a:t>CAPÍTULO 04  ·  FASE 5  ·  LO CORRIMOS 5,000 VECES PARA ESTAR SEGUROS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612"/>
                </a:solidFill>
                <a:latin typeface="Calibri"/>
              </a:rPr>
              <a:t>Proyección basada en evidencia — no predicción.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332A"/>
                </a:solidFill>
                <a:latin typeface="Consolas"/>
              </a:rPr>
              <a:t>TAMAÑOS DE EFECTO  —  DE META-ANÁLISIS PUBLICADOS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794760" cy="2743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27048"/>
            <a:ext cx="3703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62A"/>
                </a:solidFill>
                <a:latin typeface="Consolas"/>
              </a:rPr>
              <a:t>Componente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508760"/>
            <a:ext cx="2240280" cy="2743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527048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62A"/>
                </a:solidFill>
                <a:latin typeface="Consolas"/>
              </a:rPr>
              <a:t>Efecto ΔIMC (kg/m²)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508760"/>
            <a:ext cx="2240280" cy="2743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527048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62A"/>
                </a:solidFill>
                <a:latin typeface="Consolas"/>
              </a:rPr>
              <a:t>IC 95%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508760"/>
            <a:ext cx="3154680" cy="2743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52704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62A"/>
                </a:solidFill>
                <a:latin typeface="Consolas"/>
              </a:rPr>
              <a:t>Fuente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3794760" cy="38404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883664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Educación nutricional sola (Silveira 2013)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828800"/>
            <a:ext cx="2240280" cy="38404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188366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−0.33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1828800"/>
            <a:ext cx="2240280" cy="38404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188366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(−0.55, −0.11)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828800"/>
            <a:ext cx="3154680" cy="38404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88366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Silveira et 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240280"/>
            <a:ext cx="3794760" cy="38404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295144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Actividad física sola (Cochrane)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240280"/>
            <a:ext cx="2240280" cy="38404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229514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−0.13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240280"/>
            <a:ext cx="2240280" cy="38404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29514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(−0.22, −0.04)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2240280"/>
            <a:ext cx="3154680" cy="38404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229514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Cochrane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651760"/>
            <a:ext cx="3794760" cy="38404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706624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AF + nutrición combinado (Cochrane)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651760"/>
            <a:ext cx="2240280" cy="38404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59" y="270662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−0.17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2651760"/>
            <a:ext cx="2240280" cy="38404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270662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(−0.29, −0.06)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2651760"/>
            <a:ext cx="3154680" cy="38404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270662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Cochrane 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063240"/>
            <a:ext cx="3794760" cy="38404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118104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Ed. salud adolescentes (Brown 2020)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3063240"/>
            <a:ext cx="2240280" cy="38404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59" y="311810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−0.06 z-score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0" y="3063240"/>
            <a:ext cx="2240280" cy="38404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311810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(−0.10, −0.03)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063240"/>
            <a:ext cx="3154680" cy="38404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311810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BMC Pub. Health 2020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474720"/>
            <a:ext cx="3794760" cy="384048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529584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Resultado nulo largo plazo (MA 2021)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3474720"/>
            <a:ext cx="2240280" cy="384048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59" y="352958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332A"/>
                </a:solidFill>
                <a:latin typeface="Calibri"/>
              </a:rPr>
              <a:t>0.00 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66560" y="3474720"/>
            <a:ext cx="2240280" cy="384048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352958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(—)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0" y="3474720"/>
            <a:ext cx="3154680" cy="384048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5440" y="352958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2021 Meta-analysis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3886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8332A"/>
                </a:solidFill>
                <a:latin typeface="Calibri"/>
              </a:rPr>
              <a:t>★ El escenario nulo está incluido explícitamente — no lo escondemos. Un resultado nulo de BMI es consistente con la literatura.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297680"/>
            <a:ext cx="2103120" cy="13716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3434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862A"/>
                </a:solidFill>
                <a:latin typeface="Consolas"/>
              </a:rPr>
              <a:t>COHORTE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46177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DF8F1"/>
                </a:solidFill>
                <a:latin typeface="Calibri"/>
              </a:rPr>
              <a:t>1,000 estudiantes
simulados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97480" y="4297680"/>
            <a:ext cx="2103120" cy="13716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88920" y="43434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862A"/>
                </a:solidFill>
                <a:latin typeface="Consolas"/>
              </a:rPr>
              <a:t>CORRIDAS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88920" y="46177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DF8F1"/>
                </a:solidFill>
                <a:latin typeface="Calibri"/>
              </a:rPr>
              <a:t>5,000 por escenario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0" y="4297680"/>
            <a:ext cx="2103120" cy="13716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0" y="43434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862A"/>
                </a:solidFill>
                <a:latin typeface="Consolas"/>
              </a:rPr>
              <a:t>HORIZONTES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0" y="46177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DF8F1"/>
                </a:solidFill>
                <a:latin typeface="Calibri"/>
              </a:rPr>
              <a:t>1, 3 y 5 años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78040" y="4297680"/>
            <a:ext cx="2103120" cy="13716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69480" y="43434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862A"/>
                </a:solidFill>
                <a:latin typeface="Consolas"/>
              </a:rPr>
              <a:t>ESCENARIOS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69480" y="46177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DF8F1"/>
                </a:solidFill>
                <a:latin typeface="Calibri"/>
              </a:rPr>
              <a:t>Baseline · Central
Optimista · Conserv.
Nulo-robustez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418320" y="4297680"/>
            <a:ext cx="2103120" cy="13716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09760" y="43434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862A"/>
                </a:solidFill>
                <a:latin typeface="Consolas"/>
              </a:rPr>
              <a:t>SENSIBILIDAD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09760" y="46177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DF8F1"/>
                </a:solidFill>
                <a:latin typeface="Calibri"/>
              </a:rPr>
              <a:t>Adherencia 50–100%
Dosis 0.5–3.0h/semana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7368"/>
                </a:solidFill>
                <a:latin typeface="Calibri"/>
              </a:rPr>
              <a:t>Resultado central a 5 años: la intervención ralentiza el crecimiento de IMC en ~0.68 kg/m², reduciendo prevalencia de sobrepeso en ~6 puntos porcentuales.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62A"/>
                </a:solidFill>
                <a:latin typeface="Consolas"/>
              </a:rPr>
              <a:t>CAPÍTULO 05  ·  LO PUSIMOS ANTE LOS EXPERTOS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612"/>
                </a:solidFill>
                <a:latin typeface="Calibri"/>
              </a:rPr>
              <a:t>Cinco perspectivas. Una para cada punto ciego posible.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103120" cy="41148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DF8F1"/>
                </a:solidFill>
                <a:latin typeface="Calibri"/>
              </a:rPr>
              <a:t>#1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103120" cy="25603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F8F1"/>
                </a:solidFill>
                <a:latin typeface="Calibri"/>
              </a:rPr>
              <a:t>Dr. José Manuel
Olais Govea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EB0"/>
                </a:solidFill>
                <a:latin typeface="Calibri"/>
              </a:rPr>
              <a:t>Tec de Monterrey
Campus SLP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INVESTIGACIÓN
EDUCATIVA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280160"/>
            <a:ext cx="2103120" cy="41148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2984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DF8F1"/>
                </a:solidFill>
                <a:latin typeface="Calibri"/>
              </a:rPr>
              <a:t>#2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737360"/>
            <a:ext cx="2103120" cy="25603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783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F8F1"/>
                </a:solidFill>
                <a:latin typeface="Calibri"/>
              </a:rPr>
              <a:t>Dr. Leopoldo
Zúñiga Silva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EB0"/>
                </a:solidFill>
                <a:latin typeface="Calibri"/>
              </a:rPr>
              <a:t>Tec de Monterrey
Campus SLP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971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INVESTIGACIÓN
EDUCATIVA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280160"/>
            <a:ext cx="2103120" cy="41148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2984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DF8F1"/>
                </a:solidFill>
                <a:latin typeface="Calibri"/>
              </a:rPr>
              <a:t>#3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737360"/>
            <a:ext cx="2103120" cy="25603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783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F8F1"/>
                </a:solidFill>
                <a:latin typeface="Calibri"/>
              </a:rPr>
              <a:t>Director
Sec. Téc. 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EB0"/>
                </a:solidFill>
                <a:latin typeface="Calibri"/>
              </a:rPr>
              <a:t>Matehuala, SLP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971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IMPLEMENTACIÓN
INSTITUCIONAL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1280160"/>
            <a:ext cx="2103120" cy="41148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2984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DF8F1"/>
                </a:solidFill>
                <a:latin typeface="Calibri"/>
              </a:rPr>
              <a:t>#4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1737360"/>
            <a:ext cx="2103120" cy="25603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1783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F8F1"/>
                </a:solidFill>
                <a:latin typeface="Calibri"/>
              </a:rPr>
              <a:t>Docente de
Secundaria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EB0"/>
                </a:solidFill>
                <a:latin typeface="Calibri"/>
              </a:rPr>
              <a:t>Practicante de
fitness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971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PRÁCTICA
EN AULA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1280160"/>
            <a:ext cx="2103120" cy="41148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12984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DF8F1"/>
                </a:solidFill>
                <a:latin typeface="Calibri"/>
              </a:rPr>
              <a:t>#5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1737360"/>
            <a:ext cx="2103120" cy="25603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1783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F8F1"/>
                </a:solidFill>
                <a:latin typeface="Calibri"/>
              </a:rPr>
              <a:t>Estudiante de
Educación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EB0"/>
                </a:solidFill>
                <a:latin typeface="Calibri"/>
              </a:rPr>
              <a:t>Background
físico-deportivo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971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VOZ
ESTUDIANTIL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34840"/>
            <a:ext cx="5486400" cy="16002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48056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332A"/>
                </a:solidFill>
                <a:latin typeface="Consolas"/>
              </a:rPr>
              <a:t>PROTOCOLO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7548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·  Entrevistas semiestructuradas, 30–45 min cada una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00176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·  8 preguntas core + 2–3 preguntas por 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24865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·  Grabación con consentimiento informado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49554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·  Codificación temática: convergencia, divergencia, inesperado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74243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Calibri"/>
              </a:rPr>
              <a:t>·  Umbral: 4/5 = convergencia fuerte · 3/5 = convergente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434840"/>
            <a:ext cx="5486400" cy="16002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448056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PREGUNTAS CLAVE DE VALIDACIÓN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47548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EB0"/>
                </a:solidFill>
                <a:latin typeface="Calibri"/>
              </a:rPr>
              <a:t>·  ¿Cuál es el factor más subestimado de la obesidad infantil?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500176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EB0"/>
                </a:solidFill>
                <a:latin typeface="Calibri"/>
              </a:rPr>
              <a:t>·  ¿Qué tan realista es atacarlo desde la escuela?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24865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EB0"/>
                </a:solidFill>
                <a:latin typeface="Calibri"/>
              </a:rPr>
              <a:t>·  ¿Qué pondrías en una hora extra de EF?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549554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EB0"/>
                </a:solidFill>
                <a:latin typeface="Calibri"/>
              </a:rPr>
              <a:t>·  ¿Qué cambiarías de nuestra propuesta?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574243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EB0"/>
                </a:solidFill>
                <a:latin typeface="Calibri"/>
              </a:rPr>
              <a:t>·  ¿Qué evidencia necesitarías para creer que funciona?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0B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62A"/>
                </a:solidFill>
                <a:latin typeface="Consolas"/>
              </a:rPr>
              <a:t>CAPÍTULO 06  ·  ¿QUÉ PASA SI LO HACEMOS BIEN?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DF8F1"/>
                </a:solidFill>
                <a:latin typeface="Calibri"/>
              </a:rPr>
              <a:t>Los resultados que el modelo proyecta — honestos y con bandas de incertidumbre.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1143000"/>
          </a:xfrm>
          <a:prstGeom prst="rect">
            <a:avLst/>
          </a:prstGeom>
          <a:solidFill>
            <a:srgbClr val="1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COMPORTAMENTAL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DF8F1"/>
                </a:solidFill>
                <a:latin typeface="Calibri"/>
              </a:rPr>
              <a:t>Compras en tiendita cambian hacia opciones más saludables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BEB0"/>
                </a:solidFill>
                <a:latin typeface="Calibri"/>
              </a:rPr>
              <a:t>Medible en semanas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371600"/>
            <a:ext cx="5303520" cy="1143000"/>
          </a:xfrm>
          <a:prstGeom prst="rect">
            <a:avLst/>
          </a:prstGeom>
          <a:solidFill>
            <a:srgbClr val="1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4173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AMBIENTAL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6642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DF8F1"/>
                </a:solidFill>
                <a:latin typeface="Calibri"/>
              </a:rPr>
              <a:t>Tienditas socias ajustan defaults y visibilidad de productos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194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BEB0"/>
                </a:solidFill>
                <a:latin typeface="Calibri"/>
              </a:rPr>
              <a:t>Medible en meses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5303520" cy="1143000"/>
          </a:xfrm>
          <a:prstGeom prst="rect">
            <a:avLst/>
          </a:prstGeom>
          <a:solidFill>
            <a:srgbClr val="1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9747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COGNITIVO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443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DF8F1"/>
                </a:solidFill>
                <a:latin typeface="Calibri"/>
              </a:rPr>
              <a:t>Estudiantes desarrollan agencia crítica sobre su entorno alimentario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BEB0"/>
                </a:solidFill>
                <a:latin typeface="Calibri"/>
              </a:rPr>
              <a:t>Medible en meses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651760"/>
            <a:ext cx="5303520" cy="1143000"/>
          </a:xfrm>
          <a:prstGeom prst="rect">
            <a:avLst/>
          </a:prstGeom>
          <a:solidFill>
            <a:srgbClr val="1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69747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FAMILIAR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9443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DF8F1"/>
                </a:solidFill>
                <a:latin typeface="Calibri"/>
              </a:rPr>
              <a:t>Familias reciben canal estructurado para conversación sobre salud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BEB0"/>
                </a:solidFill>
                <a:latin typeface="Calibri"/>
              </a:rPr>
              <a:t>Medible en ciclo escolar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303520" cy="1143000"/>
          </a:xfrm>
          <a:prstGeom prst="rect">
            <a:avLst/>
          </a:prstGeom>
          <a:solidFill>
            <a:srgbClr val="1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97763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SISTÉMICO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245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DF8F1"/>
                </a:solidFill>
                <a:latin typeface="Calibri"/>
              </a:rPr>
              <a:t>La SEP obtiene un dataset de entorno alimentario escolar a escala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7548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BEB0"/>
                </a:solidFill>
                <a:latin typeface="Calibri"/>
              </a:rPr>
              <a:t>Valor acumulado año a año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931920"/>
            <a:ext cx="5303520" cy="1143000"/>
          </a:xfrm>
          <a:prstGeom prst="rect">
            <a:avLst/>
          </a:prstGeom>
          <a:solidFill>
            <a:srgbClr val="1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97763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332A"/>
                </a:solidFill>
                <a:latin typeface="Consolas"/>
              </a:rPr>
              <a:t>IMC (exploratorio)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2245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DF8F1"/>
                </a:solidFill>
                <a:latin typeface="Calibri"/>
              </a:rPr>
              <a:t>ΔIMC ~−0.68 kg/m² a 5 años — escenario central. Puede ser nulo.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548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BEB0"/>
                </a:solidFill>
                <a:latin typeface="Calibri"/>
              </a:rPr>
              <a:t>Exploratorio — pre-registrado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8862A"/>
                </a:solidFill>
                <a:latin typeface="Calibri"/>
              </a:rPr>
              <a:t>La hipótesis que probamos: el cambio ocurre a través del entorno y la agencia — no del conocimiento per se. Eso es falseable. Y eso es lo que hace a este diseño riguroso.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62A"/>
                </a:solidFill>
                <a:latin typeface="Consolas"/>
              </a:rPr>
              <a:t>CAPÍTULO 06  ·  EL CAMINO HACIA ADELANTE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612"/>
                </a:solidFill>
                <a:latin typeface="Calibri"/>
              </a:rPr>
              <a:t>Un piloto riguroso. Un diseño que se puede escalar.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32004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DISEÑO DEL ESTUDIO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Diseño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6916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DF8F1"/>
                </a:solidFill>
                <a:latin typeface="Calibri"/>
              </a:rPr>
              <a:t>Ensayo clúster stepped-wedge
aleatorizadо — más poder que
un paralelo, éticamente superior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41448"/>
            <a:ext cx="4846320" cy="9144"/>
          </a:xfrm>
          <a:prstGeom prst="rect">
            <a:avLst/>
          </a:prstGeom>
          <a:solidFill>
            <a:srgbClr val="7A7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Primarios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49631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DF8F1"/>
                </a:solidFill>
                <a:latin typeface="Calibri"/>
              </a:rPr>
              <a:t>Comportamiento de compra
· Cambios en inventario tiendita
· Agencia crítica (escala validada)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246120"/>
            <a:ext cx="4846320" cy="9144"/>
          </a:xfrm>
          <a:prstGeom prst="rect">
            <a:avLst/>
          </a:prstGeom>
          <a:solidFill>
            <a:srgbClr val="7A7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300984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Secundario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300984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DF8F1"/>
                </a:solidFill>
                <a:latin typeface="Calibri"/>
              </a:rPr>
              <a:t>IMC z-score — pre-especificado
como exploratorio y sub-potenciado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050791"/>
            <a:ext cx="4846320" cy="9144"/>
          </a:xfrm>
          <a:prstGeom prst="rect">
            <a:avLst/>
          </a:prstGeom>
          <a:solidFill>
            <a:srgbClr val="7A7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105656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Mecanístico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105656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DF8F1"/>
                </a:solidFill>
                <a:latin typeface="Calibri"/>
              </a:rPr>
              <a:t>Mediación formal: ¿el cambio
pasa por entorno/agencia
— no por conocimiento solo?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855464"/>
            <a:ext cx="4846320" cy="9144"/>
          </a:xfrm>
          <a:prstGeom prst="rect">
            <a:avLst/>
          </a:prstGeom>
          <a:solidFill>
            <a:srgbClr val="7A7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280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332A"/>
                </a:solidFill>
                <a:latin typeface="Consolas"/>
              </a:rPr>
              <a:t>HOJA DE RUTA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645920"/>
            <a:ext cx="1463040" cy="658368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91640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DF8F1"/>
                </a:solidFill>
                <a:latin typeface="Consolas"/>
              </a:rPr>
              <a:t>PRE-PILOTO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645920"/>
            <a:ext cx="3749039" cy="65836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1719072"/>
            <a:ext cx="3566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  <a:latin typeface="Calibri"/>
              </a:rPr>
              <a:t>Pre-registro en OSF · Reclutamiento de clústeres · Aleatorización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395728"/>
            <a:ext cx="1463040" cy="658368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441448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DF8F1"/>
                </a:solidFill>
                <a:latin typeface="Consolas"/>
              </a:rPr>
              <a:t>SEMANAS 1–2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395728"/>
            <a:ext cx="3749039" cy="65836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2468880"/>
            <a:ext cx="3566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  <a:latin typeface="Calibri"/>
              </a:rPr>
              <a:t>Línea base: comportamiento, entorno, cognición, IMC agregado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145536"/>
            <a:ext cx="1463040" cy="658368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191256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DF8F1"/>
                </a:solidFill>
                <a:latin typeface="Consolas"/>
              </a:rPr>
              <a:t>ONGOING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3145536"/>
            <a:ext cx="3749039" cy="65836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3218688"/>
            <a:ext cx="3566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  <a:latin typeface="Calibri"/>
              </a:rPr>
              <a:t>Despliegue por pasos · Verificaciones de fidelidad RE-AIM mensual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895344"/>
            <a:ext cx="1463040" cy="658368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941063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DF8F1"/>
                </a:solidFill>
                <a:latin typeface="Consolas"/>
              </a:rPr>
              <a:t>MES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3895344"/>
            <a:ext cx="3749039" cy="65836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3968496"/>
            <a:ext cx="3566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  <a:latin typeface="Calibri"/>
              </a:rPr>
              <a:t>Medición final + análisis de mediación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645152"/>
            <a:ext cx="1463040" cy="658368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690872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DF8F1"/>
                </a:solidFill>
                <a:latin typeface="Consolas"/>
              </a:rPr>
              <a:t>AÑO 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4645152"/>
            <a:ext cx="3749039" cy="658368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4718304"/>
            <a:ext cx="3566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  <a:latin typeface="Calibri"/>
              </a:rPr>
              <a:t>Reporte (incl. nulos) → ajuste → escala dentro de un estado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663440"/>
            <a:ext cx="11247120" cy="10058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7091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332A"/>
                </a:solidFill>
                <a:latin typeface="Consolas"/>
              </a:rPr>
              <a:t>COSTO Y VIABILIDAD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4983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612"/>
                </a:solidFill>
                <a:latin typeface="Calibri"/>
              </a:rPr>
              <a:t>MXN 12,000/escuela/año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257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368"/>
                </a:solidFill>
                <a:latin typeface="Calibri"/>
              </a:rPr>
              <a:t>CPD + materiales + coordinación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4983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612"/>
                </a:solidFill>
                <a:latin typeface="Calibri"/>
              </a:rPr>
              <a:t>MXN 420M total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5257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368"/>
                </a:solidFill>
                <a:latin typeface="Calibri"/>
              </a:rPr>
              <a:t>≈ 35,000 secundarias × costo unitario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4983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612"/>
                </a:solidFill>
                <a:latin typeface="Calibri"/>
              </a:rPr>
              <a:t>&lt;0.1% presupuesto SEP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5257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368"/>
                </a:solidFill>
                <a:latin typeface="Calibri"/>
              </a:rPr>
              <a:t>Sin reforma legislativa · Sin nuevo sujeto curricular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4983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612"/>
                </a:solidFill>
                <a:latin typeface="Calibri"/>
              </a:rPr>
              <a:t>Pre-registro obligatorio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60" y="5257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368"/>
                </a:solidFill>
                <a:latin typeface="Calibri"/>
              </a:rPr>
              <a:t>Inmuniza contra p-hacking y cambio de hipótesis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62A"/>
                </a:solidFill>
                <a:latin typeface="Consolas"/>
              </a:rPr>
              <a:t>CAPÍTULO 07  ·  QUIÉNES SOMOS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612"/>
                </a:solidFill>
                <a:latin typeface="Calibri"/>
              </a:rPr>
              <a:t>La historia la escribimos nosotros.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657600" cy="45720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DF8F1"/>
                </a:solidFill>
                <a:latin typeface="Calibri"/>
              </a:rPr>
              <a:t>Fernanda Ita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3657600" cy="27432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INVESTIGACIÓN EDUCATIVA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DF8F1"/>
                </a:solidFill>
                <a:latin typeface="Calibri"/>
              </a:rPr>
              <a:t>Revisión sistemática de literatura
Marco curricular NEM
Codificación de entrevistas
Síntesis cualitativa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80160"/>
            <a:ext cx="3657600" cy="45720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307592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DF8F1"/>
                </a:solidFill>
                <a:latin typeface="Calibri"/>
              </a:rPr>
              <a:t>Alexis Marcos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783080"/>
            <a:ext cx="3657600" cy="27432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8288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INVESTIGACIÓN DE CAMPO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1031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DF8F1"/>
                </a:solidFill>
                <a:latin typeface="Calibri"/>
              </a:rPr>
              <a:t>Diseño del instrumento de encuesta
Contacto y entrevistas con expertos
Validación cualitativa
Síntesis temática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280160"/>
            <a:ext cx="3657600" cy="45720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307592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DF8F1"/>
                </a:solidFill>
                <a:latin typeface="Calibri"/>
              </a:rPr>
              <a:t>Carlos Torres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783080"/>
            <a:ext cx="3657600" cy="27432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8288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862A"/>
                </a:solidFill>
                <a:latin typeface="Consolas"/>
              </a:rPr>
              <a:t>MODELADO CUANTITATIVO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1031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DF8F1"/>
                </a:solidFill>
                <a:latin typeface="Calibri"/>
              </a:rPr>
              <a:t>Regresión lineal (Phase 1–2)
Simulación Monte Carlo
Infraestructura de datos
Plataforma 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7368"/>
                </a:solidFill>
                <a:latin typeface="Calibri"/>
              </a:rPr>
              <a:t>Tecnológico de Monterrey  ·  Campus San Luis Potosí  ·  Ingeniería Mecatrónica  ·  4° Semestre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120640"/>
            <a:ext cx="10515600" cy="9144"/>
          </a:xfrm>
          <a:prstGeom prst="rect">
            <a:avLst/>
          </a:prstGeom>
          <a:solidFill>
            <a:srgbClr val="C8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12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612"/>
                </a:solidFill>
                <a:latin typeface="Calibri"/>
              </a:rPr>
              <a:t>De los datos a las aulas 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8332A"/>
                </a:solidFill>
                <a:latin typeface="Calibri"/>
              </a:rPr>
              <a:t>intervenciones basadas en evidencia para la salud infantil en México.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0350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8862A"/>
                </a:solidFill>
                <a:latin typeface="Consolas"/>
              </a:rPr>
              <a:t>MIT LIFTLAB NATIONAL COMPETITION 2026  ·  DATOS ABIERTOS  ·  CÓDIGO ABIERTO  ·  LICENCIA 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