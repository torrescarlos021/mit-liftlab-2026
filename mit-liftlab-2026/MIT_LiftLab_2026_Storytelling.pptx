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[APERTURA — Fernanda]</a:t>
            </a:r>
          </a:p>
          <a:p>
            <a:r>
              <a:t>Buenas tardes. Somos Fernanda, Alexis y Carlos, estudiantes de Mecatrónica de cuarto semestre del Tec Campus San Luis Potosí.</a:t>
            </a:r>
          </a:p>
          <a:p/>
          <a:p>
            <a:r>
              <a:t>Lo que les vamos a contar es la historia de cómo los datos nos obligaron a cambiar de pregunta a la mitad del camino — y de lo que encontramos cuando dejamos que los datos y las personas hablaran.</a:t>
            </a:r>
          </a:p>
          <a:p/>
          <a:p>
            <a:r>
              <a:t>Empieza con una voz que no es la nuestra.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del video]:</a:t>
            </a:r>
          </a:p>
          <a:p>
            <a:r>
              <a:t>"Cuando hablamos de obesidad infantil en México, normalmente hablamos de cifras. Hoy queremos empezar diferente. Esta es Doña [Nombre], dueña de una tiendita aquí en San Luis Potosí. Le pedimos que nos contara qué ve todos los días detrás del mostrador."</a:t>
            </a:r>
          </a:p>
          <a:p/>
          <a:p>
            <a:r>
              <a:t>[REPRODUCIR VIDEO — 45–60 segundos]</a:t>
            </a:r>
          </a:p>
          <a:p/>
          <a:p>
            <a:r>
              <a:t>[Después]:</a:t>
            </a:r>
          </a:p>
          <a:p>
            <a:r>
              <a:t>"Doña [Nombre] no es el problema. Es testigo del problema. Lo que ella ve todos los días — niños comprando papas y refresco con el dinero que les dan sus papás — es la punta de una crisis que los datos confirman."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[Fernanda]</a:t>
            </a:r>
          </a:p>
          <a:p>
            <a:r>
              <a:t>México tiene una de las crisis de obesidad infantil más severas del mundo. No es opinión.</a:t>
            </a:r>
          </a:p>
          <a:p/>
          <a:p>
            <a:r>
              <a:t>Tres de cada diez niños de cinco a once años viven con sobrepeso u obesidad. Cuatro de cada diez adolescentes. Y la tendencia empeora: solo entre 2006 y 2022 la obesidad en varones escolares subió casi seis puntos.</a:t>
            </a:r>
          </a:p>
          <a:p/>
          <a:p>
            <a:r>
              <a:t>Mientras tanto, 1.1 millones de tienditas son el primer punto de acceso a comida en comunidades vulnerables. Y la escuela, que antes tenía hasta cinco horas semanales de educación física, hoy tiene dos.</a:t>
            </a:r>
          </a:p>
          <a:p/>
          <a:p>
            <a:r>
              <a:t>El sistema lo sabe. La SEP incluyó Vida Saludable en la Nueva Escuela Mexicana. Pero un eje articulador sin horas, sin capacitación y sin evaluación estandarizada es una buena intención sin músculo operativo. Ahí entró nuestro proyecto.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Cinco fases. Cada una existe porque la siguiente la necesita.</a:t>
            </a:r>
          </a:p>
          <a:p/>
          <a:p>
            <a:r>
              <a:t>Fases 1 y 2 responden con datos estatales: ¿hay una relación cuantificable entre tienditas y obesidad? Fase 3 sale a campo: ¿qué dice la gente real? Fase 4 diseña la respuesta. Fase 5 la proyecta.</a:t>
            </a:r>
          </a:p>
          <a:p/>
          <a:p>
            <a:r>
              <a:t>Un principio transversal: reportamos absolutamente todos los resultados, incluyendo los que no nos favorecen. Si un coeficiente pierde significancia al controlar, lo decimos. Si el Random Forest tiene baja capacidad predictiva fuera de muestra, lo decimos. Así se distingue una propuesta seria de un argumento de venta.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Este slide tiene el hallazgo más contraintuitivo del proyecto.</a:t>
            </a:r>
          </a:p>
          <a:p/>
          <a:p>
            <a:r>
              <a:t>Sin controlar nada, la densidad de tienditas parece proteger contra la obesidad: β negativo. Pero eso es engañoso.</a:t>
            </a:r>
          </a:p>
          <a:p/>
          <a:p>
            <a:r>
              <a:t>Los estados con más tienditas por habitante son Guerrero, Oaxaca, Chiapas — estados muy marginados y rurales que también tienen la menor obesidad del país. ¿Por qué? Porque la pobreza extrema, paradójicamente, implica menor acceso a comida ultraprocesada, no más.</a:t>
            </a:r>
          </a:p>
          <a:p/>
          <a:p>
            <a:r>
              <a:t>Una vez que controló por esa marginación y por el nivel de urbanización, el efecto real de la densidad de tienditas se revela: es positivo y estadísticamente significativo. El modelo explica el 63% de la varianza estatal en obesidad adolescente.</a:t>
            </a:r>
          </a:p>
          <a:p/>
          <a:p>
            <a:r>
              <a:t>Esto nos dice que el análisis simple es peligroso. Necesitas controlar. Y la regresión controlada sí apoya nuestra hipótesis.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Para la Fase 2 ampliamos el modelo con las 8 variables disponibles: además de densidad de tienditas y marginación, añadimos actividad física, frutas y verduras, bebidas azucaradas, gasto en procesados, y diabetes tipo 2 en menores.</a:t>
            </a:r>
          </a:p>
          <a:p/>
          <a:p>
            <a:r>
              <a:t>Entrenamos un Random Forest con 500 árboles. El modelo tiene un R² de 0.929 en la muestra completa — pero con solo 32 estados no podemos hablar de generalización fuera de muestra de forma confiable. Lo reportamos honestamente.</a:t>
            </a:r>
          </a:p>
          <a:p/>
          <a:p>
            <a:r>
              <a:t>Lo que sí es sólido es la importancia relativa de las variables por permutación: la actividad física es el predictor dominante, con una correlación de −0.91 con la obesidad adolescente. Le siguen bebidas azucaradas (+0.89) y frutas y verduras (−0.91).</a:t>
            </a:r>
          </a:p>
          <a:p/>
          <a:p>
            <a:r>
              <a:t>Y la densidad de tienditas queda en último lugar con importancia 0.004. Esto no quiere decir que las tienditas no importen — la regresión controlada mostró que sí correlacionan. Quiere decir que el problema más modificable con intervención escolar es la actividad física y la alimentación, no la regulación de comercios.</a:t>
            </a:r>
          </a:p>
          <a:p/>
          <a:p>
            <a:r>
              <a:t>Ese es el fundamento cuantitativo de nuestra intervención.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a:t>
            </a:r>
          </a:p>
          <a:p>
            <a:r>
              <a:t>Los modelos estadísticos nos dieron correlaciones. Las personas reales nos dieron causas.</a:t>
            </a:r>
          </a:p>
          <a:p/>
          <a:p>
            <a:r>
              <a:t>Diseñamos un cuestionario en dos pistas — padres y no padres — y lo aplicamos a 98 personas en San Luis Potosí entre diciembre y enero.</a:t>
            </a:r>
          </a:p>
          <a:p/>
          <a:p>
            <a:r>
              <a:t>La barra más alta de la izquierda no necesita explicación: 38 personas, la mayoría de las respuestas, dicen que no cocinan porque no tienen tiempo por el trabajo. Más que las que dicen que no les gusta cocinar.</a:t>
            </a:r>
          </a:p>
          <a:p/>
          <a:p>
            <a:r>
              <a:t>Ese dato es estructural. No se resuelve con información. No se resuelve con motivación. La gente quiere cocinar y no puede.</a:t>
            </a:r>
          </a:p>
          <a:p/>
          <a:p>
            <a:r>
              <a:t>Ahora miren la derecha: cuando preguntamos qué soluciones quieren, la educación nutricional queda en el top 3. La propia población está nombrando el tipo de intervención que nosotros proponemos.</a:t>
            </a:r>
          </a:p>
          <a:p/>
          <a:p>
            <a:r>
              <a:t>Y abajo: 79% de los padres están preocupados. 80 de 98 personas dicen que cambiarían sus hábitos si tuvieran más tiempo o recursos. La motivación no es el problema. La estructura sí.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[PAUSA — bajar el ritmo]</a:t>
            </a:r>
          </a:p>
          <a:p/>
          <a:p>
            <a:r>
              <a:t>Una frase. Dicha por 38 personas que no se conocen entre sí.</a:t>
            </a:r>
          </a:p>
          <a:p/>
          <a:p>
            <a:r>
              <a:t>Si el tiempo es estructural, no podemos cambiar a los adultos de hoy. Pero sí podemos equipar a los adolescentes de mañana.</a:t>
            </a:r>
          </a:p>
          <a:p/>
          <a:p>
            <a:r>
              <a:t>Y los datos cuantitativos lo confirman: el predictor más fuerte de obesidad adolescente a nivel estatal no es la densidad de tienditas — es el cumplimiento de actividad física, con una correlación de −0.91.</a:t>
            </a:r>
          </a:p>
          <a:p/>
          <a:p>
            <a:r>
              <a:t>Eso nos llevó de la regulación a la educación. Y específicamente: a la única institución que ya tiene a los adolescentes 30 horas a la semana, con presupuesto asignado y maestros en plaza. La escuela secundaria.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[Fernanda]</a:t>
            </a:r>
          </a:p>
          <a:p>
            <a:r>
              <a:t>Cinco componentes. Ninguno inventa desde cero — todos refuerzan lo que el NEM 2022 ya nombra.</a:t>
            </a:r>
          </a:p>
          <a:p/>
          <a:p>
            <a:r>
              <a:t>A: La tercera hora de EF no es deporte. Es alfabetización aplicada: leer una etiqueta de un producto real de la tiendita, diseñar un snack con 20 pesos, mapear el entorno alimentario alrededor de la escuela.</a:t>
            </a:r>
          </a:p>
          <a:p/>
          <a:p>
            <a:r>
              <a:t>B: Nuestro aporte original. Cada dos semanas los estudiantes auditan las tienditas vecinas. Cuentan productos, clasifican, registran precios. Eso produce un dataset geolocal que México hoy no tiene.</a:t>
            </a:r>
          </a:p>
          <a:p/>
          <a:p>
            <a:r>
              <a:t>C: La compra en la tiendita es una decisión en 3 segundos, System 1. La clase del martes no llega a ese momento. Por eso trabajamos con tienditas voluntarias para mover el agua al frente y poner señalización diseñada por los propios alumnos.</a:t>
            </a:r>
          </a:p>
          <a:p/>
          <a:p>
            <a:r>
              <a:t>D: Capacitación docente centrada en pedagogía de autonomía. Si el maestro vuelve a dar cátedra, el mecanismo se rompe. La fidelidad se mide, no se asume.</a:t>
            </a:r>
          </a:p>
          <a:p/>
          <a:p>
            <a:r>
              <a:t>E: Invitación mensual para casa — nunca tarea. Respeta el hallazgo más importante de la encuesta: las familias no tienen tiempo.</a:t>
            </a:r>
          </a:p>
          <a:p/>
          <a:p>
            <a:r>
              <a:t>Doce mil pesos por escuela al año. Escalado: 420 millones. Menos del 0.1% del presupuesto de la SEP.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Una propuesta sin proyección es una opinión. Aquí está la nuestra.</a:t>
            </a:r>
          </a:p>
          <a:p/>
          <a:p>
            <a:r>
              <a:t>1,000 estudiantes simulados, 5,000 corridas por escenario, parámetros tomados de meta-análisis publicados — no inventados.</a:t>
            </a:r>
          </a:p>
          <a:p/>
          <a:p>
            <a:r>
              <a:t>Escenario central: la intervención ralentiza el crecimiento del IMC en 0.68 kg/m² a cinco años. Aproximadamente seis puntos porcentuales menos en prevalencia de sobrepeso.</a:t>
            </a:r>
          </a:p>
          <a:p/>
          <a:p>
            <a:r>
              <a:t>Pero lo más importante está en el escenario nulo. Dice cero. Hay un meta-análisis del 2021 que encontró que las intervenciones escolares de largo plazo en niños no mueven el IMC. Lo incluimos. Si no lo incluyéramos, deberían sospechar de nosotros.</a:t>
            </a:r>
          </a:p>
          <a:p/>
          <a:p>
            <a:r>
              <a:t>La propuesta sigue siendo defendible aunque el IMC no se mueva: el cambio en comportamiento de compra, en el entorno de las tienditas socias, en la agencia crítica del estudiante — esos son medibles en semanas, no en años.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presenta]:</a:t>
            </a:r>
          </a:p>
          <a:p>
            <a:r>
              <a:t>"Para que nuestra propuesta no se quedara en autopercepción, la sometimos a cinco voces externas. El primero: el Dr. José Manuel Olais Govea, investigador del Tec de Monterrey Campus SLP."</a:t>
            </a:r>
          </a:p>
          <a:p>
            <a:r>
              <a:t>[VIDEO ~75 seg]</a:t>
            </a:r>
          </a:p>
          <a:p>
            <a:r>
              <a:t>[Después]: "Del Dr. Olais retuvimos especialmente [su punto sobre el marco teórico / la viabilidad institucional]."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"Triangulamos con un segundo investigador del mismo campus: el Dr. Leopoldo Zúñiga Silva."</a:t>
            </a:r>
          </a:p>
          <a:p>
            <a:r>
              <a:t>[VIDEO ~75 seg]</a:t>
            </a:r>
          </a:p>
          <a:p>
            <a:r>
              <a:t>[Después]: "Su aporte más concreto: [tema que el doctor mencionó]. Eso reforzó nuestra decisión de [ajuste que hicieron]."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"La validación académica no basta. Entrevistamos al director de la Secundaria Técnica 78 de Matehuala — la escuela donde, si esto se pilotea, ocurriría primero."</a:t>
            </a:r>
          </a:p>
          <a:p>
            <a:r>
              <a:t>[VIDEO ~75 seg]</a:t>
            </a:r>
          </a:p>
          <a:p>
            <a:r>
              <a:t>[Después]: "Aquí vino el aprendizaje operativo más importante: [restricción que él levantó]. Por eso incluimos el fallback — si la 3ª hora de EF no cabe, se compacta."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"Cuarto: un docente de secundaria en activo, además practicante de fitness. Queríamos a alguien que viviera el aula todos los días."</a:t>
            </a:r>
          </a:p>
          <a:p>
            <a:r>
              <a:t>[VIDEO ~75 seg]</a:t>
            </a:r>
          </a:p>
          <a:p>
            <a:r>
              <a:t>[Después]: "Lo que dijo y que nosotros no habíamos previsto: [punto inesperado]. Para eso sirve la validación — para encontrar lo que los datos solos no ven."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"La perspectiva que más fácil se olvida: la voz del estudiante. Una estudiante de licenciatura en Educación con background deportivo."</a:t>
            </a:r>
          </a:p>
          <a:p>
            <a:r>
              <a:t>[VIDEO ~75 seg]</a:t>
            </a:r>
          </a:p>
          <a:p>
            <a:r>
              <a:t>[Después]: "Su frase que nos marcó: '[cita textual]'. Si los estudiantes no le ven sentido, ningún diseño curricular funciona."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[Fernanda — cierre]</a:t>
            </a:r>
          </a:p>
          <a:p/>
          <a:p>
            <a:r>
              <a:t>Lo que les contamos es una historia de tres semanas y de tres personas. Una historia donde los datos nos hicieron cambiar de pregunta, donde 98 personas reales nos dieron la respuesta antes de que supiéramos formular el problema bien, y donde cinco expertos nos ayudaron a no engañarnos a nosotros mismos.</a:t>
            </a:r>
          </a:p>
          <a:p/>
          <a:p>
            <a:r>
              <a:t>Tenemos un R² de 0.634 en la regresión controlada. Un predictor de actividad física con correlación de −0.91. Una encuesta con 80 de 98 personas dispuestas a cambiar si tuvieran las herramientas.</a:t>
            </a:r>
          </a:p>
          <a:p/>
          <a:p>
            <a:r>
              <a:t>Lo que proponemos no es revolucionario. Es modesto, barato, alineado al NEM, y honesto sobre lo que no sabemos.</a:t>
            </a:r>
          </a:p>
          <a:p/>
          <a:p>
            <a:r>
              <a:t>Pero si funciona aunque sea a medias, le da a México algo que hoy le falta: una manera concreta, presupuestable, evaluable, de meter la salud infantil en el único lugar donde podemos alcanzarla a tiempo — el salón de clases.</a:t>
            </a:r>
          </a:p>
          <a:p/>
          <a:p>
            <a:r>
              <a:t>Gracias.</a:t>
            </a:r>
          </a:p>
          <a:p>
            <a:r>
              <a:t>[Q&amp;A]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MIT LIFTLAB  ·  NATIONAL COMPETITION 2026</a:t>
            </a:r>
          </a:p>
        </p:txBody>
      </p:sp>
      <p:sp>
        <p:nvSpPr>
          <p:cNvPr id="4" name="TextBox 3"/>
          <p:cNvSpPr txBox="1"/>
          <p:nvPr/>
        </p:nvSpPr>
        <p:spPr>
          <a:xfrm>
            <a:off x="731520" y="1645920"/>
            <a:ext cx="10515600" cy="1097280"/>
          </a:xfrm>
          <a:prstGeom prst="rect">
            <a:avLst/>
          </a:prstGeom>
          <a:noFill/>
        </p:spPr>
        <p:txBody>
          <a:bodyPr wrap="square">
            <a:spAutoFit/>
          </a:bodyPr>
          <a:lstStyle/>
          <a:p>
            <a:pPr algn="l"/>
            <a:r>
              <a:rPr sz="7200" b="1" i="0">
                <a:solidFill>
                  <a:srgbClr val="1A1612"/>
                </a:solidFill>
                <a:latin typeface="Calibri"/>
              </a:rPr>
              <a:t>From Nanostores</a:t>
            </a:r>
          </a:p>
        </p:txBody>
      </p:sp>
      <p:sp>
        <p:nvSpPr>
          <p:cNvPr id="5" name="TextBox 4"/>
          <p:cNvSpPr txBox="1"/>
          <p:nvPr/>
        </p:nvSpPr>
        <p:spPr>
          <a:xfrm>
            <a:off x="731520" y="2697480"/>
            <a:ext cx="10515600" cy="1097280"/>
          </a:xfrm>
          <a:prstGeom prst="rect">
            <a:avLst/>
          </a:prstGeom>
          <a:noFill/>
        </p:spPr>
        <p:txBody>
          <a:bodyPr wrap="square">
            <a:spAutoFit/>
          </a:bodyPr>
          <a:lstStyle/>
          <a:p>
            <a:pPr algn="l"/>
            <a:r>
              <a:rPr sz="7200" b="0" i="1">
                <a:solidFill>
                  <a:srgbClr val="B8332A"/>
                </a:solidFill>
                <a:latin typeface="Calibri"/>
              </a:rPr>
              <a:t>→ Classrooms.</a:t>
            </a:r>
          </a:p>
        </p:txBody>
      </p:sp>
      <p:sp>
        <p:nvSpPr>
          <p:cNvPr id="6" name="TextBox 5"/>
          <p:cNvSpPr txBox="1"/>
          <p:nvPr/>
        </p:nvSpPr>
        <p:spPr>
          <a:xfrm>
            <a:off x="731520" y="4114800"/>
            <a:ext cx="9144000" cy="457200"/>
          </a:xfrm>
          <a:prstGeom prst="rect">
            <a:avLst/>
          </a:prstGeom>
          <a:noFill/>
        </p:spPr>
        <p:txBody>
          <a:bodyPr wrap="square">
            <a:spAutoFit/>
          </a:bodyPr>
          <a:lstStyle/>
          <a:p>
            <a:pPr algn="l"/>
            <a:r>
              <a:rPr sz="1600" b="0" i="0">
                <a:solidFill>
                  <a:srgbClr val="7A7368"/>
                </a:solidFill>
                <a:latin typeface="Calibri"/>
              </a:rPr>
              <a:t>Una historia de datos reales, 98 voces, y una propuesta para la salud infantil en México.</a:t>
            </a:r>
          </a:p>
        </p:txBody>
      </p:sp>
      <p:sp>
        <p:nvSpPr>
          <p:cNvPr id="7" name="Rectangle 6"/>
          <p:cNvSpPr/>
          <p:nvPr/>
        </p:nvSpPr>
        <p:spPr>
          <a:xfrm>
            <a:off x="548640" y="521208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03520"/>
            <a:ext cx="2560320" cy="201168"/>
          </a:xfrm>
          <a:prstGeom prst="rect">
            <a:avLst/>
          </a:prstGeom>
          <a:noFill/>
        </p:spPr>
        <p:txBody>
          <a:bodyPr wrap="square">
            <a:spAutoFit/>
          </a:bodyPr>
          <a:lstStyle/>
          <a:p>
            <a:pPr algn="l"/>
            <a:r>
              <a:rPr sz="800" b="0" i="0">
                <a:solidFill>
                  <a:srgbClr val="7A7368"/>
                </a:solidFill>
                <a:latin typeface="Consolas"/>
              </a:rPr>
              <a:t>INSTITUCIÓN</a:t>
            </a:r>
          </a:p>
        </p:txBody>
      </p:sp>
      <p:sp>
        <p:nvSpPr>
          <p:cNvPr id="9" name="TextBox 8"/>
          <p:cNvSpPr txBox="1"/>
          <p:nvPr/>
        </p:nvSpPr>
        <p:spPr>
          <a:xfrm>
            <a:off x="731520" y="5577840"/>
            <a:ext cx="2560320" cy="320040"/>
          </a:xfrm>
          <a:prstGeom prst="rect">
            <a:avLst/>
          </a:prstGeom>
          <a:noFill/>
        </p:spPr>
        <p:txBody>
          <a:bodyPr wrap="square">
            <a:spAutoFit/>
          </a:bodyPr>
          <a:lstStyle/>
          <a:p>
            <a:pPr algn="l"/>
            <a:r>
              <a:rPr sz="1100" b="0" i="0">
                <a:solidFill>
                  <a:srgbClr val="1A1612"/>
                </a:solidFill>
                <a:latin typeface="Calibri"/>
              </a:rPr>
              <a:t>Tec de Monterrey · Campus SLP</a:t>
            </a:r>
          </a:p>
        </p:txBody>
      </p:sp>
      <p:sp>
        <p:nvSpPr>
          <p:cNvPr id="10" name="TextBox 9"/>
          <p:cNvSpPr txBox="1"/>
          <p:nvPr/>
        </p:nvSpPr>
        <p:spPr>
          <a:xfrm>
            <a:off x="3474720" y="5303520"/>
            <a:ext cx="2560320" cy="201168"/>
          </a:xfrm>
          <a:prstGeom prst="rect">
            <a:avLst/>
          </a:prstGeom>
          <a:noFill/>
        </p:spPr>
        <p:txBody>
          <a:bodyPr wrap="square">
            <a:spAutoFit/>
          </a:bodyPr>
          <a:lstStyle/>
          <a:p>
            <a:pPr algn="l"/>
            <a:r>
              <a:rPr sz="800" b="0" i="0">
                <a:solidFill>
                  <a:srgbClr val="7A7368"/>
                </a:solidFill>
                <a:latin typeface="Consolas"/>
              </a:rPr>
              <a:t>PROGRAMA</a:t>
            </a:r>
          </a:p>
        </p:txBody>
      </p:sp>
      <p:sp>
        <p:nvSpPr>
          <p:cNvPr id="11" name="TextBox 10"/>
          <p:cNvSpPr txBox="1"/>
          <p:nvPr/>
        </p:nvSpPr>
        <p:spPr>
          <a:xfrm>
            <a:off x="3474720" y="5577840"/>
            <a:ext cx="2560320" cy="320040"/>
          </a:xfrm>
          <a:prstGeom prst="rect">
            <a:avLst/>
          </a:prstGeom>
          <a:noFill/>
        </p:spPr>
        <p:txBody>
          <a:bodyPr wrap="square">
            <a:spAutoFit/>
          </a:bodyPr>
          <a:lstStyle/>
          <a:p>
            <a:pPr algn="l"/>
            <a:r>
              <a:rPr sz="1100" b="0" i="0">
                <a:solidFill>
                  <a:srgbClr val="1A1612"/>
                </a:solidFill>
                <a:latin typeface="Calibri"/>
              </a:rPr>
              <a:t>Ing. Mecatrónica · 4° Sem.</a:t>
            </a:r>
          </a:p>
        </p:txBody>
      </p:sp>
      <p:sp>
        <p:nvSpPr>
          <p:cNvPr id="12" name="TextBox 11"/>
          <p:cNvSpPr txBox="1"/>
          <p:nvPr/>
        </p:nvSpPr>
        <p:spPr>
          <a:xfrm>
            <a:off x="6217920" y="5303520"/>
            <a:ext cx="2560320" cy="201168"/>
          </a:xfrm>
          <a:prstGeom prst="rect">
            <a:avLst/>
          </a:prstGeom>
          <a:noFill/>
        </p:spPr>
        <p:txBody>
          <a:bodyPr wrap="square">
            <a:spAutoFit/>
          </a:bodyPr>
          <a:lstStyle/>
          <a:p>
            <a:pPr algn="l"/>
            <a:r>
              <a:rPr sz="800" b="0" i="0">
                <a:solidFill>
                  <a:srgbClr val="7A7368"/>
                </a:solidFill>
                <a:latin typeface="Consolas"/>
              </a:rPr>
              <a:t>MÉTODO</a:t>
            </a:r>
          </a:p>
        </p:txBody>
      </p:sp>
      <p:sp>
        <p:nvSpPr>
          <p:cNvPr id="13" name="TextBox 12"/>
          <p:cNvSpPr txBox="1"/>
          <p:nvPr/>
        </p:nvSpPr>
        <p:spPr>
          <a:xfrm>
            <a:off x="6217920" y="5577840"/>
            <a:ext cx="2560320" cy="320040"/>
          </a:xfrm>
          <a:prstGeom prst="rect">
            <a:avLst/>
          </a:prstGeom>
          <a:noFill/>
        </p:spPr>
        <p:txBody>
          <a:bodyPr wrap="square">
            <a:spAutoFit/>
          </a:bodyPr>
          <a:lstStyle/>
          <a:p>
            <a:pPr algn="l"/>
            <a:r>
              <a:rPr sz="1100" b="0" i="0">
                <a:solidFill>
                  <a:srgbClr val="1A1612"/>
                </a:solidFill>
                <a:latin typeface="Calibri"/>
              </a:rPr>
              <a:t>5 Fases · Regresión · RF · Monte Carlo</a:t>
            </a:r>
          </a:p>
        </p:txBody>
      </p:sp>
      <p:sp>
        <p:nvSpPr>
          <p:cNvPr id="14" name="TextBox 13"/>
          <p:cNvSpPr txBox="1"/>
          <p:nvPr/>
        </p:nvSpPr>
        <p:spPr>
          <a:xfrm>
            <a:off x="9418320" y="5303520"/>
            <a:ext cx="2560320" cy="201168"/>
          </a:xfrm>
          <a:prstGeom prst="rect">
            <a:avLst/>
          </a:prstGeom>
          <a:noFill/>
        </p:spPr>
        <p:txBody>
          <a:bodyPr wrap="square">
            <a:spAutoFit/>
          </a:bodyPr>
          <a:lstStyle/>
          <a:p>
            <a:pPr algn="l"/>
            <a:r>
              <a:rPr sz="800" b="0" i="0">
                <a:solidFill>
                  <a:srgbClr val="7A7368"/>
                </a:solidFill>
                <a:latin typeface="Consolas"/>
              </a:rPr>
              <a:t>EQUIPO</a:t>
            </a:r>
          </a:p>
        </p:txBody>
      </p:sp>
      <p:sp>
        <p:nvSpPr>
          <p:cNvPr id="15" name="TextBox 14"/>
          <p:cNvSpPr txBox="1"/>
          <p:nvPr/>
        </p:nvSpPr>
        <p:spPr>
          <a:xfrm>
            <a:off x="9418320" y="5577840"/>
            <a:ext cx="2560320" cy="320040"/>
          </a:xfrm>
          <a:prstGeom prst="rect">
            <a:avLst/>
          </a:prstGeom>
          <a:noFill/>
        </p:spPr>
        <p:txBody>
          <a:bodyPr wrap="square">
            <a:spAutoFit/>
          </a:bodyPr>
          <a:lstStyle/>
          <a:p>
            <a:pPr algn="l"/>
            <a:r>
              <a:rPr sz="1100" b="0" i="0">
                <a:solidFill>
                  <a:srgbClr val="1A1612"/>
                </a:solidFill>
                <a:latin typeface="Calibri"/>
              </a:rPr>
              <a:t>Ita · Marcos · Torres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TESTIMONIO DE LA TENDERA</a:t>
            </a:r>
          </a:p>
        </p:txBody>
      </p:sp>
      <p:sp>
        <p:nvSpPr>
          <p:cNvPr id="4" name="Rectangle 3"/>
          <p:cNvSpPr/>
          <p:nvPr/>
        </p:nvSpPr>
        <p:spPr>
          <a:xfrm>
            <a:off x="1371600" y="1097280"/>
            <a:ext cx="9418320" cy="438912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92608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9923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TextBox 7"/>
          <p:cNvSpPr txBox="1"/>
          <p:nvPr/>
        </p:nvSpPr>
        <p:spPr>
          <a:xfrm>
            <a:off x="1371600" y="4663440"/>
            <a:ext cx="9418320" cy="365760"/>
          </a:xfrm>
          <a:prstGeom prst="rect">
            <a:avLst/>
          </a:prstGeom>
          <a:noFill/>
        </p:spPr>
        <p:txBody>
          <a:bodyPr wrap="square">
            <a:spAutoFit/>
          </a:bodyPr>
          <a:lstStyle/>
          <a:p>
            <a:pPr algn="ctr"/>
            <a:r>
              <a:rPr sz="1300" b="0" i="1">
                <a:solidFill>
                  <a:srgbClr val="C8BEB0"/>
                </a:solidFill>
                <a:latin typeface="Calibri"/>
              </a:rPr>
              <a:t>La voz de quien vive el problema desde el mostrador.</a:t>
            </a:r>
          </a:p>
        </p:txBody>
      </p:sp>
      <p:sp>
        <p:nvSpPr>
          <p:cNvPr id="9" name="TextBox 8"/>
          <p:cNvSpPr txBox="1"/>
          <p:nvPr/>
        </p:nvSpPr>
        <p:spPr>
          <a:xfrm>
            <a:off x="1371600" y="5120640"/>
            <a:ext cx="9418320" cy="548640"/>
          </a:xfrm>
          <a:prstGeom prst="rect">
            <a:avLst/>
          </a:prstGeom>
          <a:noFill/>
        </p:spPr>
        <p:txBody>
          <a:bodyPr wrap="square">
            <a:spAutoFit/>
          </a:bodyPr>
          <a:lstStyle/>
          <a:p>
            <a:pPr algn="ctr"/>
            <a:r>
              <a:rPr sz="1100" b="0" i="0">
                <a:solidFill>
                  <a:srgbClr val="B8862A"/>
                </a:solidFill>
                <a:latin typeface="Consolas"/>
              </a:rPr>
              <a:t>Doña [Nombre] · Tiendita de abarrotes · San Luis Potosí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01  ·  LA CRISIS</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800" b="1" i="0">
                <a:solidFill>
                  <a:srgbClr val="1A1612"/>
                </a:solidFill>
                <a:latin typeface="Calibri"/>
              </a:rPr>
              <a:t>La fotografía nacional.</a:t>
            </a:r>
          </a:p>
        </p:txBody>
      </p:sp>
      <p:sp>
        <p:nvSpPr>
          <p:cNvPr id="5" name="Rectangle 4"/>
          <p:cNvSpPr/>
          <p:nvPr/>
        </p:nvSpPr>
        <p:spPr>
          <a:xfrm>
            <a:off x="548640" y="1417320"/>
            <a:ext cx="5486400" cy="2651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54480"/>
            <a:ext cx="5029200" cy="256032"/>
          </a:xfrm>
          <a:prstGeom prst="rect">
            <a:avLst/>
          </a:prstGeom>
          <a:noFill/>
        </p:spPr>
        <p:txBody>
          <a:bodyPr wrap="square">
            <a:spAutoFit/>
          </a:bodyPr>
          <a:lstStyle/>
          <a:p>
            <a:pPr algn="l"/>
            <a:r>
              <a:rPr sz="900" b="0" i="0">
                <a:solidFill>
                  <a:srgbClr val="B8862A"/>
                </a:solidFill>
                <a:latin typeface="Consolas"/>
              </a:rPr>
              <a:t>NIÑOS 5–11 AÑOS  ·  ENSANUT 2020–2024</a:t>
            </a:r>
          </a:p>
        </p:txBody>
      </p:sp>
      <p:sp>
        <p:nvSpPr>
          <p:cNvPr id="7" name="TextBox 6"/>
          <p:cNvSpPr txBox="1"/>
          <p:nvPr/>
        </p:nvSpPr>
        <p:spPr>
          <a:xfrm>
            <a:off x="777240" y="1874519"/>
            <a:ext cx="5029200" cy="1554480"/>
          </a:xfrm>
          <a:prstGeom prst="rect">
            <a:avLst/>
          </a:prstGeom>
          <a:noFill/>
        </p:spPr>
        <p:txBody>
          <a:bodyPr wrap="square">
            <a:spAutoFit/>
          </a:bodyPr>
          <a:lstStyle/>
          <a:p>
            <a:pPr algn="l"/>
            <a:r>
              <a:rPr sz="10000" b="1" i="0">
                <a:solidFill>
                  <a:srgbClr val="B8332A"/>
                </a:solidFill>
                <a:latin typeface="Calibri"/>
              </a:rPr>
              <a:t>36.6%</a:t>
            </a:r>
          </a:p>
        </p:txBody>
      </p:sp>
      <p:sp>
        <p:nvSpPr>
          <p:cNvPr id="8" name="TextBox 7"/>
          <p:cNvSpPr txBox="1"/>
          <p:nvPr/>
        </p:nvSpPr>
        <p:spPr>
          <a:xfrm>
            <a:off x="777240" y="3383280"/>
            <a:ext cx="5029200" cy="457200"/>
          </a:xfrm>
          <a:prstGeom prst="rect">
            <a:avLst/>
          </a:prstGeom>
          <a:noFill/>
        </p:spPr>
        <p:txBody>
          <a:bodyPr wrap="square">
            <a:spAutoFit/>
          </a:bodyPr>
          <a:lstStyle/>
          <a:p>
            <a:pPr algn="l"/>
            <a:r>
              <a:rPr sz="1400" b="0" i="0">
                <a:solidFill>
                  <a:srgbClr val="FDF8F1"/>
                </a:solidFill>
                <a:latin typeface="Calibri"/>
              </a:rPr>
              <a:t>con sobrepeso u obesidad</a:t>
            </a:r>
          </a:p>
        </p:txBody>
      </p:sp>
      <p:sp>
        <p:nvSpPr>
          <p:cNvPr id="9" name="Rectangle 8"/>
          <p:cNvSpPr/>
          <p:nvPr/>
        </p:nvSpPr>
        <p:spPr>
          <a:xfrm>
            <a:off x="6172200" y="1417320"/>
            <a:ext cx="5486400" cy="2651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554480"/>
            <a:ext cx="5029200" cy="256032"/>
          </a:xfrm>
          <a:prstGeom prst="rect">
            <a:avLst/>
          </a:prstGeom>
          <a:noFill/>
        </p:spPr>
        <p:txBody>
          <a:bodyPr wrap="square">
            <a:spAutoFit/>
          </a:bodyPr>
          <a:lstStyle/>
          <a:p>
            <a:pPr algn="l"/>
            <a:r>
              <a:rPr sz="900" b="0" i="0">
                <a:solidFill>
                  <a:srgbClr val="B8862A"/>
                </a:solidFill>
                <a:latin typeface="Consolas"/>
              </a:rPr>
              <a:t>ADOLESCENTES 12–19 AÑOS  ·  ENSANUT 2020–2024</a:t>
            </a:r>
          </a:p>
        </p:txBody>
      </p:sp>
      <p:sp>
        <p:nvSpPr>
          <p:cNvPr id="11" name="TextBox 10"/>
          <p:cNvSpPr txBox="1"/>
          <p:nvPr/>
        </p:nvSpPr>
        <p:spPr>
          <a:xfrm>
            <a:off x="6400800" y="1874519"/>
            <a:ext cx="5029200" cy="1554480"/>
          </a:xfrm>
          <a:prstGeom prst="rect">
            <a:avLst/>
          </a:prstGeom>
          <a:noFill/>
        </p:spPr>
        <p:txBody>
          <a:bodyPr wrap="square">
            <a:spAutoFit/>
          </a:bodyPr>
          <a:lstStyle/>
          <a:p>
            <a:pPr algn="l"/>
            <a:r>
              <a:rPr sz="10000" b="1" i="0">
                <a:solidFill>
                  <a:srgbClr val="B8332A"/>
                </a:solidFill>
                <a:latin typeface="Calibri"/>
              </a:rPr>
              <a:t>40.1%</a:t>
            </a:r>
          </a:p>
        </p:txBody>
      </p:sp>
      <p:sp>
        <p:nvSpPr>
          <p:cNvPr id="12" name="TextBox 11"/>
          <p:cNvSpPr txBox="1"/>
          <p:nvPr/>
        </p:nvSpPr>
        <p:spPr>
          <a:xfrm>
            <a:off x="6400800" y="3383280"/>
            <a:ext cx="5029200" cy="457200"/>
          </a:xfrm>
          <a:prstGeom prst="rect">
            <a:avLst/>
          </a:prstGeom>
          <a:noFill/>
        </p:spPr>
        <p:txBody>
          <a:bodyPr wrap="square">
            <a:spAutoFit/>
          </a:bodyPr>
          <a:lstStyle/>
          <a:p>
            <a:pPr algn="l"/>
            <a:r>
              <a:rPr sz="1400" b="0" i="0">
                <a:solidFill>
                  <a:srgbClr val="FDF8F1"/>
                </a:solidFill>
                <a:latin typeface="Calibri"/>
              </a:rPr>
              <a:t>con sobrepeso u obesidad</a:t>
            </a:r>
          </a:p>
        </p:txBody>
      </p:sp>
      <p:sp>
        <p:nvSpPr>
          <p:cNvPr id="13" name="Rectangle 12"/>
          <p:cNvSpPr/>
          <p:nvPr/>
        </p:nvSpPr>
        <p:spPr>
          <a:xfrm>
            <a:off x="548640"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343400"/>
            <a:ext cx="2468880" cy="685800"/>
          </a:xfrm>
          <a:prstGeom prst="rect">
            <a:avLst/>
          </a:prstGeom>
          <a:noFill/>
        </p:spPr>
        <p:txBody>
          <a:bodyPr wrap="square">
            <a:spAutoFit/>
          </a:bodyPr>
          <a:lstStyle/>
          <a:p>
            <a:pPr algn="l"/>
            <a:r>
              <a:rPr sz="3000" b="1" i="0">
                <a:solidFill>
                  <a:srgbClr val="B8332A"/>
                </a:solidFill>
                <a:latin typeface="Calibri"/>
              </a:rPr>
              <a:t>1.1M</a:t>
            </a:r>
          </a:p>
        </p:txBody>
      </p:sp>
      <p:sp>
        <p:nvSpPr>
          <p:cNvPr id="15" name="TextBox 14"/>
          <p:cNvSpPr txBox="1"/>
          <p:nvPr/>
        </p:nvSpPr>
        <p:spPr>
          <a:xfrm>
            <a:off x="685800" y="5029200"/>
            <a:ext cx="2468880" cy="411480"/>
          </a:xfrm>
          <a:prstGeom prst="rect">
            <a:avLst/>
          </a:prstGeom>
          <a:noFill/>
        </p:spPr>
        <p:txBody>
          <a:bodyPr wrap="square">
            <a:spAutoFit/>
          </a:bodyPr>
          <a:lstStyle/>
          <a:p>
            <a:pPr algn="l"/>
            <a:r>
              <a:rPr sz="1100" b="0" i="0">
                <a:solidFill>
                  <a:srgbClr val="1A1612"/>
                </a:solidFill>
                <a:latin typeface="Calibri"/>
              </a:rPr>
              <a:t>tienditas en México</a:t>
            </a:r>
          </a:p>
        </p:txBody>
      </p:sp>
      <p:sp>
        <p:nvSpPr>
          <p:cNvPr id="16" name="TextBox 15"/>
          <p:cNvSpPr txBox="1"/>
          <p:nvPr/>
        </p:nvSpPr>
        <p:spPr>
          <a:xfrm>
            <a:off x="685800" y="5440680"/>
            <a:ext cx="2468880" cy="274320"/>
          </a:xfrm>
          <a:prstGeom prst="rect">
            <a:avLst/>
          </a:prstGeom>
          <a:noFill/>
        </p:spPr>
        <p:txBody>
          <a:bodyPr wrap="square">
            <a:spAutoFit/>
          </a:bodyPr>
          <a:lstStyle/>
          <a:p>
            <a:pPr algn="l"/>
            <a:r>
              <a:rPr sz="800" b="0" i="0">
                <a:solidFill>
                  <a:srgbClr val="7A7368"/>
                </a:solidFill>
                <a:latin typeface="Consolas"/>
              </a:rPr>
              <a:t>INEGI DENUE 2024</a:t>
            </a:r>
          </a:p>
        </p:txBody>
      </p:sp>
      <p:sp>
        <p:nvSpPr>
          <p:cNvPr id="17" name="Rectangle 16"/>
          <p:cNvSpPr/>
          <p:nvPr/>
        </p:nvSpPr>
        <p:spPr>
          <a:xfrm>
            <a:off x="3429000"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4343400"/>
            <a:ext cx="2468880" cy="685800"/>
          </a:xfrm>
          <a:prstGeom prst="rect">
            <a:avLst/>
          </a:prstGeom>
          <a:noFill/>
        </p:spPr>
        <p:txBody>
          <a:bodyPr wrap="square">
            <a:spAutoFit/>
          </a:bodyPr>
          <a:lstStyle/>
          <a:p>
            <a:pPr algn="l"/>
            <a:r>
              <a:rPr sz="3000" b="1" i="0">
                <a:solidFill>
                  <a:srgbClr val="B8332A"/>
                </a:solidFill>
                <a:latin typeface="Calibri"/>
              </a:rPr>
              <a:t>7 de 10</a:t>
            </a:r>
          </a:p>
        </p:txBody>
      </p:sp>
      <p:sp>
        <p:nvSpPr>
          <p:cNvPr id="19" name="TextBox 18"/>
          <p:cNvSpPr txBox="1"/>
          <p:nvPr/>
        </p:nvSpPr>
        <p:spPr>
          <a:xfrm>
            <a:off x="3566160" y="5029200"/>
            <a:ext cx="2468880" cy="411480"/>
          </a:xfrm>
          <a:prstGeom prst="rect">
            <a:avLst/>
          </a:prstGeom>
          <a:noFill/>
        </p:spPr>
        <p:txBody>
          <a:bodyPr wrap="square">
            <a:spAutoFit/>
          </a:bodyPr>
          <a:lstStyle/>
          <a:p>
            <a:pPr algn="l"/>
            <a:r>
              <a:rPr sz="1100" b="0" i="0">
                <a:solidFill>
                  <a:srgbClr val="1A1612"/>
                </a:solidFill>
                <a:latin typeface="Calibri"/>
              </a:rPr>
              <a:t>escolares sin actividad física</a:t>
            </a:r>
          </a:p>
        </p:txBody>
      </p:sp>
      <p:sp>
        <p:nvSpPr>
          <p:cNvPr id="20" name="TextBox 19"/>
          <p:cNvSpPr txBox="1"/>
          <p:nvPr/>
        </p:nvSpPr>
        <p:spPr>
          <a:xfrm>
            <a:off x="3566160" y="5440680"/>
            <a:ext cx="2468880" cy="274320"/>
          </a:xfrm>
          <a:prstGeom prst="rect">
            <a:avLst/>
          </a:prstGeom>
          <a:noFill/>
        </p:spPr>
        <p:txBody>
          <a:bodyPr wrap="square">
            <a:spAutoFit/>
          </a:bodyPr>
          <a:lstStyle/>
          <a:p>
            <a:pPr algn="l"/>
            <a:r>
              <a:rPr sz="800" b="0" i="0">
                <a:solidFill>
                  <a:srgbClr val="7A7368"/>
                </a:solidFill>
                <a:latin typeface="Consolas"/>
              </a:rPr>
              <a:t>SEP 2025</a:t>
            </a:r>
          </a:p>
        </p:txBody>
      </p:sp>
      <p:sp>
        <p:nvSpPr>
          <p:cNvPr id="21" name="Rectangle 20"/>
          <p:cNvSpPr/>
          <p:nvPr/>
        </p:nvSpPr>
        <p:spPr>
          <a:xfrm>
            <a:off x="6309359"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343400"/>
            <a:ext cx="2468880" cy="685800"/>
          </a:xfrm>
          <a:prstGeom prst="rect">
            <a:avLst/>
          </a:prstGeom>
          <a:noFill/>
        </p:spPr>
        <p:txBody>
          <a:bodyPr wrap="square">
            <a:spAutoFit/>
          </a:bodyPr>
          <a:lstStyle/>
          <a:p>
            <a:pPr algn="l"/>
            <a:r>
              <a:rPr sz="3000" b="1" i="0">
                <a:solidFill>
                  <a:srgbClr val="B8332A"/>
                </a:solidFill>
                <a:latin typeface="Calibri"/>
              </a:rPr>
              <a:t>2 h/sem</a:t>
            </a:r>
          </a:p>
        </p:txBody>
      </p:sp>
      <p:sp>
        <p:nvSpPr>
          <p:cNvPr id="23" name="TextBox 22"/>
          <p:cNvSpPr txBox="1"/>
          <p:nvPr/>
        </p:nvSpPr>
        <p:spPr>
          <a:xfrm>
            <a:off x="6446520" y="5029200"/>
            <a:ext cx="2468880" cy="411480"/>
          </a:xfrm>
          <a:prstGeom prst="rect">
            <a:avLst/>
          </a:prstGeom>
          <a:noFill/>
        </p:spPr>
        <p:txBody>
          <a:bodyPr wrap="square">
            <a:spAutoFit/>
          </a:bodyPr>
          <a:lstStyle/>
          <a:p>
            <a:pPr algn="l"/>
            <a:r>
              <a:rPr sz="1100" b="0" i="0">
                <a:solidFill>
                  <a:srgbClr val="1A1612"/>
                </a:solidFill>
                <a:latin typeface="Calibri"/>
              </a:rPr>
              <a:t>EF en secundaria (antes 5h)</a:t>
            </a:r>
          </a:p>
        </p:txBody>
      </p:sp>
      <p:sp>
        <p:nvSpPr>
          <p:cNvPr id="24" name="TextBox 23"/>
          <p:cNvSpPr txBox="1"/>
          <p:nvPr/>
        </p:nvSpPr>
        <p:spPr>
          <a:xfrm>
            <a:off x="6446520" y="5440680"/>
            <a:ext cx="2468880" cy="274320"/>
          </a:xfrm>
          <a:prstGeom prst="rect">
            <a:avLst/>
          </a:prstGeom>
          <a:noFill/>
        </p:spPr>
        <p:txBody>
          <a:bodyPr wrap="square">
            <a:spAutoFit/>
          </a:bodyPr>
          <a:lstStyle/>
          <a:p>
            <a:pPr algn="l"/>
            <a:r>
              <a:rPr sz="800" b="0" i="0">
                <a:solidFill>
                  <a:srgbClr val="7A7368"/>
                </a:solidFill>
                <a:latin typeface="Consolas"/>
              </a:rPr>
              <a:t>SEP Plan 2022</a:t>
            </a:r>
          </a:p>
        </p:txBody>
      </p:sp>
      <p:sp>
        <p:nvSpPr>
          <p:cNvPr id="25" name="Rectangle 24"/>
          <p:cNvSpPr/>
          <p:nvPr/>
        </p:nvSpPr>
        <p:spPr>
          <a:xfrm>
            <a:off x="9189719"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343400"/>
            <a:ext cx="2468880" cy="685800"/>
          </a:xfrm>
          <a:prstGeom prst="rect">
            <a:avLst/>
          </a:prstGeom>
          <a:noFill/>
        </p:spPr>
        <p:txBody>
          <a:bodyPr wrap="square">
            <a:spAutoFit/>
          </a:bodyPr>
          <a:lstStyle/>
          <a:p>
            <a:pPr algn="l"/>
            <a:r>
              <a:rPr sz="3000" b="1" i="0">
                <a:solidFill>
                  <a:srgbClr val="B8332A"/>
                </a:solidFill>
                <a:latin typeface="Calibri"/>
              </a:rPr>
              <a:t>+5.8pp</a:t>
            </a:r>
          </a:p>
        </p:txBody>
      </p:sp>
      <p:sp>
        <p:nvSpPr>
          <p:cNvPr id="27" name="TextBox 26"/>
          <p:cNvSpPr txBox="1"/>
          <p:nvPr/>
        </p:nvSpPr>
        <p:spPr>
          <a:xfrm>
            <a:off x="9326880" y="5029200"/>
            <a:ext cx="2468880" cy="411480"/>
          </a:xfrm>
          <a:prstGeom prst="rect">
            <a:avLst/>
          </a:prstGeom>
          <a:noFill/>
        </p:spPr>
        <p:txBody>
          <a:bodyPr wrap="square">
            <a:spAutoFit/>
          </a:bodyPr>
          <a:lstStyle/>
          <a:p>
            <a:pPr algn="l"/>
            <a:r>
              <a:rPr sz="1100" b="0" i="0">
                <a:solidFill>
                  <a:srgbClr val="1A1612"/>
                </a:solidFill>
                <a:latin typeface="Calibri"/>
              </a:rPr>
              <a:t>obesidad varones 2006→2022</a:t>
            </a:r>
          </a:p>
        </p:txBody>
      </p:sp>
      <p:sp>
        <p:nvSpPr>
          <p:cNvPr id="28" name="TextBox 27"/>
          <p:cNvSpPr txBox="1"/>
          <p:nvPr/>
        </p:nvSpPr>
        <p:spPr>
          <a:xfrm>
            <a:off x="9326880" y="5440680"/>
            <a:ext cx="2468880" cy="274320"/>
          </a:xfrm>
          <a:prstGeom prst="rect">
            <a:avLst/>
          </a:prstGeom>
          <a:noFill/>
        </p:spPr>
        <p:txBody>
          <a:bodyPr wrap="square">
            <a:spAutoFit/>
          </a:bodyPr>
          <a:lstStyle/>
          <a:p>
            <a:pPr algn="l"/>
            <a:r>
              <a:rPr sz="800" b="0" i="0">
                <a:solidFill>
                  <a:srgbClr val="7A7368"/>
                </a:solidFill>
                <a:latin typeface="Consolas"/>
              </a:rPr>
              <a:t>ENSANUT Continua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02  ·  EL MÉTODO</a:t>
            </a:r>
          </a:p>
        </p:txBody>
      </p:sp>
      <p:sp>
        <p:nvSpPr>
          <p:cNvPr id="4" name="TextBox 3"/>
          <p:cNvSpPr txBox="1"/>
          <p:nvPr/>
        </p:nvSpPr>
        <p:spPr>
          <a:xfrm>
            <a:off x="548640" y="685800"/>
            <a:ext cx="10972800" cy="411480"/>
          </a:xfrm>
          <a:prstGeom prst="rect">
            <a:avLst/>
          </a:prstGeom>
          <a:noFill/>
        </p:spPr>
        <p:txBody>
          <a:bodyPr wrap="square">
            <a:spAutoFit/>
          </a:bodyPr>
          <a:lstStyle/>
          <a:p>
            <a:pPr algn="l"/>
            <a:r>
              <a:rPr sz="2600" b="1" i="0">
                <a:solidFill>
                  <a:srgbClr val="1A1612"/>
                </a:solidFill>
                <a:latin typeface="Calibri"/>
              </a:rPr>
              <a:t>Cinco fases. Una cadena de evidencia.</a:t>
            </a:r>
          </a:p>
        </p:txBody>
      </p:sp>
      <p:sp>
        <p:nvSpPr>
          <p:cNvPr id="5" name="Rectangle 4"/>
          <p:cNvSpPr/>
          <p:nvPr/>
        </p:nvSpPr>
        <p:spPr>
          <a:xfrm>
            <a:off x="457200" y="1417320"/>
            <a:ext cx="219456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63040"/>
            <a:ext cx="2194560" cy="731520"/>
          </a:xfrm>
          <a:prstGeom prst="rect">
            <a:avLst/>
          </a:prstGeom>
          <a:noFill/>
        </p:spPr>
        <p:txBody>
          <a:bodyPr wrap="square">
            <a:spAutoFit/>
          </a:bodyPr>
          <a:lstStyle/>
          <a:p>
            <a:pPr algn="ctr"/>
            <a:r>
              <a:rPr sz="4400" b="1" i="0">
                <a:solidFill>
                  <a:srgbClr val="FDF8F1"/>
                </a:solidFill>
                <a:latin typeface="Calibri"/>
              </a:rPr>
              <a:t>01</a:t>
            </a:r>
          </a:p>
        </p:txBody>
      </p:sp>
      <p:sp>
        <p:nvSpPr>
          <p:cNvPr id="7" name="Rectangle 6"/>
          <p:cNvSpPr/>
          <p:nvPr/>
        </p:nvSpPr>
        <p:spPr>
          <a:xfrm>
            <a:off x="457200" y="2286000"/>
            <a:ext cx="2194560" cy="35204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2011680" cy="256032"/>
          </a:xfrm>
          <a:prstGeom prst="rect">
            <a:avLst/>
          </a:prstGeom>
          <a:noFill/>
        </p:spPr>
        <p:txBody>
          <a:bodyPr wrap="square">
            <a:spAutoFit/>
          </a:bodyPr>
          <a:lstStyle/>
          <a:p>
            <a:pPr algn="ctr"/>
            <a:r>
              <a:rPr sz="800" b="0" i="0">
                <a:solidFill>
                  <a:srgbClr val="B8862A"/>
                </a:solidFill>
                <a:latin typeface="Consolas"/>
              </a:rPr>
              <a:t>DIAGNÓSTICO</a:t>
            </a:r>
          </a:p>
        </p:txBody>
      </p:sp>
      <p:sp>
        <p:nvSpPr>
          <p:cNvPr id="9" name="TextBox 8"/>
          <p:cNvSpPr txBox="1"/>
          <p:nvPr/>
        </p:nvSpPr>
        <p:spPr>
          <a:xfrm>
            <a:off x="548640" y="2651760"/>
            <a:ext cx="2011680" cy="594360"/>
          </a:xfrm>
          <a:prstGeom prst="rect">
            <a:avLst/>
          </a:prstGeom>
          <a:noFill/>
        </p:spPr>
        <p:txBody>
          <a:bodyPr wrap="square">
            <a:spAutoFit/>
          </a:bodyPr>
          <a:lstStyle/>
          <a:p>
            <a:pPr algn="ctr"/>
            <a:r>
              <a:rPr sz="1400" b="1" i="0">
                <a:solidFill>
                  <a:srgbClr val="FDF8F1"/>
                </a:solidFill>
                <a:latin typeface="Calibri"/>
              </a:rPr>
              <a:t>Regresión
Lineal</a:t>
            </a:r>
          </a:p>
        </p:txBody>
      </p:sp>
      <p:sp>
        <p:nvSpPr>
          <p:cNvPr id="10" name="TextBox 9"/>
          <p:cNvSpPr txBox="1"/>
          <p:nvPr/>
        </p:nvSpPr>
        <p:spPr>
          <a:xfrm>
            <a:off x="548640" y="3337560"/>
            <a:ext cx="2011680" cy="2194560"/>
          </a:xfrm>
          <a:prstGeom prst="rect">
            <a:avLst/>
          </a:prstGeom>
          <a:noFill/>
        </p:spPr>
        <p:txBody>
          <a:bodyPr wrap="square">
            <a:spAutoFit/>
          </a:bodyPr>
          <a:lstStyle/>
          <a:p>
            <a:pPr algn="ctr"/>
            <a:r>
              <a:rPr sz="1000" b="0" i="0">
                <a:solidFill>
                  <a:srgbClr val="C8BEB0"/>
                </a:solidFill>
                <a:latin typeface="Calibri"/>
              </a:rPr>
              <a:t>32 estados · OLS bivariate vs. controlado · ¿Correlaciona densidad tienditas con obesidad?</a:t>
            </a:r>
          </a:p>
        </p:txBody>
      </p:sp>
      <p:sp>
        <p:nvSpPr>
          <p:cNvPr id="11" name="Rectangle 10"/>
          <p:cNvSpPr/>
          <p:nvPr/>
        </p:nvSpPr>
        <p:spPr>
          <a:xfrm>
            <a:off x="2788920" y="1417320"/>
            <a:ext cx="219456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63040"/>
            <a:ext cx="2194560" cy="731520"/>
          </a:xfrm>
          <a:prstGeom prst="rect">
            <a:avLst/>
          </a:prstGeom>
          <a:noFill/>
        </p:spPr>
        <p:txBody>
          <a:bodyPr wrap="square">
            <a:spAutoFit/>
          </a:bodyPr>
          <a:lstStyle/>
          <a:p>
            <a:pPr algn="ctr"/>
            <a:r>
              <a:rPr sz="4400" b="1" i="0">
                <a:solidFill>
                  <a:srgbClr val="FDF8F1"/>
                </a:solidFill>
                <a:latin typeface="Calibri"/>
              </a:rPr>
              <a:t>02</a:t>
            </a:r>
          </a:p>
        </p:txBody>
      </p:sp>
      <p:sp>
        <p:nvSpPr>
          <p:cNvPr id="13" name="Rectangle 12"/>
          <p:cNvSpPr/>
          <p:nvPr/>
        </p:nvSpPr>
        <p:spPr>
          <a:xfrm>
            <a:off x="2788920" y="2286000"/>
            <a:ext cx="2194560" cy="35204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0360" y="2359152"/>
            <a:ext cx="2011680" cy="256032"/>
          </a:xfrm>
          <a:prstGeom prst="rect">
            <a:avLst/>
          </a:prstGeom>
          <a:noFill/>
        </p:spPr>
        <p:txBody>
          <a:bodyPr wrap="square">
            <a:spAutoFit/>
          </a:bodyPr>
          <a:lstStyle/>
          <a:p>
            <a:pPr algn="ctr"/>
            <a:r>
              <a:rPr sz="800" b="0" i="0">
                <a:solidFill>
                  <a:srgbClr val="B8862A"/>
                </a:solidFill>
                <a:latin typeface="Consolas"/>
              </a:rPr>
              <a:t>DIAGNÓSTICO</a:t>
            </a:r>
          </a:p>
        </p:txBody>
      </p:sp>
      <p:sp>
        <p:nvSpPr>
          <p:cNvPr id="15" name="TextBox 14"/>
          <p:cNvSpPr txBox="1"/>
          <p:nvPr/>
        </p:nvSpPr>
        <p:spPr>
          <a:xfrm>
            <a:off x="2880360" y="2651760"/>
            <a:ext cx="2011680" cy="594360"/>
          </a:xfrm>
          <a:prstGeom prst="rect">
            <a:avLst/>
          </a:prstGeom>
          <a:noFill/>
        </p:spPr>
        <p:txBody>
          <a:bodyPr wrap="square">
            <a:spAutoFit/>
          </a:bodyPr>
          <a:lstStyle/>
          <a:p>
            <a:pPr algn="ctr"/>
            <a:r>
              <a:rPr sz="1400" b="1" i="0">
                <a:solidFill>
                  <a:srgbClr val="FDF8F1"/>
                </a:solidFill>
                <a:latin typeface="Calibri"/>
              </a:rPr>
              <a:t>Random
Forest</a:t>
            </a:r>
          </a:p>
        </p:txBody>
      </p:sp>
      <p:sp>
        <p:nvSpPr>
          <p:cNvPr id="16" name="TextBox 15"/>
          <p:cNvSpPr txBox="1"/>
          <p:nvPr/>
        </p:nvSpPr>
        <p:spPr>
          <a:xfrm>
            <a:off x="2880360" y="3337560"/>
            <a:ext cx="2011680" cy="2194560"/>
          </a:xfrm>
          <a:prstGeom prst="rect">
            <a:avLst/>
          </a:prstGeom>
          <a:noFill/>
        </p:spPr>
        <p:txBody>
          <a:bodyPr wrap="square">
            <a:spAutoFit/>
          </a:bodyPr>
          <a:lstStyle/>
          <a:p>
            <a:pPr algn="ctr"/>
            <a:r>
              <a:rPr sz="1000" b="0" i="0">
                <a:solidFill>
                  <a:srgbClr val="C8BEB0"/>
                </a:solidFill>
                <a:latin typeface="Calibri"/>
              </a:rPr>
              <a:t>8 variables extendidas · LOO-CV · Feature importance · ¿Cuál es el predictor más modificable?</a:t>
            </a:r>
          </a:p>
        </p:txBody>
      </p:sp>
      <p:sp>
        <p:nvSpPr>
          <p:cNvPr id="17" name="Rectangle 16"/>
          <p:cNvSpPr/>
          <p:nvPr/>
        </p:nvSpPr>
        <p:spPr>
          <a:xfrm>
            <a:off x="5120640" y="1417320"/>
            <a:ext cx="219456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20640" y="1463040"/>
            <a:ext cx="2194560" cy="731520"/>
          </a:xfrm>
          <a:prstGeom prst="rect">
            <a:avLst/>
          </a:prstGeom>
          <a:noFill/>
        </p:spPr>
        <p:txBody>
          <a:bodyPr wrap="square">
            <a:spAutoFit/>
          </a:bodyPr>
          <a:lstStyle/>
          <a:p>
            <a:pPr algn="ctr"/>
            <a:r>
              <a:rPr sz="4400" b="1" i="0">
                <a:solidFill>
                  <a:srgbClr val="FDF8F1"/>
                </a:solidFill>
                <a:latin typeface="Calibri"/>
              </a:rPr>
              <a:t>03</a:t>
            </a:r>
          </a:p>
        </p:txBody>
      </p:sp>
      <p:sp>
        <p:nvSpPr>
          <p:cNvPr id="19" name="Rectangle 18"/>
          <p:cNvSpPr/>
          <p:nvPr/>
        </p:nvSpPr>
        <p:spPr>
          <a:xfrm>
            <a:off x="5120640" y="2286000"/>
            <a:ext cx="2194560" cy="35204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79" y="2359152"/>
            <a:ext cx="2011680" cy="256032"/>
          </a:xfrm>
          <a:prstGeom prst="rect">
            <a:avLst/>
          </a:prstGeom>
          <a:noFill/>
        </p:spPr>
        <p:txBody>
          <a:bodyPr wrap="square">
            <a:spAutoFit/>
          </a:bodyPr>
          <a:lstStyle/>
          <a:p>
            <a:pPr algn="ctr"/>
            <a:r>
              <a:rPr sz="800" b="0" i="0">
                <a:solidFill>
                  <a:srgbClr val="B8862A"/>
                </a:solidFill>
                <a:latin typeface="Consolas"/>
              </a:rPr>
              <a:t>ESCUCHAR</a:t>
            </a:r>
          </a:p>
        </p:txBody>
      </p:sp>
      <p:sp>
        <p:nvSpPr>
          <p:cNvPr id="21" name="TextBox 20"/>
          <p:cNvSpPr txBox="1"/>
          <p:nvPr/>
        </p:nvSpPr>
        <p:spPr>
          <a:xfrm>
            <a:off x="5212079" y="2651760"/>
            <a:ext cx="2011680" cy="594360"/>
          </a:xfrm>
          <a:prstGeom prst="rect">
            <a:avLst/>
          </a:prstGeom>
          <a:noFill/>
        </p:spPr>
        <p:txBody>
          <a:bodyPr wrap="square">
            <a:spAutoFit/>
          </a:bodyPr>
          <a:lstStyle/>
          <a:p>
            <a:pPr algn="ctr"/>
            <a:r>
              <a:rPr sz="1400" b="1" i="0">
                <a:solidFill>
                  <a:srgbClr val="FDF8F1"/>
                </a:solidFill>
                <a:latin typeface="Calibri"/>
              </a:rPr>
              <a:t>Encuesta
n = 98</a:t>
            </a:r>
          </a:p>
        </p:txBody>
      </p:sp>
      <p:sp>
        <p:nvSpPr>
          <p:cNvPr id="22" name="TextBox 21"/>
          <p:cNvSpPr txBox="1"/>
          <p:nvPr/>
        </p:nvSpPr>
        <p:spPr>
          <a:xfrm>
            <a:off x="5212079" y="3337560"/>
            <a:ext cx="2011680" cy="2194560"/>
          </a:xfrm>
          <a:prstGeom prst="rect">
            <a:avLst/>
          </a:prstGeom>
          <a:noFill/>
        </p:spPr>
        <p:txBody>
          <a:bodyPr wrap="square">
            <a:spAutoFit/>
          </a:bodyPr>
          <a:lstStyle/>
          <a:p>
            <a:pPr algn="ctr"/>
            <a:r>
              <a:rPr sz="1000" b="0" i="0">
                <a:solidFill>
                  <a:srgbClr val="C8BEB0"/>
                </a:solidFill>
                <a:latin typeface="Calibri"/>
              </a:rPr>
              <a:t>San Luis Potosí · Dic 2025 – Ene 2026 · 2 pistas: padres / no padres · Hipótesis confirmadas</a:t>
            </a:r>
          </a:p>
        </p:txBody>
      </p:sp>
      <p:sp>
        <p:nvSpPr>
          <p:cNvPr id="23" name="Rectangle 22"/>
          <p:cNvSpPr/>
          <p:nvPr/>
        </p:nvSpPr>
        <p:spPr>
          <a:xfrm>
            <a:off x="7452359" y="1417320"/>
            <a:ext cx="219456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59" y="1463040"/>
            <a:ext cx="2194560" cy="731520"/>
          </a:xfrm>
          <a:prstGeom prst="rect">
            <a:avLst/>
          </a:prstGeom>
          <a:noFill/>
        </p:spPr>
        <p:txBody>
          <a:bodyPr wrap="square">
            <a:spAutoFit/>
          </a:bodyPr>
          <a:lstStyle/>
          <a:p>
            <a:pPr algn="ctr"/>
            <a:r>
              <a:rPr sz="4400" b="1" i="0">
                <a:solidFill>
                  <a:srgbClr val="FDF8F1"/>
                </a:solidFill>
                <a:latin typeface="Calibri"/>
              </a:rPr>
              <a:t>04</a:t>
            </a:r>
          </a:p>
        </p:txBody>
      </p:sp>
      <p:sp>
        <p:nvSpPr>
          <p:cNvPr id="25" name="Rectangle 24"/>
          <p:cNvSpPr/>
          <p:nvPr/>
        </p:nvSpPr>
        <p:spPr>
          <a:xfrm>
            <a:off x="7452359" y="2286000"/>
            <a:ext cx="2194560" cy="35204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43799" y="2359152"/>
            <a:ext cx="2011680" cy="256032"/>
          </a:xfrm>
          <a:prstGeom prst="rect">
            <a:avLst/>
          </a:prstGeom>
          <a:noFill/>
        </p:spPr>
        <p:txBody>
          <a:bodyPr wrap="square">
            <a:spAutoFit/>
          </a:bodyPr>
          <a:lstStyle/>
          <a:p>
            <a:pPr algn="ctr"/>
            <a:r>
              <a:rPr sz="800" b="0" i="0">
                <a:solidFill>
                  <a:srgbClr val="B8862A"/>
                </a:solidFill>
                <a:latin typeface="Consolas"/>
              </a:rPr>
              <a:t>DISEÑAR</a:t>
            </a:r>
          </a:p>
        </p:txBody>
      </p:sp>
      <p:sp>
        <p:nvSpPr>
          <p:cNvPr id="27" name="TextBox 26"/>
          <p:cNvSpPr txBox="1"/>
          <p:nvPr/>
        </p:nvSpPr>
        <p:spPr>
          <a:xfrm>
            <a:off x="7543799" y="2651760"/>
            <a:ext cx="2011680" cy="594360"/>
          </a:xfrm>
          <a:prstGeom prst="rect">
            <a:avLst/>
          </a:prstGeom>
          <a:noFill/>
        </p:spPr>
        <p:txBody>
          <a:bodyPr wrap="square">
            <a:spAutoFit/>
          </a:bodyPr>
          <a:lstStyle/>
          <a:p>
            <a:pPr algn="ctr"/>
            <a:r>
              <a:rPr sz="1400" b="1" i="0">
                <a:solidFill>
                  <a:srgbClr val="FDF8F1"/>
                </a:solidFill>
                <a:latin typeface="Calibri"/>
              </a:rPr>
              <a:t>Intervención
Curricular</a:t>
            </a:r>
          </a:p>
        </p:txBody>
      </p:sp>
      <p:sp>
        <p:nvSpPr>
          <p:cNvPr id="28" name="TextBox 27"/>
          <p:cNvSpPr txBox="1"/>
          <p:nvPr/>
        </p:nvSpPr>
        <p:spPr>
          <a:xfrm>
            <a:off x="7543799" y="3337560"/>
            <a:ext cx="2011680" cy="2194560"/>
          </a:xfrm>
          <a:prstGeom prst="rect">
            <a:avLst/>
          </a:prstGeom>
          <a:noFill/>
        </p:spPr>
        <p:txBody>
          <a:bodyPr wrap="square">
            <a:spAutoFit/>
          </a:bodyPr>
          <a:lstStyle/>
          <a:p>
            <a:pPr algn="ctr"/>
            <a:r>
              <a:rPr sz="1000" b="0" i="0">
                <a:solidFill>
                  <a:srgbClr val="C8BEB0"/>
                </a:solidFill>
                <a:latin typeface="Calibri"/>
              </a:rPr>
              <a:t>EF + Vida Saludable · 5 componentes · NEM 2022 · Sin reforma legislativa</a:t>
            </a:r>
          </a:p>
        </p:txBody>
      </p:sp>
      <p:sp>
        <p:nvSpPr>
          <p:cNvPr id="29" name="Rectangle 28"/>
          <p:cNvSpPr/>
          <p:nvPr/>
        </p:nvSpPr>
        <p:spPr>
          <a:xfrm>
            <a:off x="9784080" y="1417320"/>
            <a:ext cx="219456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84080" y="1463040"/>
            <a:ext cx="2194560" cy="731520"/>
          </a:xfrm>
          <a:prstGeom prst="rect">
            <a:avLst/>
          </a:prstGeom>
          <a:noFill/>
        </p:spPr>
        <p:txBody>
          <a:bodyPr wrap="square">
            <a:spAutoFit/>
          </a:bodyPr>
          <a:lstStyle/>
          <a:p>
            <a:pPr algn="ctr"/>
            <a:r>
              <a:rPr sz="4400" b="1" i="0">
                <a:solidFill>
                  <a:srgbClr val="FDF8F1"/>
                </a:solidFill>
                <a:latin typeface="Calibri"/>
              </a:rPr>
              <a:t>05</a:t>
            </a:r>
          </a:p>
        </p:txBody>
      </p:sp>
      <p:sp>
        <p:nvSpPr>
          <p:cNvPr id="31" name="Rectangle 30"/>
          <p:cNvSpPr/>
          <p:nvPr/>
        </p:nvSpPr>
        <p:spPr>
          <a:xfrm>
            <a:off x="9784080" y="2286000"/>
            <a:ext cx="2194560" cy="35204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75519" y="2359152"/>
            <a:ext cx="2011680" cy="256032"/>
          </a:xfrm>
          <a:prstGeom prst="rect">
            <a:avLst/>
          </a:prstGeom>
          <a:noFill/>
        </p:spPr>
        <p:txBody>
          <a:bodyPr wrap="square">
            <a:spAutoFit/>
          </a:bodyPr>
          <a:lstStyle/>
          <a:p>
            <a:pPr algn="ctr"/>
            <a:r>
              <a:rPr sz="800" b="0" i="0">
                <a:solidFill>
                  <a:srgbClr val="B8862A"/>
                </a:solidFill>
                <a:latin typeface="Consolas"/>
              </a:rPr>
              <a:t>PROYECTAR</a:t>
            </a:r>
          </a:p>
        </p:txBody>
      </p:sp>
      <p:sp>
        <p:nvSpPr>
          <p:cNvPr id="33" name="TextBox 32"/>
          <p:cNvSpPr txBox="1"/>
          <p:nvPr/>
        </p:nvSpPr>
        <p:spPr>
          <a:xfrm>
            <a:off x="9875519" y="2651760"/>
            <a:ext cx="2011680" cy="594360"/>
          </a:xfrm>
          <a:prstGeom prst="rect">
            <a:avLst/>
          </a:prstGeom>
          <a:noFill/>
        </p:spPr>
        <p:txBody>
          <a:bodyPr wrap="square">
            <a:spAutoFit/>
          </a:bodyPr>
          <a:lstStyle/>
          <a:p>
            <a:pPr algn="ctr"/>
            <a:r>
              <a:rPr sz="1400" b="1" i="0">
                <a:solidFill>
                  <a:srgbClr val="FDF8F1"/>
                </a:solidFill>
                <a:latin typeface="Calibri"/>
              </a:rPr>
              <a:t>Monte Carlo
5,000 runs</a:t>
            </a:r>
          </a:p>
        </p:txBody>
      </p:sp>
      <p:sp>
        <p:nvSpPr>
          <p:cNvPr id="34" name="TextBox 33"/>
          <p:cNvSpPr txBox="1"/>
          <p:nvPr/>
        </p:nvSpPr>
        <p:spPr>
          <a:xfrm>
            <a:off x="9875519" y="3337560"/>
            <a:ext cx="2011680" cy="2194560"/>
          </a:xfrm>
          <a:prstGeom prst="rect">
            <a:avLst/>
          </a:prstGeom>
          <a:noFill/>
        </p:spPr>
        <p:txBody>
          <a:bodyPr wrap="square">
            <a:spAutoFit/>
          </a:bodyPr>
          <a:lstStyle/>
          <a:p>
            <a:pPr algn="ctr"/>
            <a:r>
              <a:rPr sz="1000" b="0" i="0">
                <a:solidFill>
                  <a:srgbClr val="C8BEB0"/>
                </a:solidFill>
                <a:latin typeface="Calibri"/>
              </a:rPr>
              <a:t>Meta-análisis publicados · 5 escenarios · Horizonte 1–3–5 años · Escenario nulo incluido</a:t>
            </a:r>
          </a:p>
        </p:txBody>
      </p:sp>
      <p:sp>
        <p:nvSpPr>
          <p:cNvPr id="35" name="Rectangle 34"/>
          <p:cNvSpPr/>
          <p:nvPr/>
        </p:nvSpPr>
        <p:spPr>
          <a:xfrm>
            <a:off x="457200" y="5943600"/>
            <a:ext cx="6949440" cy="3200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5980176"/>
            <a:ext cx="6949440" cy="274320"/>
          </a:xfrm>
          <a:prstGeom prst="rect">
            <a:avLst/>
          </a:prstGeom>
          <a:noFill/>
        </p:spPr>
        <p:txBody>
          <a:bodyPr wrap="square">
            <a:spAutoFit/>
          </a:bodyPr>
          <a:lstStyle/>
          <a:p>
            <a:pPr algn="ctr"/>
            <a:r>
              <a:rPr sz="1000" b="0" i="0">
                <a:solidFill>
                  <a:srgbClr val="B8862A"/>
                </a:solidFill>
                <a:latin typeface="Consolas"/>
              </a:rPr>
              <a:t>FASES 1 → 2 → 3   ·   DIAGNOSTICAR LA CAUSA RAÍZ</a:t>
            </a:r>
          </a:p>
        </p:txBody>
      </p:sp>
      <p:sp>
        <p:nvSpPr>
          <p:cNvPr id="37" name="Rectangle 36"/>
          <p:cNvSpPr/>
          <p:nvPr/>
        </p:nvSpPr>
        <p:spPr>
          <a:xfrm>
            <a:off x="7498079" y="5943600"/>
            <a:ext cx="4572000" cy="3200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98079" y="5980176"/>
            <a:ext cx="4572000" cy="274320"/>
          </a:xfrm>
          <a:prstGeom prst="rect">
            <a:avLst/>
          </a:prstGeom>
          <a:noFill/>
        </p:spPr>
        <p:txBody>
          <a:bodyPr wrap="square">
            <a:spAutoFit/>
          </a:bodyPr>
          <a:lstStyle/>
          <a:p>
            <a:pPr algn="ctr"/>
            <a:r>
              <a:rPr sz="1000" b="0" i="0">
                <a:solidFill>
                  <a:srgbClr val="FDF8F1"/>
                </a:solidFill>
                <a:latin typeface="Consolas"/>
              </a:rPr>
              <a:t>FASES 4 → 5   ·   DISEÑAR Y PROYECTAR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03  ·  FASE 1 — REGRESIÓN LINEAL</a:t>
            </a:r>
          </a:p>
        </p:txBody>
      </p:sp>
      <p:sp>
        <p:nvSpPr>
          <p:cNvPr id="4" name="TextBox 3"/>
          <p:cNvSpPr txBox="1"/>
          <p:nvPr/>
        </p:nvSpPr>
        <p:spPr>
          <a:xfrm>
            <a:off x="548640" y="658368"/>
            <a:ext cx="10972800" cy="411480"/>
          </a:xfrm>
          <a:prstGeom prst="rect">
            <a:avLst/>
          </a:prstGeom>
          <a:noFill/>
        </p:spPr>
        <p:txBody>
          <a:bodyPr wrap="square">
            <a:spAutoFit/>
          </a:bodyPr>
          <a:lstStyle/>
          <a:p>
            <a:pPr algn="l"/>
            <a:r>
              <a:rPr sz="2600" b="1" i="0">
                <a:solidFill>
                  <a:srgbClr val="1A1612"/>
                </a:solidFill>
                <a:latin typeface="Calibri"/>
              </a:rPr>
              <a:t>El "flip" estadístico que lo cambia todo.</a:t>
            </a:r>
          </a:p>
        </p:txBody>
      </p:sp>
      <p:pic>
        <p:nvPicPr>
          <p:cNvPr id="5" name="Picture 4" descr="regression_flip.png"/>
          <p:cNvPicPr>
            <a:picLocks noChangeAspect="1"/>
          </p:cNvPicPr>
          <p:nvPr/>
        </p:nvPicPr>
        <p:blipFill>
          <a:blip r:embed="rId2"/>
          <a:stretch>
            <a:fillRect/>
          </a:stretch>
        </p:blipFill>
        <p:spPr>
          <a:xfrm>
            <a:off x="457200" y="1097280"/>
            <a:ext cx="7132320" cy="3931920"/>
          </a:xfrm>
          <a:prstGeom prst="rect">
            <a:avLst/>
          </a:prstGeom>
        </p:spPr>
      </p:pic>
      <p:sp>
        <p:nvSpPr>
          <p:cNvPr id="6" name="Rectangle 5"/>
          <p:cNvSpPr/>
          <p:nvPr/>
        </p:nvSpPr>
        <p:spPr>
          <a:xfrm>
            <a:off x="7863840" y="1097280"/>
            <a:ext cx="4114800" cy="18288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170432"/>
            <a:ext cx="3840480" cy="219456"/>
          </a:xfrm>
          <a:prstGeom prst="rect">
            <a:avLst/>
          </a:prstGeom>
          <a:noFill/>
        </p:spPr>
        <p:txBody>
          <a:bodyPr wrap="square">
            <a:spAutoFit/>
          </a:bodyPr>
          <a:lstStyle/>
          <a:p>
            <a:pPr algn="l"/>
            <a:r>
              <a:rPr sz="900" b="0" i="0">
                <a:solidFill>
                  <a:srgbClr val="7A7368"/>
                </a:solidFill>
                <a:latin typeface="Consolas"/>
              </a:rPr>
              <a:t>M1 — SIN CONTROLES</a:t>
            </a:r>
          </a:p>
        </p:txBody>
      </p:sp>
      <p:sp>
        <p:nvSpPr>
          <p:cNvPr id="8" name="TextBox 7"/>
          <p:cNvSpPr txBox="1"/>
          <p:nvPr/>
        </p:nvSpPr>
        <p:spPr>
          <a:xfrm>
            <a:off x="8046720" y="1417320"/>
            <a:ext cx="3840480" cy="502920"/>
          </a:xfrm>
          <a:prstGeom prst="rect">
            <a:avLst/>
          </a:prstGeom>
          <a:noFill/>
        </p:spPr>
        <p:txBody>
          <a:bodyPr wrap="square">
            <a:spAutoFit/>
          </a:bodyPr>
          <a:lstStyle/>
          <a:p>
            <a:pPr algn="l"/>
            <a:r>
              <a:rPr sz="2800" b="1" i="0">
                <a:solidFill>
                  <a:srgbClr val="7A7368"/>
                </a:solidFill>
                <a:latin typeface="Calibri"/>
              </a:rPr>
              <a:t>β = −0.30</a:t>
            </a:r>
          </a:p>
        </p:txBody>
      </p:sp>
      <p:sp>
        <p:nvSpPr>
          <p:cNvPr id="9" name="TextBox 8"/>
          <p:cNvSpPr txBox="1"/>
          <p:nvPr/>
        </p:nvSpPr>
        <p:spPr>
          <a:xfrm>
            <a:off x="8046720" y="1938528"/>
            <a:ext cx="3840480" cy="228600"/>
          </a:xfrm>
          <a:prstGeom prst="rect">
            <a:avLst/>
          </a:prstGeom>
          <a:noFill/>
        </p:spPr>
        <p:txBody>
          <a:bodyPr wrap="square">
            <a:spAutoFit/>
          </a:bodyPr>
          <a:lstStyle/>
          <a:p>
            <a:pPr algn="l"/>
            <a:r>
              <a:rPr sz="1100" b="0" i="0">
                <a:solidFill>
                  <a:srgbClr val="C8BEB0"/>
                </a:solidFill>
                <a:latin typeface="Calibri"/>
              </a:rPr>
              <a:t>p = 0.162  ·  No significativo</a:t>
            </a:r>
          </a:p>
        </p:txBody>
      </p:sp>
      <p:sp>
        <p:nvSpPr>
          <p:cNvPr id="10" name="TextBox 9"/>
          <p:cNvSpPr txBox="1"/>
          <p:nvPr/>
        </p:nvSpPr>
        <p:spPr>
          <a:xfrm>
            <a:off x="8046720" y="2194560"/>
            <a:ext cx="3840480" cy="228600"/>
          </a:xfrm>
          <a:prstGeom prst="rect">
            <a:avLst/>
          </a:prstGeom>
          <a:noFill/>
        </p:spPr>
        <p:txBody>
          <a:bodyPr wrap="square">
            <a:spAutoFit/>
          </a:bodyPr>
          <a:lstStyle/>
          <a:p>
            <a:pPr algn="l"/>
            <a:r>
              <a:rPr sz="1100" b="0" i="0">
                <a:solidFill>
                  <a:srgbClr val="C8BEB0"/>
                </a:solidFill>
                <a:latin typeface="Calibri"/>
              </a:rPr>
              <a:t>R² = 0.064</a:t>
            </a:r>
          </a:p>
        </p:txBody>
      </p:sp>
      <p:sp>
        <p:nvSpPr>
          <p:cNvPr id="11" name="Rectangle 10"/>
          <p:cNvSpPr/>
          <p:nvPr/>
        </p:nvSpPr>
        <p:spPr>
          <a:xfrm>
            <a:off x="7863840" y="3063240"/>
            <a:ext cx="4114800" cy="18288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3136392"/>
            <a:ext cx="3840480" cy="219456"/>
          </a:xfrm>
          <a:prstGeom prst="rect">
            <a:avLst/>
          </a:prstGeom>
          <a:noFill/>
        </p:spPr>
        <p:txBody>
          <a:bodyPr wrap="square">
            <a:spAutoFit/>
          </a:bodyPr>
          <a:lstStyle/>
          <a:p>
            <a:pPr algn="l"/>
            <a:r>
              <a:rPr sz="800" b="0" i="0">
                <a:solidFill>
                  <a:srgbClr val="B8862A"/>
                </a:solidFill>
                <a:latin typeface="Consolas"/>
              </a:rPr>
              <a:t>M2 — CON MARGINACIÓN + URBANIZACIÓN</a:t>
            </a:r>
          </a:p>
        </p:txBody>
      </p:sp>
      <p:sp>
        <p:nvSpPr>
          <p:cNvPr id="13" name="TextBox 12"/>
          <p:cNvSpPr txBox="1"/>
          <p:nvPr/>
        </p:nvSpPr>
        <p:spPr>
          <a:xfrm>
            <a:off x="8046720" y="3383280"/>
            <a:ext cx="3840480" cy="502920"/>
          </a:xfrm>
          <a:prstGeom prst="rect">
            <a:avLst/>
          </a:prstGeom>
          <a:noFill/>
        </p:spPr>
        <p:txBody>
          <a:bodyPr wrap="square">
            <a:spAutoFit/>
          </a:bodyPr>
          <a:lstStyle/>
          <a:p>
            <a:pPr algn="l"/>
            <a:r>
              <a:rPr sz="2800" b="1" i="0">
                <a:solidFill>
                  <a:srgbClr val="B8332A"/>
                </a:solidFill>
                <a:latin typeface="Calibri"/>
              </a:rPr>
              <a:t>β = +0.99</a:t>
            </a:r>
          </a:p>
        </p:txBody>
      </p:sp>
      <p:sp>
        <p:nvSpPr>
          <p:cNvPr id="14" name="TextBox 13"/>
          <p:cNvSpPr txBox="1"/>
          <p:nvPr/>
        </p:nvSpPr>
        <p:spPr>
          <a:xfrm>
            <a:off x="8046720" y="3904487"/>
            <a:ext cx="3840480" cy="228600"/>
          </a:xfrm>
          <a:prstGeom prst="rect">
            <a:avLst/>
          </a:prstGeom>
          <a:noFill/>
        </p:spPr>
        <p:txBody>
          <a:bodyPr wrap="square">
            <a:spAutoFit/>
          </a:bodyPr>
          <a:lstStyle/>
          <a:p>
            <a:pPr algn="l"/>
            <a:r>
              <a:rPr sz="1100" b="0" i="0">
                <a:solidFill>
                  <a:srgbClr val="FDF8F1"/>
                </a:solidFill>
                <a:latin typeface="Calibri"/>
              </a:rPr>
              <a:t>p &lt; 0.001  ·  Significativo ✓</a:t>
            </a:r>
          </a:p>
        </p:txBody>
      </p:sp>
      <p:sp>
        <p:nvSpPr>
          <p:cNvPr id="15" name="TextBox 14"/>
          <p:cNvSpPr txBox="1"/>
          <p:nvPr/>
        </p:nvSpPr>
        <p:spPr>
          <a:xfrm>
            <a:off x="8046720" y="4160520"/>
            <a:ext cx="3840480" cy="228600"/>
          </a:xfrm>
          <a:prstGeom prst="rect">
            <a:avLst/>
          </a:prstGeom>
          <a:noFill/>
        </p:spPr>
        <p:txBody>
          <a:bodyPr wrap="square">
            <a:spAutoFit/>
          </a:bodyPr>
          <a:lstStyle/>
          <a:p>
            <a:pPr algn="l"/>
            <a:r>
              <a:rPr sz="1100" b="0" i="0">
                <a:solidFill>
                  <a:srgbClr val="FDF8F1"/>
                </a:solidFill>
                <a:latin typeface="Calibri"/>
              </a:rPr>
              <a:t>R² = 0.634  (adj. 0.595)</a:t>
            </a:r>
          </a:p>
        </p:txBody>
      </p:sp>
      <p:sp>
        <p:nvSpPr>
          <p:cNvPr id="16" name="Rectangle 15"/>
          <p:cNvSpPr/>
          <p:nvPr/>
        </p:nvSpPr>
        <p:spPr>
          <a:xfrm>
            <a:off x="457200" y="5166360"/>
            <a:ext cx="11338560" cy="86868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230368"/>
            <a:ext cx="10972800" cy="228600"/>
          </a:xfrm>
          <a:prstGeom prst="rect">
            <a:avLst/>
          </a:prstGeom>
          <a:noFill/>
        </p:spPr>
        <p:txBody>
          <a:bodyPr wrap="square">
            <a:spAutoFit/>
          </a:bodyPr>
          <a:lstStyle/>
          <a:p>
            <a:pPr algn="l"/>
            <a:r>
              <a:rPr sz="900" b="1" i="0">
                <a:solidFill>
                  <a:srgbClr val="B8332A"/>
                </a:solidFill>
                <a:latin typeface="Consolas"/>
              </a:rPr>
              <a:t>¿POR QUÉ CAMBIA EL SIGNO?</a:t>
            </a:r>
          </a:p>
        </p:txBody>
      </p:sp>
      <p:sp>
        <p:nvSpPr>
          <p:cNvPr id="18" name="TextBox 17"/>
          <p:cNvSpPr txBox="1"/>
          <p:nvPr/>
        </p:nvSpPr>
        <p:spPr>
          <a:xfrm>
            <a:off x="640080" y="5486400"/>
            <a:ext cx="10972800" cy="457200"/>
          </a:xfrm>
          <a:prstGeom prst="rect">
            <a:avLst/>
          </a:prstGeom>
          <a:noFill/>
        </p:spPr>
        <p:txBody>
          <a:bodyPr wrap="square">
            <a:spAutoFit/>
          </a:bodyPr>
          <a:lstStyle/>
          <a:p>
            <a:pPr algn="l"/>
            <a:r>
              <a:rPr sz="1100" b="0" i="0">
                <a:solidFill>
                  <a:srgbClr val="1A1612"/>
                </a:solidFill>
                <a:latin typeface="Calibri"/>
              </a:rPr>
              <a:t>Los estados con más tienditas/habitante (Guerrero, Oaxaca, Chiapas) son los más marginados y rurales — y tienen menor obesidad.
Una vez que controlas por eso, la densidad de tienditas sí correlaciona positivamente con obesidad. El efecto estaba enmascarado.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04  ·  FASE 2 — RANDOM FOREST  ·  8 VARIABLES  ·  N = 32 ESTADOS</a:t>
            </a:r>
          </a:p>
        </p:txBody>
      </p:sp>
      <p:sp>
        <p:nvSpPr>
          <p:cNvPr id="4" name="TextBox 3"/>
          <p:cNvSpPr txBox="1"/>
          <p:nvPr/>
        </p:nvSpPr>
        <p:spPr>
          <a:xfrm>
            <a:off x="548640" y="658368"/>
            <a:ext cx="10972800" cy="411480"/>
          </a:xfrm>
          <a:prstGeom prst="rect">
            <a:avLst/>
          </a:prstGeom>
          <a:noFill/>
        </p:spPr>
        <p:txBody>
          <a:bodyPr wrap="square">
            <a:spAutoFit/>
          </a:bodyPr>
          <a:lstStyle/>
          <a:p>
            <a:pPr algn="l"/>
            <a:r>
              <a:rPr sz="2600" b="1" i="0">
                <a:solidFill>
                  <a:srgbClr val="1A1612"/>
                </a:solidFill>
                <a:latin typeface="Calibri"/>
              </a:rPr>
              <a:t>El predictor más importante: actividad física.</a:t>
            </a:r>
          </a:p>
        </p:txBody>
      </p:sp>
      <p:pic>
        <p:nvPicPr>
          <p:cNvPr id="5" name="Picture 4" descr="rf_importance.png"/>
          <p:cNvPicPr>
            <a:picLocks noChangeAspect="1"/>
          </p:cNvPicPr>
          <p:nvPr/>
        </p:nvPicPr>
        <p:blipFill>
          <a:blip r:embed="rId2"/>
          <a:stretch>
            <a:fillRect/>
          </a:stretch>
        </p:blipFill>
        <p:spPr>
          <a:xfrm>
            <a:off x="457200" y="1097280"/>
            <a:ext cx="7132320" cy="3657600"/>
          </a:xfrm>
          <a:prstGeom prst="rect">
            <a:avLst/>
          </a:prstGeom>
        </p:spPr>
      </p:pic>
      <p:pic>
        <p:nvPicPr>
          <p:cNvPr id="6" name="Picture 5" descr="correlations.png"/>
          <p:cNvPicPr>
            <a:picLocks noChangeAspect="1"/>
          </p:cNvPicPr>
          <p:nvPr/>
        </p:nvPicPr>
        <p:blipFill>
          <a:blip r:embed="rId3"/>
          <a:stretch>
            <a:fillRect/>
          </a:stretch>
        </p:blipFill>
        <p:spPr>
          <a:xfrm>
            <a:off x="457200" y="4800600"/>
            <a:ext cx="11247120" cy="1508760"/>
          </a:xfrm>
          <a:prstGeom prst="rect">
            <a:avLst/>
          </a:prstGeom>
        </p:spPr>
      </p:pic>
      <p:sp>
        <p:nvSpPr>
          <p:cNvPr id="7" name="Rectangle 6"/>
          <p:cNvSpPr/>
          <p:nvPr/>
        </p:nvSpPr>
        <p:spPr>
          <a:xfrm>
            <a:off x="7863840" y="1097280"/>
            <a:ext cx="4114800" cy="1371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170432"/>
            <a:ext cx="3840480" cy="228600"/>
          </a:xfrm>
          <a:prstGeom prst="rect">
            <a:avLst/>
          </a:prstGeom>
          <a:noFill/>
        </p:spPr>
        <p:txBody>
          <a:bodyPr wrap="square">
            <a:spAutoFit/>
          </a:bodyPr>
          <a:lstStyle/>
          <a:p>
            <a:pPr algn="l"/>
            <a:r>
              <a:rPr sz="900" b="0" i="0">
                <a:solidFill>
                  <a:srgbClr val="B8862A"/>
                </a:solidFill>
                <a:latin typeface="Consolas"/>
              </a:rPr>
              <a:t>RANDOM FOREST — KEY METRICS</a:t>
            </a:r>
          </a:p>
        </p:txBody>
      </p:sp>
      <p:sp>
        <p:nvSpPr>
          <p:cNvPr id="9" name="TextBox 8"/>
          <p:cNvSpPr txBox="1"/>
          <p:nvPr/>
        </p:nvSpPr>
        <p:spPr>
          <a:xfrm>
            <a:off x="8046720" y="1463040"/>
            <a:ext cx="3840480" cy="411480"/>
          </a:xfrm>
          <a:prstGeom prst="rect">
            <a:avLst/>
          </a:prstGeom>
          <a:noFill/>
        </p:spPr>
        <p:txBody>
          <a:bodyPr wrap="square">
            <a:spAutoFit/>
          </a:bodyPr>
          <a:lstStyle/>
          <a:p>
            <a:pPr algn="l"/>
            <a:r>
              <a:rPr sz="2600" b="1" i="0">
                <a:solidFill>
                  <a:srgbClr val="B8332A"/>
                </a:solidFill>
                <a:latin typeface="Calibri"/>
              </a:rPr>
              <a:t>R² = 0.929</a:t>
            </a:r>
          </a:p>
        </p:txBody>
      </p:sp>
      <p:sp>
        <p:nvSpPr>
          <p:cNvPr id="10" name="TextBox 9"/>
          <p:cNvSpPr txBox="1"/>
          <p:nvPr/>
        </p:nvSpPr>
        <p:spPr>
          <a:xfrm>
            <a:off x="8046720" y="1920240"/>
            <a:ext cx="3840480" cy="228600"/>
          </a:xfrm>
          <a:prstGeom prst="rect">
            <a:avLst/>
          </a:prstGeom>
          <a:noFill/>
        </p:spPr>
        <p:txBody>
          <a:bodyPr wrap="square">
            <a:spAutoFit/>
          </a:bodyPr>
          <a:lstStyle/>
          <a:p>
            <a:pPr algn="l"/>
            <a:r>
              <a:rPr sz="1000" b="0" i="0">
                <a:solidFill>
                  <a:srgbClr val="C8BEB0"/>
                </a:solidFill>
                <a:latin typeface="Calibri"/>
              </a:rPr>
              <a:t>N = 32 estados · 8 features · 500 árboles</a:t>
            </a:r>
          </a:p>
        </p:txBody>
      </p:sp>
      <p:sp>
        <p:nvSpPr>
          <p:cNvPr id="11" name="TextBox 10"/>
          <p:cNvSpPr txBox="1"/>
          <p:nvPr/>
        </p:nvSpPr>
        <p:spPr>
          <a:xfrm>
            <a:off x="8046720" y="2212848"/>
            <a:ext cx="3840480" cy="182880"/>
          </a:xfrm>
          <a:prstGeom prst="rect">
            <a:avLst/>
          </a:prstGeom>
          <a:noFill/>
        </p:spPr>
        <p:txBody>
          <a:bodyPr wrap="square">
            <a:spAutoFit/>
          </a:bodyPr>
          <a:lstStyle/>
          <a:p>
            <a:pPr algn="l"/>
            <a:r>
              <a:rPr sz="900" b="0" i="1">
                <a:solidFill>
                  <a:srgbClr val="7A7368"/>
                </a:solidFill>
                <a:latin typeface="Calibri"/>
              </a:rPr>
              <a:t>LOO-CV no converge (n muy pequeño)</a:t>
            </a:r>
          </a:p>
        </p:txBody>
      </p:sp>
      <p:sp>
        <p:nvSpPr>
          <p:cNvPr id="12" name="Rectangle 11"/>
          <p:cNvSpPr/>
          <p:nvPr/>
        </p:nvSpPr>
        <p:spPr>
          <a:xfrm>
            <a:off x="7863840" y="2606040"/>
            <a:ext cx="4114800" cy="224028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2679192"/>
            <a:ext cx="3840480" cy="228600"/>
          </a:xfrm>
          <a:prstGeom prst="rect">
            <a:avLst/>
          </a:prstGeom>
          <a:noFill/>
        </p:spPr>
        <p:txBody>
          <a:bodyPr wrap="square">
            <a:spAutoFit/>
          </a:bodyPr>
          <a:lstStyle/>
          <a:p>
            <a:pPr algn="l"/>
            <a:r>
              <a:rPr sz="900" b="0" i="0">
                <a:solidFill>
                  <a:srgbClr val="B8332A"/>
                </a:solidFill>
                <a:latin typeface="Consolas"/>
              </a:rPr>
              <a:t>TOP PREDICTORES (permutación)</a:t>
            </a:r>
          </a:p>
        </p:txBody>
      </p:sp>
      <p:sp>
        <p:nvSpPr>
          <p:cNvPr id="14" name="TextBox 13"/>
          <p:cNvSpPr txBox="1"/>
          <p:nvPr/>
        </p:nvSpPr>
        <p:spPr>
          <a:xfrm>
            <a:off x="8046720" y="2944368"/>
            <a:ext cx="457200" cy="347472"/>
          </a:xfrm>
          <a:prstGeom prst="rect">
            <a:avLst/>
          </a:prstGeom>
          <a:noFill/>
        </p:spPr>
        <p:txBody>
          <a:bodyPr wrap="square">
            <a:spAutoFit/>
          </a:bodyPr>
          <a:lstStyle/>
          <a:p>
            <a:pPr algn="l"/>
            <a:r>
              <a:rPr sz="1200" b="1" i="0">
                <a:solidFill>
                  <a:srgbClr val="B8332A"/>
                </a:solidFill>
                <a:latin typeface="Consolas"/>
              </a:rPr>
              <a:t>01</a:t>
            </a:r>
          </a:p>
        </p:txBody>
      </p:sp>
      <p:sp>
        <p:nvSpPr>
          <p:cNvPr id="15" name="TextBox 14"/>
          <p:cNvSpPr txBox="1"/>
          <p:nvPr/>
        </p:nvSpPr>
        <p:spPr>
          <a:xfrm>
            <a:off x="8549640" y="2944368"/>
            <a:ext cx="2011680" cy="347472"/>
          </a:xfrm>
          <a:prstGeom prst="rect">
            <a:avLst/>
          </a:prstGeom>
          <a:noFill/>
        </p:spPr>
        <p:txBody>
          <a:bodyPr wrap="square">
            <a:spAutoFit/>
          </a:bodyPr>
          <a:lstStyle/>
          <a:p>
            <a:pPr algn="l"/>
            <a:r>
              <a:rPr sz="1100" b="1" i="0">
                <a:solidFill>
                  <a:srgbClr val="1A1612"/>
                </a:solidFill>
                <a:latin typeface="Calibri"/>
              </a:rPr>
              <a:t>PA compliance</a:t>
            </a:r>
          </a:p>
        </p:txBody>
      </p:sp>
      <p:sp>
        <p:nvSpPr>
          <p:cNvPr id="16" name="TextBox 15"/>
          <p:cNvSpPr txBox="1"/>
          <p:nvPr/>
        </p:nvSpPr>
        <p:spPr>
          <a:xfrm>
            <a:off x="10607040" y="2944368"/>
            <a:ext cx="1280160" cy="347472"/>
          </a:xfrm>
          <a:prstGeom prst="rect">
            <a:avLst/>
          </a:prstGeom>
          <a:noFill/>
        </p:spPr>
        <p:txBody>
          <a:bodyPr wrap="square">
            <a:spAutoFit/>
          </a:bodyPr>
          <a:lstStyle/>
          <a:p>
            <a:pPr algn="l"/>
            <a:r>
              <a:rPr sz="900" b="0" i="0">
                <a:solidFill>
                  <a:srgbClr val="7A7368"/>
                </a:solidFill>
                <a:latin typeface="Consolas"/>
              </a:rPr>
              <a:t>0.108  r = −0.911</a:t>
            </a:r>
          </a:p>
        </p:txBody>
      </p:sp>
      <p:sp>
        <p:nvSpPr>
          <p:cNvPr id="17" name="TextBox 16"/>
          <p:cNvSpPr txBox="1"/>
          <p:nvPr/>
        </p:nvSpPr>
        <p:spPr>
          <a:xfrm>
            <a:off x="8046720" y="3337560"/>
            <a:ext cx="457200" cy="347472"/>
          </a:xfrm>
          <a:prstGeom prst="rect">
            <a:avLst/>
          </a:prstGeom>
          <a:noFill/>
        </p:spPr>
        <p:txBody>
          <a:bodyPr wrap="square">
            <a:spAutoFit/>
          </a:bodyPr>
          <a:lstStyle/>
          <a:p>
            <a:pPr algn="l"/>
            <a:r>
              <a:rPr sz="1200" b="1" i="0">
                <a:solidFill>
                  <a:srgbClr val="B8862A"/>
                </a:solidFill>
                <a:latin typeface="Consolas"/>
              </a:rPr>
              <a:t>02</a:t>
            </a:r>
          </a:p>
        </p:txBody>
      </p:sp>
      <p:sp>
        <p:nvSpPr>
          <p:cNvPr id="18" name="TextBox 17"/>
          <p:cNvSpPr txBox="1"/>
          <p:nvPr/>
        </p:nvSpPr>
        <p:spPr>
          <a:xfrm>
            <a:off x="8549640" y="3337560"/>
            <a:ext cx="2011680" cy="347472"/>
          </a:xfrm>
          <a:prstGeom prst="rect">
            <a:avLst/>
          </a:prstGeom>
          <a:noFill/>
        </p:spPr>
        <p:txBody>
          <a:bodyPr wrap="square">
            <a:spAutoFit/>
          </a:bodyPr>
          <a:lstStyle/>
          <a:p>
            <a:pPr algn="l"/>
            <a:r>
              <a:rPr sz="1100" b="0" i="0">
                <a:solidFill>
                  <a:srgbClr val="1A1612"/>
                </a:solidFill>
                <a:latin typeface="Calibri"/>
              </a:rPr>
              <a:t>Bebidas azucaradas</a:t>
            </a:r>
          </a:p>
        </p:txBody>
      </p:sp>
      <p:sp>
        <p:nvSpPr>
          <p:cNvPr id="19" name="TextBox 18"/>
          <p:cNvSpPr txBox="1"/>
          <p:nvPr/>
        </p:nvSpPr>
        <p:spPr>
          <a:xfrm>
            <a:off x="10607040" y="3337560"/>
            <a:ext cx="1280160" cy="347472"/>
          </a:xfrm>
          <a:prstGeom prst="rect">
            <a:avLst/>
          </a:prstGeom>
          <a:noFill/>
        </p:spPr>
        <p:txBody>
          <a:bodyPr wrap="square">
            <a:spAutoFit/>
          </a:bodyPr>
          <a:lstStyle/>
          <a:p>
            <a:pPr algn="l"/>
            <a:r>
              <a:rPr sz="900" b="0" i="0">
                <a:solidFill>
                  <a:srgbClr val="7A7368"/>
                </a:solidFill>
                <a:latin typeface="Consolas"/>
              </a:rPr>
              <a:t>0.098  r = +0.893</a:t>
            </a:r>
          </a:p>
        </p:txBody>
      </p:sp>
      <p:sp>
        <p:nvSpPr>
          <p:cNvPr id="20" name="TextBox 19"/>
          <p:cNvSpPr txBox="1"/>
          <p:nvPr/>
        </p:nvSpPr>
        <p:spPr>
          <a:xfrm>
            <a:off x="8046720" y="3730752"/>
            <a:ext cx="457200" cy="347472"/>
          </a:xfrm>
          <a:prstGeom prst="rect">
            <a:avLst/>
          </a:prstGeom>
          <a:noFill/>
        </p:spPr>
        <p:txBody>
          <a:bodyPr wrap="square">
            <a:spAutoFit/>
          </a:bodyPr>
          <a:lstStyle/>
          <a:p>
            <a:pPr algn="l"/>
            <a:r>
              <a:rPr sz="1200" b="1" i="0">
                <a:solidFill>
                  <a:srgbClr val="B8862A"/>
                </a:solidFill>
                <a:latin typeface="Consolas"/>
              </a:rPr>
              <a:t>03</a:t>
            </a:r>
          </a:p>
        </p:txBody>
      </p:sp>
      <p:sp>
        <p:nvSpPr>
          <p:cNvPr id="21" name="TextBox 20"/>
          <p:cNvSpPr txBox="1"/>
          <p:nvPr/>
        </p:nvSpPr>
        <p:spPr>
          <a:xfrm>
            <a:off x="8549640" y="3730752"/>
            <a:ext cx="2011680" cy="347472"/>
          </a:xfrm>
          <a:prstGeom prst="rect">
            <a:avLst/>
          </a:prstGeom>
          <a:noFill/>
        </p:spPr>
        <p:txBody>
          <a:bodyPr wrap="square">
            <a:spAutoFit/>
          </a:bodyPr>
          <a:lstStyle/>
          <a:p>
            <a:pPr algn="l"/>
            <a:r>
              <a:rPr sz="1100" b="0" i="0">
                <a:solidFill>
                  <a:srgbClr val="1A1612"/>
                </a:solidFill>
                <a:latin typeface="Calibri"/>
              </a:rPr>
              <a:t>Frutas y verduras</a:t>
            </a:r>
          </a:p>
        </p:txBody>
      </p:sp>
      <p:sp>
        <p:nvSpPr>
          <p:cNvPr id="22" name="TextBox 21"/>
          <p:cNvSpPr txBox="1"/>
          <p:nvPr/>
        </p:nvSpPr>
        <p:spPr>
          <a:xfrm>
            <a:off x="10607040" y="3730752"/>
            <a:ext cx="1280160" cy="347472"/>
          </a:xfrm>
          <a:prstGeom prst="rect">
            <a:avLst/>
          </a:prstGeom>
          <a:noFill/>
        </p:spPr>
        <p:txBody>
          <a:bodyPr wrap="square">
            <a:spAutoFit/>
          </a:bodyPr>
          <a:lstStyle/>
          <a:p>
            <a:pPr algn="l"/>
            <a:r>
              <a:rPr sz="900" b="0" i="0">
                <a:solidFill>
                  <a:srgbClr val="7A7368"/>
                </a:solidFill>
                <a:latin typeface="Consolas"/>
              </a:rPr>
              <a:t>0.087  r = −0.907</a:t>
            </a:r>
          </a:p>
        </p:txBody>
      </p:sp>
      <p:sp>
        <p:nvSpPr>
          <p:cNvPr id="23" name="TextBox 22"/>
          <p:cNvSpPr txBox="1"/>
          <p:nvPr/>
        </p:nvSpPr>
        <p:spPr>
          <a:xfrm>
            <a:off x="8046720" y="4123944"/>
            <a:ext cx="457200" cy="347472"/>
          </a:xfrm>
          <a:prstGeom prst="rect">
            <a:avLst/>
          </a:prstGeom>
          <a:noFill/>
        </p:spPr>
        <p:txBody>
          <a:bodyPr wrap="square">
            <a:spAutoFit/>
          </a:bodyPr>
          <a:lstStyle/>
          <a:p>
            <a:pPr algn="l"/>
            <a:r>
              <a:rPr sz="1200" b="1" i="0">
                <a:solidFill>
                  <a:srgbClr val="B8862A"/>
                </a:solidFill>
                <a:latin typeface="Consolas"/>
              </a:rPr>
              <a:t>04</a:t>
            </a:r>
          </a:p>
        </p:txBody>
      </p:sp>
      <p:sp>
        <p:nvSpPr>
          <p:cNvPr id="24" name="TextBox 23"/>
          <p:cNvSpPr txBox="1"/>
          <p:nvPr/>
        </p:nvSpPr>
        <p:spPr>
          <a:xfrm>
            <a:off x="8549640" y="4123944"/>
            <a:ext cx="2011680" cy="347472"/>
          </a:xfrm>
          <a:prstGeom prst="rect">
            <a:avLst/>
          </a:prstGeom>
          <a:noFill/>
        </p:spPr>
        <p:txBody>
          <a:bodyPr wrap="square">
            <a:spAutoFit/>
          </a:bodyPr>
          <a:lstStyle/>
          <a:p>
            <a:pPr algn="l"/>
            <a:r>
              <a:rPr sz="1100" b="0" i="0">
                <a:solidFill>
                  <a:srgbClr val="1A1612"/>
                </a:solidFill>
                <a:latin typeface="Calibri"/>
              </a:rPr>
              <a:t>Diabetes T2 menores</a:t>
            </a:r>
          </a:p>
        </p:txBody>
      </p:sp>
      <p:sp>
        <p:nvSpPr>
          <p:cNvPr id="25" name="TextBox 24"/>
          <p:cNvSpPr txBox="1"/>
          <p:nvPr/>
        </p:nvSpPr>
        <p:spPr>
          <a:xfrm>
            <a:off x="10607040" y="4123944"/>
            <a:ext cx="1280160" cy="347472"/>
          </a:xfrm>
          <a:prstGeom prst="rect">
            <a:avLst/>
          </a:prstGeom>
          <a:noFill/>
        </p:spPr>
        <p:txBody>
          <a:bodyPr wrap="square">
            <a:spAutoFit/>
          </a:bodyPr>
          <a:lstStyle/>
          <a:p>
            <a:pPr algn="l"/>
            <a:r>
              <a:rPr sz="900" b="0" i="0">
                <a:solidFill>
                  <a:srgbClr val="7A7368"/>
                </a:solidFill>
                <a:latin typeface="Consolas"/>
              </a:rPr>
              <a:t>0.086  r = +0.862</a:t>
            </a:r>
          </a:p>
        </p:txBody>
      </p:sp>
      <p:sp>
        <p:nvSpPr>
          <p:cNvPr id="26" name="TextBox 25"/>
          <p:cNvSpPr txBox="1"/>
          <p:nvPr/>
        </p:nvSpPr>
        <p:spPr>
          <a:xfrm>
            <a:off x="8046720" y="4517136"/>
            <a:ext cx="457200" cy="347472"/>
          </a:xfrm>
          <a:prstGeom prst="rect">
            <a:avLst/>
          </a:prstGeom>
          <a:noFill/>
        </p:spPr>
        <p:txBody>
          <a:bodyPr wrap="square">
            <a:spAutoFit/>
          </a:bodyPr>
          <a:lstStyle/>
          <a:p>
            <a:pPr algn="l"/>
            <a:r>
              <a:rPr sz="1200" b="1" i="0">
                <a:solidFill>
                  <a:srgbClr val="7A7368"/>
                </a:solidFill>
                <a:latin typeface="Consolas"/>
              </a:rPr>
              <a:t>08</a:t>
            </a:r>
          </a:p>
        </p:txBody>
      </p:sp>
      <p:sp>
        <p:nvSpPr>
          <p:cNvPr id="27" name="TextBox 26"/>
          <p:cNvSpPr txBox="1"/>
          <p:nvPr/>
        </p:nvSpPr>
        <p:spPr>
          <a:xfrm>
            <a:off x="8549640" y="4517136"/>
            <a:ext cx="2011680" cy="347472"/>
          </a:xfrm>
          <a:prstGeom prst="rect">
            <a:avLst/>
          </a:prstGeom>
          <a:noFill/>
        </p:spPr>
        <p:txBody>
          <a:bodyPr wrap="square">
            <a:spAutoFit/>
          </a:bodyPr>
          <a:lstStyle/>
          <a:p>
            <a:pPr algn="l"/>
            <a:r>
              <a:rPr sz="1100" b="0" i="0">
                <a:solidFill>
                  <a:srgbClr val="1A1612"/>
                </a:solidFill>
                <a:latin typeface="Calibri"/>
              </a:rPr>
              <a:t>Densidad tienditas</a:t>
            </a:r>
          </a:p>
        </p:txBody>
      </p:sp>
      <p:sp>
        <p:nvSpPr>
          <p:cNvPr id="28" name="TextBox 27"/>
          <p:cNvSpPr txBox="1"/>
          <p:nvPr/>
        </p:nvSpPr>
        <p:spPr>
          <a:xfrm>
            <a:off x="10607040" y="4517136"/>
            <a:ext cx="1280160" cy="347472"/>
          </a:xfrm>
          <a:prstGeom prst="rect">
            <a:avLst/>
          </a:prstGeom>
          <a:noFill/>
        </p:spPr>
        <p:txBody>
          <a:bodyPr wrap="square">
            <a:spAutoFit/>
          </a:bodyPr>
          <a:lstStyle/>
          <a:p>
            <a:pPr algn="l"/>
            <a:r>
              <a:rPr sz="900" b="0" i="0">
                <a:solidFill>
                  <a:srgbClr val="7A7368"/>
                </a:solidFill>
                <a:latin typeface="Consolas"/>
              </a:rPr>
              <a:t>0.004  r = −0.268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05  ·  FASE 3 — ENCUESTA  ·  N = 98 RESPUESTAS</a:t>
            </a:r>
          </a:p>
        </p:txBody>
      </p:sp>
      <p:sp>
        <p:nvSpPr>
          <p:cNvPr id="4" name="TextBox 3"/>
          <p:cNvSpPr txBox="1"/>
          <p:nvPr/>
        </p:nvSpPr>
        <p:spPr>
          <a:xfrm>
            <a:off x="548640" y="658368"/>
            <a:ext cx="10972800" cy="411480"/>
          </a:xfrm>
          <a:prstGeom prst="rect">
            <a:avLst/>
          </a:prstGeom>
          <a:noFill/>
        </p:spPr>
        <p:txBody>
          <a:bodyPr wrap="square">
            <a:spAutoFit/>
          </a:bodyPr>
          <a:lstStyle/>
          <a:p>
            <a:pPr algn="l"/>
            <a:r>
              <a:rPr sz="2200" b="1" i="0">
                <a:solidFill>
                  <a:srgbClr val="1A1612"/>
                </a:solidFill>
                <a:latin typeface="Calibri"/>
              </a:rPr>
              <a:t>Los datos estadísticos nos dieron correlaciones. Las personas nos dieron causas.</a:t>
            </a:r>
          </a:p>
        </p:txBody>
      </p:sp>
      <p:sp>
        <p:nvSpPr>
          <p:cNvPr id="5" name="Rectangle 4"/>
          <p:cNvSpPr/>
          <p:nvPr/>
        </p:nvSpPr>
        <p:spPr>
          <a:xfrm>
            <a:off x="548640" y="1143000"/>
            <a:ext cx="11155680" cy="411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07008"/>
            <a:ext cx="10972800" cy="320040"/>
          </a:xfrm>
          <a:prstGeom prst="rect">
            <a:avLst/>
          </a:prstGeom>
          <a:noFill/>
        </p:spPr>
        <p:txBody>
          <a:bodyPr wrap="square">
            <a:spAutoFit/>
          </a:bodyPr>
          <a:lstStyle/>
          <a:p>
            <a:pPr algn="l"/>
            <a:r>
              <a:rPr sz="900" b="0" i="0">
                <a:solidFill>
                  <a:srgbClr val="B8862A"/>
                </a:solidFill>
                <a:latin typeface="Consolas"/>
              </a:rPr>
              <a:t>SAN LUIS POTOSÍ  ·  DIC 2025 – ENE 2026  ·  98 RESPONDENTES  ·  2 PISTAS: PADRES / NO PADRES  ·  ESTUDIANTES 37% · OFICINISTAS 12% · 28 PADRES</a:t>
            </a:r>
          </a:p>
        </p:txBody>
      </p:sp>
      <p:pic>
        <p:nvPicPr>
          <p:cNvPr id="7" name="Picture 6" descr="survey_barriers.png"/>
          <p:cNvPicPr>
            <a:picLocks noChangeAspect="1"/>
          </p:cNvPicPr>
          <p:nvPr/>
        </p:nvPicPr>
        <p:blipFill>
          <a:blip r:embed="rId2"/>
          <a:stretch>
            <a:fillRect/>
          </a:stretch>
        </p:blipFill>
        <p:spPr>
          <a:xfrm>
            <a:off x="457200" y="1691640"/>
            <a:ext cx="6400800" cy="3200400"/>
          </a:xfrm>
          <a:prstGeom prst="rect">
            <a:avLst/>
          </a:prstGeom>
        </p:spPr>
      </p:pic>
      <p:pic>
        <p:nvPicPr>
          <p:cNvPr id="8" name="Picture 7" descr="survey_solutions.png"/>
          <p:cNvPicPr>
            <a:picLocks noChangeAspect="1"/>
          </p:cNvPicPr>
          <p:nvPr/>
        </p:nvPicPr>
        <p:blipFill>
          <a:blip r:embed="rId3"/>
          <a:stretch>
            <a:fillRect/>
          </a:stretch>
        </p:blipFill>
        <p:spPr>
          <a:xfrm>
            <a:off x="7040880" y="1691640"/>
            <a:ext cx="4937760" cy="3200400"/>
          </a:xfrm>
          <a:prstGeom prst="rect">
            <a:avLst/>
          </a:prstGeom>
        </p:spPr>
      </p:pic>
      <p:sp>
        <p:nvSpPr>
          <p:cNvPr id="9" name="Rectangle 8"/>
          <p:cNvSpPr/>
          <p:nvPr/>
        </p:nvSpPr>
        <p:spPr>
          <a:xfrm>
            <a:off x="548640" y="5029200"/>
            <a:ext cx="2743200" cy="10972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102352"/>
            <a:ext cx="2468880" cy="502920"/>
          </a:xfrm>
          <a:prstGeom prst="rect">
            <a:avLst/>
          </a:prstGeom>
          <a:noFill/>
        </p:spPr>
        <p:txBody>
          <a:bodyPr wrap="square">
            <a:spAutoFit/>
          </a:bodyPr>
          <a:lstStyle/>
          <a:p>
            <a:pPr algn="l"/>
            <a:r>
              <a:rPr sz="2800" b="1" i="0">
                <a:solidFill>
                  <a:srgbClr val="B8332A"/>
                </a:solidFill>
                <a:latin typeface="Calibri"/>
              </a:rPr>
              <a:t>38</a:t>
            </a:r>
          </a:p>
        </p:txBody>
      </p:sp>
      <p:sp>
        <p:nvSpPr>
          <p:cNvPr id="11" name="TextBox 10"/>
          <p:cNvSpPr txBox="1"/>
          <p:nvPr/>
        </p:nvSpPr>
        <p:spPr>
          <a:xfrm>
            <a:off x="685800" y="5577840"/>
            <a:ext cx="2468880" cy="457200"/>
          </a:xfrm>
          <a:prstGeom prst="rect">
            <a:avLst/>
          </a:prstGeom>
          <a:noFill/>
        </p:spPr>
        <p:txBody>
          <a:bodyPr wrap="square">
            <a:spAutoFit/>
          </a:bodyPr>
          <a:lstStyle/>
          <a:p>
            <a:pPr algn="l"/>
            <a:r>
              <a:rPr sz="1000" b="0" i="0">
                <a:solidFill>
                  <a:srgbClr val="C8BEB0"/>
                </a:solidFill>
                <a:latin typeface="Calibri"/>
              </a:rPr>
              <a:t>dicen 'no tengo tiempo
por el trabajo' — barrera #1</a:t>
            </a:r>
          </a:p>
        </p:txBody>
      </p:sp>
      <p:sp>
        <p:nvSpPr>
          <p:cNvPr id="12" name="Rectangle 11"/>
          <p:cNvSpPr/>
          <p:nvPr/>
        </p:nvSpPr>
        <p:spPr>
          <a:xfrm>
            <a:off x="3429000" y="5029200"/>
            <a:ext cx="2743200" cy="10972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5102352"/>
            <a:ext cx="2468880" cy="502920"/>
          </a:xfrm>
          <a:prstGeom prst="rect">
            <a:avLst/>
          </a:prstGeom>
          <a:noFill/>
        </p:spPr>
        <p:txBody>
          <a:bodyPr wrap="square">
            <a:spAutoFit/>
          </a:bodyPr>
          <a:lstStyle/>
          <a:p>
            <a:pPr algn="l"/>
            <a:r>
              <a:rPr sz="2800" b="1" i="0">
                <a:solidFill>
                  <a:srgbClr val="B8862A"/>
                </a:solidFill>
                <a:latin typeface="Calibri"/>
              </a:rPr>
              <a:t>79%</a:t>
            </a:r>
          </a:p>
        </p:txBody>
      </p:sp>
      <p:sp>
        <p:nvSpPr>
          <p:cNvPr id="14" name="TextBox 13"/>
          <p:cNvSpPr txBox="1"/>
          <p:nvPr/>
        </p:nvSpPr>
        <p:spPr>
          <a:xfrm>
            <a:off x="3566160" y="5577840"/>
            <a:ext cx="2468880" cy="457200"/>
          </a:xfrm>
          <a:prstGeom prst="rect">
            <a:avLst/>
          </a:prstGeom>
          <a:noFill/>
        </p:spPr>
        <p:txBody>
          <a:bodyPr wrap="square">
            <a:spAutoFit/>
          </a:bodyPr>
          <a:lstStyle/>
          <a:p>
            <a:pPr algn="l"/>
            <a:r>
              <a:rPr sz="1000" b="0" i="0">
                <a:solidFill>
                  <a:srgbClr val="C8BEB0"/>
                </a:solidFill>
                <a:latin typeface="Calibri"/>
              </a:rPr>
              <a:t>padres preocupados
(muy + algo)</a:t>
            </a:r>
          </a:p>
        </p:txBody>
      </p:sp>
      <p:sp>
        <p:nvSpPr>
          <p:cNvPr id="15" name="Rectangle 14"/>
          <p:cNvSpPr/>
          <p:nvPr/>
        </p:nvSpPr>
        <p:spPr>
          <a:xfrm>
            <a:off x="6309359" y="5029200"/>
            <a:ext cx="2743200" cy="10972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5102352"/>
            <a:ext cx="2468880" cy="502920"/>
          </a:xfrm>
          <a:prstGeom prst="rect">
            <a:avLst/>
          </a:prstGeom>
          <a:noFill/>
        </p:spPr>
        <p:txBody>
          <a:bodyPr wrap="square">
            <a:spAutoFit/>
          </a:bodyPr>
          <a:lstStyle/>
          <a:p>
            <a:pPr algn="l"/>
            <a:r>
              <a:rPr sz="2800" b="1" i="0">
                <a:solidFill>
                  <a:srgbClr val="B8862A"/>
                </a:solidFill>
                <a:latin typeface="Calibri"/>
              </a:rPr>
              <a:t>80/98</a:t>
            </a:r>
          </a:p>
        </p:txBody>
      </p:sp>
      <p:sp>
        <p:nvSpPr>
          <p:cNvPr id="17" name="TextBox 16"/>
          <p:cNvSpPr txBox="1"/>
          <p:nvPr/>
        </p:nvSpPr>
        <p:spPr>
          <a:xfrm>
            <a:off x="6446520" y="5577840"/>
            <a:ext cx="2468880" cy="457200"/>
          </a:xfrm>
          <a:prstGeom prst="rect">
            <a:avLst/>
          </a:prstGeom>
          <a:noFill/>
        </p:spPr>
        <p:txBody>
          <a:bodyPr wrap="square">
            <a:spAutoFit/>
          </a:bodyPr>
          <a:lstStyle/>
          <a:p>
            <a:pPr algn="l"/>
            <a:r>
              <a:rPr sz="1000" b="0" i="0">
                <a:solidFill>
                  <a:srgbClr val="C8BEB0"/>
                </a:solidFill>
                <a:latin typeface="Calibri"/>
              </a:rPr>
              <a:t>cambiarían hábitos
con más tiempo</a:t>
            </a:r>
          </a:p>
        </p:txBody>
      </p:sp>
      <p:sp>
        <p:nvSpPr>
          <p:cNvPr id="18" name="Rectangle 17"/>
          <p:cNvSpPr/>
          <p:nvPr/>
        </p:nvSpPr>
        <p:spPr>
          <a:xfrm>
            <a:off x="9189719" y="5029200"/>
            <a:ext cx="2743200" cy="10972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5102352"/>
            <a:ext cx="2468880" cy="502920"/>
          </a:xfrm>
          <a:prstGeom prst="rect">
            <a:avLst/>
          </a:prstGeom>
          <a:noFill/>
        </p:spPr>
        <p:txBody>
          <a:bodyPr wrap="square">
            <a:spAutoFit/>
          </a:bodyPr>
          <a:lstStyle/>
          <a:p>
            <a:pPr algn="l"/>
            <a:r>
              <a:rPr sz="2800" b="1" i="0">
                <a:solidFill>
                  <a:srgbClr val="B8332A"/>
                </a:solidFill>
                <a:latin typeface="Calibri"/>
              </a:rPr>
              <a:t>27</a:t>
            </a:r>
          </a:p>
        </p:txBody>
      </p:sp>
      <p:sp>
        <p:nvSpPr>
          <p:cNvPr id="20" name="TextBox 19"/>
          <p:cNvSpPr txBox="1"/>
          <p:nvPr/>
        </p:nvSpPr>
        <p:spPr>
          <a:xfrm>
            <a:off x="9326880" y="5577840"/>
            <a:ext cx="2468880" cy="457200"/>
          </a:xfrm>
          <a:prstGeom prst="rect">
            <a:avLst/>
          </a:prstGeom>
          <a:noFill/>
        </p:spPr>
        <p:txBody>
          <a:bodyPr wrap="square">
            <a:spAutoFit/>
          </a:bodyPr>
          <a:lstStyle/>
          <a:p>
            <a:pPr algn="l"/>
            <a:r>
              <a:rPr sz="1000" b="0" i="0">
                <a:solidFill>
                  <a:srgbClr val="C8BEB0"/>
                </a:solidFill>
                <a:latin typeface="Calibri"/>
              </a:rPr>
              <a:t>piden ed. nutricional
entre sus soluciones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EL MOMENTO DE CLARIDAD</a:t>
            </a:r>
          </a:p>
        </p:txBody>
      </p:sp>
      <p:sp>
        <p:nvSpPr>
          <p:cNvPr id="4" name="TextBox 3"/>
          <p:cNvSpPr txBox="1"/>
          <p:nvPr/>
        </p:nvSpPr>
        <p:spPr>
          <a:xfrm>
            <a:off x="1097280" y="1463040"/>
            <a:ext cx="10058400" cy="640080"/>
          </a:xfrm>
          <a:prstGeom prst="rect">
            <a:avLst/>
          </a:prstGeom>
          <a:noFill/>
        </p:spPr>
        <p:txBody>
          <a:bodyPr wrap="square">
            <a:spAutoFit/>
          </a:bodyPr>
          <a:lstStyle/>
          <a:p>
            <a:pPr algn="l"/>
            <a:r>
              <a:rPr sz="4200" b="1" i="1">
                <a:solidFill>
                  <a:srgbClr val="B8332A"/>
                </a:solidFill>
                <a:latin typeface="Calibri"/>
              </a:rPr>
              <a:t>"No tengo tiempo debido al trabajo."</a:t>
            </a:r>
          </a:p>
        </p:txBody>
      </p:sp>
      <p:sp>
        <p:nvSpPr>
          <p:cNvPr id="5" name="TextBox 4"/>
          <p:cNvSpPr txBox="1"/>
          <p:nvPr/>
        </p:nvSpPr>
        <p:spPr>
          <a:xfrm>
            <a:off x="1097280" y="2331720"/>
            <a:ext cx="10058400" cy="365760"/>
          </a:xfrm>
          <a:prstGeom prst="rect">
            <a:avLst/>
          </a:prstGeom>
          <a:noFill/>
        </p:spPr>
        <p:txBody>
          <a:bodyPr wrap="square">
            <a:spAutoFit/>
          </a:bodyPr>
          <a:lstStyle/>
          <a:p>
            <a:pPr algn="l"/>
            <a:r>
              <a:rPr sz="1300" b="0" i="1">
                <a:solidFill>
                  <a:srgbClr val="C8BEB0"/>
                </a:solidFill>
                <a:latin typeface="Calibri"/>
              </a:rPr>
              <a:t>— respuesta #1 · 38 de 98 personas · San Luis Potosí · Dic 2025</a:t>
            </a:r>
          </a:p>
        </p:txBody>
      </p:sp>
      <p:sp>
        <p:nvSpPr>
          <p:cNvPr id="6" name="Rectangle 5"/>
          <p:cNvSpPr/>
          <p:nvPr/>
        </p:nvSpPr>
        <p:spPr>
          <a:xfrm>
            <a:off x="1097280" y="2926080"/>
            <a:ext cx="9966960" cy="18288"/>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3200400"/>
            <a:ext cx="9966960" cy="8686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291840"/>
            <a:ext cx="9692640" cy="685800"/>
          </a:xfrm>
          <a:prstGeom prst="rect">
            <a:avLst/>
          </a:prstGeom>
          <a:noFill/>
        </p:spPr>
        <p:txBody>
          <a:bodyPr wrap="square">
            <a:spAutoFit/>
          </a:bodyPr>
          <a:lstStyle/>
          <a:p>
            <a:pPr algn="l"/>
            <a:r>
              <a:rPr sz="3000" b="1" i="0">
                <a:solidFill>
                  <a:srgbClr val="FDF8F1"/>
                </a:solidFill>
                <a:latin typeface="Calibri"/>
              </a:rPr>
              <a:t>La población no necesita permiso. Necesita herramientas.</a:t>
            </a:r>
          </a:p>
        </p:txBody>
      </p:sp>
      <p:sp>
        <p:nvSpPr>
          <p:cNvPr id="9" name="TextBox 8"/>
          <p:cNvSpPr txBox="1"/>
          <p:nvPr/>
        </p:nvSpPr>
        <p:spPr>
          <a:xfrm>
            <a:off x="1097280" y="4251960"/>
            <a:ext cx="10058400" cy="1188720"/>
          </a:xfrm>
          <a:prstGeom prst="rect">
            <a:avLst/>
          </a:prstGeom>
          <a:noFill/>
        </p:spPr>
        <p:txBody>
          <a:bodyPr wrap="square">
            <a:spAutoFit/>
          </a:bodyPr>
          <a:lstStyle/>
          <a:p>
            <a:pPr algn="l"/>
            <a:r>
              <a:rPr sz="1600" b="0" i="0">
                <a:solidFill>
                  <a:srgbClr val="C8BEB0"/>
                </a:solidFill>
                <a:latin typeface="Calibri"/>
              </a:rPr>
              <a:t>Si el tiempo es estructural — si las familias no pueden cocinar distinto porque trabajan más
de lo que el día permite — entonces el cambio no llega por regular las tienditas.
Llega por equipar a los adolescentes de mañana dentro del sistema que ya existe.</a:t>
            </a:r>
          </a:p>
        </p:txBody>
      </p:sp>
      <p:sp>
        <p:nvSpPr>
          <p:cNvPr id="10" name="TextBox 9"/>
          <p:cNvSpPr txBox="1"/>
          <p:nvPr/>
        </p:nvSpPr>
        <p:spPr>
          <a:xfrm>
            <a:off x="1097280" y="5577840"/>
            <a:ext cx="10058400" cy="457200"/>
          </a:xfrm>
          <a:prstGeom prst="rect">
            <a:avLst/>
          </a:prstGeom>
          <a:noFill/>
        </p:spPr>
        <p:txBody>
          <a:bodyPr wrap="square">
            <a:spAutoFit/>
          </a:bodyPr>
          <a:lstStyle/>
          <a:p>
            <a:pPr algn="l"/>
            <a:r>
              <a:rPr sz="1100" b="0" i="0">
                <a:solidFill>
                  <a:srgbClr val="B8862A"/>
                </a:solidFill>
                <a:latin typeface="Consolas"/>
              </a:rPr>
              <a:t>REGRESIÓN: el predictor más modificable es la actividad física (r = −0.911)
ENCUESTA: la población misma pide educación nutricional  →  La intervención ya estaba en los datos.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06  ·  FASE 4 — LA INTERVENCIÓN</a:t>
            </a:r>
          </a:p>
        </p:txBody>
      </p:sp>
      <p:sp>
        <p:nvSpPr>
          <p:cNvPr id="4" name="TextBox 3"/>
          <p:cNvSpPr txBox="1"/>
          <p:nvPr/>
        </p:nvSpPr>
        <p:spPr>
          <a:xfrm>
            <a:off x="548640" y="658368"/>
            <a:ext cx="10972800" cy="411480"/>
          </a:xfrm>
          <a:prstGeom prst="rect">
            <a:avLst/>
          </a:prstGeom>
          <a:noFill/>
        </p:spPr>
        <p:txBody>
          <a:bodyPr wrap="square">
            <a:spAutoFit/>
          </a:bodyPr>
          <a:lstStyle/>
          <a:p>
            <a:pPr algn="l"/>
            <a:r>
              <a:rPr sz="2600" b="1" i="0">
                <a:solidFill>
                  <a:srgbClr val="1A1612"/>
                </a:solidFill>
                <a:latin typeface="Calibri"/>
              </a:rPr>
              <a:t>Cinco componentes. Sobre lo que ya existe.</a:t>
            </a:r>
          </a:p>
        </p:txBody>
      </p:sp>
      <p:sp>
        <p:nvSpPr>
          <p:cNvPr id="5" name="TextBox 4"/>
          <p:cNvSpPr txBox="1"/>
          <p:nvPr/>
        </p:nvSpPr>
        <p:spPr>
          <a:xfrm>
            <a:off x="548640" y="1115568"/>
            <a:ext cx="10972800" cy="274320"/>
          </a:xfrm>
          <a:prstGeom prst="rect">
            <a:avLst/>
          </a:prstGeom>
          <a:noFill/>
        </p:spPr>
        <p:txBody>
          <a:bodyPr wrap="square">
            <a:spAutoFit/>
          </a:bodyPr>
          <a:lstStyle/>
          <a:p>
            <a:pPr algn="l"/>
            <a:r>
              <a:rPr sz="1100" b="0" i="0">
                <a:solidFill>
                  <a:srgbClr val="7A7368"/>
                </a:solidFill>
                <a:latin typeface="Consolas"/>
              </a:rPr>
              <a:t>Secundaria (12–15 años)  ·  Refuerzo a EF + Vida Saludable  ·  Sin reforma legislativa  ·  Sin presupuesto nuevo</a:t>
            </a:r>
          </a:p>
        </p:txBody>
      </p:sp>
      <p:sp>
        <p:nvSpPr>
          <p:cNvPr id="6" name="Rectangle 5"/>
          <p:cNvSpPr/>
          <p:nvPr/>
        </p:nvSpPr>
        <p:spPr>
          <a:xfrm>
            <a:off x="457200" y="1600200"/>
            <a:ext cx="2194560" cy="6858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64208"/>
            <a:ext cx="2194560" cy="594360"/>
          </a:xfrm>
          <a:prstGeom prst="rect">
            <a:avLst/>
          </a:prstGeom>
          <a:noFill/>
        </p:spPr>
        <p:txBody>
          <a:bodyPr wrap="square">
            <a:spAutoFit/>
          </a:bodyPr>
          <a:lstStyle/>
          <a:p>
            <a:pPr algn="ctr"/>
            <a:r>
              <a:rPr sz="3800" b="1" i="0">
                <a:solidFill>
                  <a:srgbClr val="FDF8F1"/>
                </a:solidFill>
                <a:latin typeface="Calibri"/>
              </a:rPr>
              <a:t>A</a:t>
            </a:r>
          </a:p>
        </p:txBody>
      </p:sp>
      <p:sp>
        <p:nvSpPr>
          <p:cNvPr id="8" name="Rectangle 7"/>
          <p:cNvSpPr/>
          <p:nvPr/>
        </p:nvSpPr>
        <p:spPr>
          <a:xfrm>
            <a:off x="457200" y="233172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04872"/>
            <a:ext cx="1965960" cy="640080"/>
          </a:xfrm>
          <a:prstGeom prst="rect">
            <a:avLst/>
          </a:prstGeom>
          <a:noFill/>
        </p:spPr>
        <p:txBody>
          <a:bodyPr wrap="square">
            <a:spAutoFit/>
          </a:bodyPr>
          <a:lstStyle/>
          <a:p>
            <a:pPr algn="ctr"/>
            <a:r>
              <a:rPr sz="1300" b="1" i="0">
                <a:solidFill>
                  <a:srgbClr val="B8862A"/>
                </a:solidFill>
                <a:latin typeface="Calibri"/>
              </a:rPr>
              <a:t>EF
2h → 3h</a:t>
            </a:r>
          </a:p>
        </p:txBody>
      </p:sp>
      <p:sp>
        <p:nvSpPr>
          <p:cNvPr id="10" name="TextBox 9"/>
          <p:cNvSpPr txBox="1"/>
          <p:nvPr/>
        </p:nvSpPr>
        <p:spPr>
          <a:xfrm>
            <a:off x="566928" y="3108960"/>
            <a:ext cx="1965960" cy="2194560"/>
          </a:xfrm>
          <a:prstGeom prst="rect">
            <a:avLst/>
          </a:prstGeom>
          <a:noFill/>
        </p:spPr>
        <p:txBody>
          <a:bodyPr wrap="square">
            <a:spAutoFit/>
          </a:bodyPr>
          <a:lstStyle/>
          <a:p>
            <a:pPr algn="ctr"/>
            <a:r>
              <a:rPr sz="1100" b="0" i="0">
                <a:solidFill>
                  <a:srgbClr val="FDF8F1"/>
                </a:solidFill>
                <a:latin typeface="Calibri"/>
              </a:rPr>
              <a:t>Alphabetización
aplicada:
etiquetas, snack
≤20 MXN, mapeo
del entorno</a:t>
            </a:r>
          </a:p>
        </p:txBody>
      </p:sp>
      <p:sp>
        <p:nvSpPr>
          <p:cNvPr id="11" name="Rectangle 10"/>
          <p:cNvSpPr/>
          <p:nvPr/>
        </p:nvSpPr>
        <p:spPr>
          <a:xfrm>
            <a:off x="2788920" y="1600200"/>
            <a:ext cx="2194560" cy="6858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664208"/>
            <a:ext cx="2194560" cy="594360"/>
          </a:xfrm>
          <a:prstGeom prst="rect">
            <a:avLst/>
          </a:prstGeom>
          <a:noFill/>
        </p:spPr>
        <p:txBody>
          <a:bodyPr wrap="square">
            <a:spAutoFit/>
          </a:bodyPr>
          <a:lstStyle/>
          <a:p>
            <a:pPr algn="ctr"/>
            <a:r>
              <a:rPr sz="3800" b="1" i="0">
                <a:solidFill>
                  <a:srgbClr val="FDF8F1"/>
                </a:solidFill>
                <a:latin typeface="Calibri"/>
              </a:rPr>
              <a:t>B</a:t>
            </a:r>
          </a:p>
        </p:txBody>
      </p:sp>
      <p:sp>
        <p:nvSpPr>
          <p:cNvPr id="13" name="Rectangle 12"/>
          <p:cNvSpPr/>
          <p:nvPr/>
        </p:nvSpPr>
        <p:spPr>
          <a:xfrm>
            <a:off x="2788920" y="233172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98648" y="2404872"/>
            <a:ext cx="1965960" cy="640080"/>
          </a:xfrm>
          <a:prstGeom prst="rect">
            <a:avLst/>
          </a:prstGeom>
          <a:noFill/>
        </p:spPr>
        <p:txBody>
          <a:bodyPr wrap="square">
            <a:spAutoFit/>
          </a:bodyPr>
          <a:lstStyle/>
          <a:p>
            <a:pPr algn="ctr"/>
            <a:r>
              <a:rPr sz="1300" b="1" i="0">
                <a:solidFill>
                  <a:srgbClr val="B8862A"/>
                </a:solidFill>
                <a:latin typeface="Calibri"/>
              </a:rPr>
              <a:t>Auditoría
Tienditas</a:t>
            </a:r>
          </a:p>
        </p:txBody>
      </p:sp>
      <p:sp>
        <p:nvSpPr>
          <p:cNvPr id="15" name="TextBox 14"/>
          <p:cNvSpPr txBox="1"/>
          <p:nvPr/>
        </p:nvSpPr>
        <p:spPr>
          <a:xfrm>
            <a:off x="2898648" y="3108960"/>
            <a:ext cx="1965960" cy="2194560"/>
          </a:xfrm>
          <a:prstGeom prst="rect">
            <a:avLst/>
          </a:prstGeom>
          <a:noFill/>
        </p:spPr>
        <p:txBody>
          <a:bodyPr wrap="square">
            <a:spAutoFit/>
          </a:bodyPr>
          <a:lstStyle/>
          <a:p>
            <a:pPr algn="ctr"/>
            <a:r>
              <a:rPr sz="1100" b="0" i="0">
                <a:solidFill>
                  <a:srgbClr val="FDF8F1"/>
                </a:solidFill>
                <a:latin typeface="Calibri"/>
              </a:rPr>
              <a:t>Citizen science
30 min bisemanal
Dataset nacional
geolocal.</a:t>
            </a:r>
          </a:p>
        </p:txBody>
      </p:sp>
      <p:sp>
        <p:nvSpPr>
          <p:cNvPr id="16" name="Rectangle 15"/>
          <p:cNvSpPr/>
          <p:nvPr/>
        </p:nvSpPr>
        <p:spPr>
          <a:xfrm>
            <a:off x="5120640" y="1600200"/>
            <a:ext cx="2194560" cy="6858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664208"/>
            <a:ext cx="2194560" cy="594360"/>
          </a:xfrm>
          <a:prstGeom prst="rect">
            <a:avLst/>
          </a:prstGeom>
          <a:noFill/>
        </p:spPr>
        <p:txBody>
          <a:bodyPr wrap="square">
            <a:spAutoFit/>
          </a:bodyPr>
          <a:lstStyle/>
          <a:p>
            <a:pPr algn="ctr"/>
            <a:r>
              <a:rPr sz="3800" b="1" i="0">
                <a:solidFill>
                  <a:srgbClr val="FDF8F1"/>
                </a:solidFill>
                <a:latin typeface="Calibri"/>
              </a:rPr>
              <a:t>C</a:t>
            </a:r>
          </a:p>
        </p:txBody>
      </p:sp>
      <p:sp>
        <p:nvSpPr>
          <p:cNvPr id="18" name="Rectangle 17"/>
          <p:cNvSpPr/>
          <p:nvPr/>
        </p:nvSpPr>
        <p:spPr>
          <a:xfrm>
            <a:off x="5120640" y="233172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30368" y="2404872"/>
            <a:ext cx="1965960" cy="640080"/>
          </a:xfrm>
          <a:prstGeom prst="rect">
            <a:avLst/>
          </a:prstGeom>
          <a:noFill/>
        </p:spPr>
        <p:txBody>
          <a:bodyPr wrap="square">
            <a:spAutoFit/>
          </a:bodyPr>
          <a:lstStyle/>
          <a:p>
            <a:pPr algn="ctr"/>
            <a:r>
              <a:rPr sz="1300" b="1" i="0">
                <a:solidFill>
                  <a:srgbClr val="B8862A"/>
                </a:solidFill>
                <a:latin typeface="Calibri"/>
              </a:rPr>
              <a:t>Capa
Estructural</a:t>
            </a:r>
          </a:p>
        </p:txBody>
      </p:sp>
      <p:sp>
        <p:nvSpPr>
          <p:cNvPr id="20" name="TextBox 19"/>
          <p:cNvSpPr txBox="1"/>
          <p:nvPr/>
        </p:nvSpPr>
        <p:spPr>
          <a:xfrm>
            <a:off x="5230368" y="3108960"/>
            <a:ext cx="1965960" cy="2194560"/>
          </a:xfrm>
          <a:prstGeom prst="rect">
            <a:avLst/>
          </a:prstGeom>
          <a:noFill/>
        </p:spPr>
        <p:txBody>
          <a:bodyPr wrap="square">
            <a:spAutoFit/>
          </a:bodyPr>
          <a:lstStyle/>
          <a:p>
            <a:pPr algn="ctr"/>
            <a:r>
              <a:rPr sz="1100" b="0" i="0">
                <a:solidFill>
                  <a:srgbClr val="FDF8F1"/>
                </a:solidFill>
                <a:latin typeface="Calibri"/>
              </a:rPr>
              <a:t>Nudges en
tiendas socias
Punto de
decisión</a:t>
            </a:r>
          </a:p>
        </p:txBody>
      </p:sp>
      <p:sp>
        <p:nvSpPr>
          <p:cNvPr id="21" name="Rectangle 20"/>
          <p:cNvSpPr/>
          <p:nvPr/>
        </p:nvSpPr>
        <p:spPr>
          <a:xfrm>
            <a:off x="7452359" y="1600200"/>
            <a:ext cx="2194560" cy="6858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52359" y="1664208"/>
            <a:ext cx="2194560" cy="594360"/>
          </a:xfrm>
          <a:prstGeom prst="rect">
            <a:avLst/>
          </a:prstGeom>
          <a:noFill/>
        </p:spPr>
        <p:txBody>
          <a:bodyPr wrap="square">
            <a:spAutoFit/>
          </a:bodyPr>
          <a:lstStyle/>
          <a:p>
            <a:pPr algn="ctr"/>
            <a:r>
              <a:rPr sz="3800" b="1" i="0">
                <a:solidFill>
                  <a:srgbClr val="FDF8F1"/>
                </a:solidFill>
                <a:latin typeface="Calibri"/>
              </a:rPr>
              <a:t>D</a:t>
            </a:r>
          </a:p>
        </p:txBody>
      </p:sp>
      <p:sp>
        <p:nvSpPr>
          <p:cNvPr id="23" name="Rectangle 22"/>
          <p:cNvSpPr/>
          <p:nvPr/>
        </p:nvSpPr>
        <p:spPr>
          <a:xfrm>
            <a:off x="7452359" y="233172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62087" y="2404872"/>
            <a:ext cx="1965960" cy="640080"/>
          </a:xfrm>
          <a:prstGeom prst="rect">
            <a:avLst/>
          </a:prstGeom>
          <a:noFill/>
        </p:spPr>
        <p:txBody>
          <a:bodyPr wrap="square">
            <a:spAutoFit/>
          </a:bodyPr>
          <a:lstStyle/>
          <a:p>
            <a:pPr algn="ctr"/>
            <a:r>
              <a:rPr sz="1300" b="1" i="0">
                <a:solidFill>
                  <a:srgbClr val="B8862A"/>
                </a:solidFill>
                <a:latin typeface="Calibri"/>
              </a:rPr>
              <a:t>CPD
Docente</a:t>
            </a:r>
          </a:p>
        </p:txBody>
      </p:sp>
      <p:sp>
        <p:nvSpPr>
          <p:cNvPr id="25" name="TextBox 24"/>
          <p:cNvSpPr txBox="1"/>
          <p:nvPr/>
        </p:nvSpPr>
        <p:spPr>
          <a:xfrm>
            <a:off x="7562087" y="3108960"/>
            <a:ext cx="1965960" cy="2194560"/>
          </a:xfrm>
          <a:prstGeom prst="rect">
            <a:avLst/>
          </a:prstGeom>
          <a:noFill/>
        </p:spPr>
        <p:txBody>
          <a:bodyPr wrap="square">
            <a:spAutoFit/>
          </a:bodyPr>
          <a:lstStyle/>
          <a:p>
            <a:pPr algn="ctr"/>
            <a:r>
              <a:rPr sz="1100" b="0" i="0">
                <a:solidFill>
                  <a:srgbClr val="FDF8F1"/>
                </a:solidFill>
                <a:latin typeface="Calibri"/>
              </a:rPr>
              <a:t>8h asínc.
+ 4h opcional
Autonomía
Fidelidad medida</a:t>
            </a:r>
          </a:p>
        </p:txBody>
      </p:sp>
      <p:sp>
        <p:nvSpPr>
          <p:cNvPr id="26" name="Rectangle 25"/>
          <p:cNvSpPr/>
          <p:nvPr/>
        </p:nvSpPr>
        <p:spPr>
          <a:xfrm>
            <a:off x="9784080" y="1600200"/>
            <a:ext cx="2194560" cy="6858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0" y="1664208"/>
            <a:ext cx="2194560" cy="594360"/>
          </a:xfrm>
          <a:prstGeom prst="rect">
            <a:avLst/>
          </a:prstGeom>
          <a:noFill/>
        </p:spPr>
        <p:txBody>
          <a:bodyPr wrap="square">
            <a:spAutoFit/>
          </a:bodyPr>
          <a:lstStyle/>
          <a:p>
            <a:pPr algn="ctr"/>
            <a:r>
              <a:rPr sz="3800" b="1" i="0">
                <a:solidFill>
                  <a:srgbClr val="FDF8F1"/>
                </a:solidFill>
                <a:latin typeface="Calibri"/>
              </a:rPr>
              <a:t>E</a:t>
            </a:r>
          </a:p>
        </p:txBody>
      </p:sp>
      <p:sp>
        <p:nvSpPr>
          <p:cNvPr id="28" name="Rectangle 27"/>
          <p:cNvSpPr/>
          <p:nvPr/>
        </p:nvSpPr>
        <p:spPr>
          <a:xfrm>
            <a:off x="9784080" y="233172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93807" y="2404872"/>
            <a:ext cx="1965960" cy="640080"/>
          </a:xfrm>
          <a:prstGeom prst="rect">
            <a:avLst/>
          </a:prstGeom>
          <a:noFill/>
        </p:spPr>
        <p:txBody>
          <a:bodyPr wrap="square">
            <a:spAutoFit/>
          </a:bodyPr>
          <a:lstStyle/>
          <a:p>
            <a:pPr algn="ctr"/>
            <a:r>
              <a:rPr sz="1300" b="1" i="0">
                <a:solidFill>
                  <a:srgbClr val="B8862A"/>
                </a:solidFill>
                <a:latin typeface="Calibri"/>
              </a:rPr>
              <a:t>Puente
Familiar</a:t>
            </a:r>
          </a:p>
        </p:txBody>
      </p:sp>
      <p:sp>
        <p:nvSpPr>
          <p:cNvPr id="30" name="TextBox 29"/>
          <p:cNvSpPr txBox="1"/>
          <p:nvPr/>
        </p:nvSpPr>
        <p:spPr>
          <a:xfrm>
            <a:off x="9893807" y="3108960"/>
            <a:ext cx="1965960" cy="2194560"/>
          </a:xfrm>
          <a:prstGeom prst="rect">
            <a:avLst/>
          </a:prstGeom>
          <a:noFill/>
        </p:spPr>
        <p:txBody>
          <a:bodyPr wrap="square">
            <a:spAutoFit/>
          </a:bodyPr>
          <a:lstStyle/>
          <a:p>
            <a:pPr algn="ctr"/>
            <a:r>
              <a:rPr sz="1100" b="0" i="0">
                <a:solidFill>
                  <a:srgbClr val="FDF8F1"/>
                </a:solidFill>
                <a:latin typeface="Calibri"/>
              </a:rPr>
              <a:t>Invitación
mensual
No es tarea
Respeta el tiempo</a:t>
            </a:r>
          </a:p>
        </p:txBody>
      </p:sp>
      <p:sp>
        <p:nvSpPr>
          <p:cNvPr id="31" name="Rectangle 30"/>
          <p:cNvSpPr/>
          <p:nvPr/>
        </p:nvSpPr>
        <p:spPr>
          <a:xfrm>
            <a:off x="457200" y="5669280"/>
            <a:ext cx="11338560" cy="41148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742432"/>
            <a:ext cx="10972800" cy="274320"/>
          </a:xfrm>
          <a:prstGeom prst="rect">
            <a:avLst/>
          </a:prstGeom>
          <a:noFill/>
        </p:spPr>
        <p:txBody>
          <a:bodyPr wrap="square">
            <a:spAutoFit/>
          </a:bodyPr>
          <a:lstStyle/>
          <a:p>
            <a:pPr algn="ctr"/>
            <a:r>
              <a:rPr sz="1000" b="0" i="0">
                <a:solidFill>
                  <a:srgbClr val="1A1612"/>
                </a:solidFill>
                <a:latin typeface="Calibri"/>
              </a:rPr>
              <a:t>Marco teórico: Modelo Socioecológico  ·  Teoría de Autodeterminación (SDT)  ·  Economía conductual (System 1)  ·  Revisiones Cochrane</a:t>
            </a:r>
          </a:p>
        </p:txBody>
      </p:sp>
      <p:sp>
        <p:nvSpPr>
          <p:cNvPr id="33" name="Rectangle 32"/>
          <p:cNvSpPr/>
          <p:nvPr/>
        </p:nvSpPr>
        <p:spPr>
          <a:xfrm>
            <a:off x="457200" y="6126480"/>
            <a:ext cx="11338560" cy="365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6172200"/>
            <a:ext cx="3200400" cy="274320"/>
          </a:xfrm>
          <a:prstGeom prst="rect">
            <a:avLst/>
          </a:prstGeom>
          <a:noFill/>
        </p:spPr>
        <p:txBody>
          <a:bodyPr wrap="square">
            <a:spAutoFit/>
          </a:bodyPr>
          <a:lstStyle/>
          <a:p>
            <a:pPr algn="l"/>
            <a:r>
              <a:rPr sz="1100" b="0" i="0">
                <a:solidFill>
                  <a:srgbClr val="B8862A"/>
                </a:solidFill>
                <a:latin typeface="Consolas"/>
              </a:rPr>
              <a:t>MXN 12,000/escuela/año</a:t>
            </a:r>
          </a:p>
        </p:txBody>
      </p:sp>
      <p:sp>
        <p:nvSpPr>
          <p:cNvPr id="35" name="TextBox 34"/>
          <p:cNvSpPr txBox="1"/>
          <p:nvPr/>
        </p:nvSpPr>
        <p:spPr>
          <a:xfrm>
            <a:off x="4114800" y="6172200"/>
            <a:ext cx="3200400" cy="274320"/>
          </a:xfrm>
          <a:prstGeom prst="rect">
            <a:avLst/>
          </a:prstGeom>
          <a:noFill/>
        </p:spPr>
        <p:txBody>
          <a:bodyPr wrap="square">
            <a:spAutoFit/>
          </a:bodyPr>
          <a:lstStyle/>
          <a:p>
            <a:pPr algn="l"/>
            <a:r>
              <a:rPr sz="1100" b="0" i="0">
                <a:solidFill>
                  <a:srgbClr val="B8862A"/>
                </a:solidFill>
                <a:latin typeface="Consolas"/>
              </a:rPr>
              <a:t>MXN 420M escala nacional</a:t>
            </a:r>
          </a:p>
        </p:txBody>
      </p:sp>
      <p:sp>
        <p:nvSpPr>
          <p:cNvPr id="36" name="TextBox 35"/>
          <p:cNvSpPr txBox="1"/>
          <p:nvPr/>
        </p:nvSpPr>
        <p:spPr>
          <a:xfrm>
            <a:off x="8229600" y="6172200"/>
            <a:ext cx="3657600" cy="274320"/>
          </a:xfrm>
          <a:prstGeom prst="rect">
            <a:avLst/>
          </a:prstGeom>
          <a:noFill/>
        </p:spPr>
        <p:txBody>
          <a:bodyPr wrap="square">
            <a:spAutoFit/>
          </a:bodyPr>
          <a:lstStyle/>
          <a:p>
            <a:pPr algn="l"/>
            <a:r>
              <a:rPr sz="1100" b="0" i="0">
                <a:solidFill>
                  <a:srgbClr val="B8332A"/>
                </a:solidFill>
                <a:latin typeface="Consolas"/>
              </a:rPr>
              <a:t>&lt; 0.1% presupuesto SEP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07  ·  FASE 5 — MONTE CARLO  ·  5,000 CORRIDAS  ·  5 ESCENARIOS</a:t>
            </a:r>
          </a:p>
        </p:txBody>
      </p:sp>
      <p:sp>
        <p:nvSpPr>
          <p:cNvPr id="4" name="TextBox 3"/>
          <p:cNvSpPr txBox="1"/>
          <p:nvPr/>
        </p:nvSpPr>
        <p:spPr>
          <a:xfrm>
            <a:off x="548640" y="658368"/>
            <a:ext cx="10972800" cy="411480"/>
          </a:xfrm>
          <a:prstGeom prst="rect">
            <a:avLst/>
          </a:prstGeom>
          <a:noFill/>
        </p:spPr>
        <p:txBody>
          <a:bodyPr wrap="square">
            <a:spAutoFit/>
          </a:bodyPr>
          <a:lstStyle/>
          <a:p>
            <a:pPr algn="l"/>
            <a:r>
              <a:rPr sz="2600" b="1" i="0">
                <a:solidFill>
                  <a:srgbClr val="1A1612"/>
                </a:solidFill>
                <a:latin typeface="Calibri"/>
              </a:rPr>
              <a:t>5,000 corridas. Honestidad sobre la incertidumbre.</a:t>
            </a:r>
          </a:p>
        </p:txBody>
      </p:sp>
      <p:sp>
        <p:nvSpPr>
          <p:cNvPr id="5" name="Rectangle 4"/>
          <p:cNvSpPr/>
          <p:nvPr/>
        </p:nvSpPr>
        <p:spPr>
          <a:xfrm>
            <a:off x="457200" y="1417320"/>
            <a:ext cx="2194560" cy="347472"/>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63040"/>
            <a:ext cx="2194560" cy="310896"/>
          </a:xfrm>
          <a:prstGeom prst="rect">
            <a:avLst/>
          </a:prstGeom>
          <a:noFill/>
        </p:spPr>
        <p:txBody>
          <a:bodyPr wrap="square">
            <a:spAutoFit/>
          </a:bodyPr>
          <a:lstStyle/>
          <a:p>
            <a:pPr algn="ctr"/>
            <a:r>
              <a:rPr sz="900" b="1" i="0">
                <a:solidFill>
                  <a:srgbClr val="1A1612"/>
                </a:solidFill>
                <a:latin typeface="Consolas"/>
              </a:rPr>
              <a:t>OPTIMISTA</a:t>
            </a:r>
          </a:p>
        </p:txBody>
      </p:sp>
      <p:sp>
        <p:nvSpPr>
          <p:cNvPr id="7" name="Rectangle 6"/>
          <p:cNvSpPr/>
          <p:nvPr/>
        </p:nvSpPr>
        <p:spPr>
          <a:xfrm>
            <a:off x="457200" y="1810512"/>
            <a:ext cx="2194560" cy="1371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011680" cy="822960"/>
          </a:xfrm>
          <a:prstGeom prst="rect">
            <a:avLst/>
          </a:prstGeom>
          <a:noFill/>
        </p:spPr>
        <p:txBody>
          <a:bodyPr wrap="square">
            <a:spAutoFit/>
          </a:bodyPr>
          <a:lstStyle/>
          <a:p>
            <a:pPr algn="ctr"/>
            <a:r>
              <a:rPr sz="2400" b="1" i="0">
                <a:solidFill>
                  <a:srgbClr val="B8332A"/>
                </a:solidFill>
                <a:latin typeface="Calibri"/>
              </a:rPr>
              <a:t>−0.95 kg/m²</a:t>
            </a:r>
          </a:p>
        </p:txBody>
      </p:sp>
      <p:sp>
        <p:nvSpPr>
          <p:cNvPr id="9" name="TextBox 8"/>
          <p:cNvSpPr txBox="1"/>
          <p:nvPr/>
        </p:nvSpPr>
        <p:spPr>
          <a:xfrm>
            <a:off x="548640" y="2788920"/>
            <a:ext cx="2011680" cy="320040"/>
          </a:xfrm>
          <a:prstGeom prst="rect">
            <a:avLst/>
          </a:prstGeom>
          <a:noFill/>
        </p:spPr>
        <p:txBody>
          <a:bodyPr wrap="square">
            <a:spAutoFit/>
          </a:bodyPr>
          <a:lstStyle/>
          <a:p>
            <a:pPr algn="ctr"/>
            <a:r>
              <a:rPr sz="1000" b="0" i="0">
                <a:solidFill>
                  <a:srgbClr val="C8BEB0"/>
                </a:solidFill>
                <a:latin typeface="Calibri"/>
              </a:rPr>
              <a:t>Cota superior
IC 95%</a:t>
            </a:r>
          </a:p>
        </p:txBody>
      </p:sp>
      <p:sp>
        <p:nvSpPr>
          <p:cNvPr id="10" name="Rectangle 9"/>
          <p:cNvSpPr/>
          <p:nvPr/>
        </p:nvSpPr>
        <p:spPr>
          <a:xfrm>
            <a:off x="2788920" y="1417320"/>
            <a:ext cx="2194560" cy="347472"/>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1463040"/>
            <a:ext cx="2194560" cy="310896"/>
          </a:xfrm>
          <a:prstGeom prst="rect">
            <a:avLst/>
          </a:prstGeom>
          <a:noFill/>
        </p:spPr>
        <p:txBody>
          <a:bodyPr wrap="square">
            <a:spAutoFit/>
          </a:bodyPr>
          <a:lstStyle/>
          <a:p>
            <a:pPr algn="ctr"/>
            <a:r>
              <a:rPr sz="900" b="1" i="0">
                <a:solidFill>
                  <a:srgbClr val="FDF8F1"/>
                </a:solidFill>
                <a:latin typeface="Consolas"/>
              </a:rPr>
              <a:t>CENTRAL</a:t>
            </a:r>
          </a:p>
        </p:txBody>
      </p:sp>
      <p:sp>
        <p:nvSpPr>
          <p:cNvPr id="12" name="Rectangle 11"/>
          <p:cNvSpPr/>
          <p:nvPr/>
        </p:nvSpPr>
        <p:spPr>
          <a:xfrm>
            <a:off x="2788920" y="1810512"/>
            <a:ext cx="2194560" cy="1371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80360" y="1920240"/>
            <a:ext cx="2011680" cy="822960"/>
          </a:xfrm>
          <a:prstGeom prst="rect">
            <a:avLst/>
          </a:prstGeom>
          <a:noFill/>
        </p:spPr>
        <p:txBody>
          <a:bodyPr wrap="square">
            <a:spAutoFit/>
          </a:bodyPr>
          <a:lstStyle/>
          <a:p>
            <a:pPr algn="ctr"/>
            <a:r>
              <a:rPr sz="2400" b="1" i="0">
                <a:solidFill>
                  <a:srgbClr val="B8332A"/>
                </a:solidFill>
                <a:latin typeface="Calibri"/>
              </a:rPr>
              <a:t>−0.68 kg/m²</a:t>
            </a:r>
          </a:p>
        </p:txBody>
      </p:sp>
      <p:sp>
        <p:nvSpPr>
          <p:cNvPr id="14" name="TextBox 13"/>
          <p:cNvSpPr txBox="1"/>
          <p:nvPr/>
        </p:nvSpPr>
        <p:spPr>
          <a:xfrm>
            <a:off x="2880360" y="2788920"/>
            <a:ext cx="2011680" cy="320040"/>
          </a:xfrm>
          <a:prstGeom prst="rect">
            <a:avLst/>
          </a:prstGeom>
          <a:noFill/>
        </p:spPr>
        <p:txBody>
          <a:bodyPr wrap="square">
            <a:spAutoFit/>
          </a:bodyPr>
          <a:lstStyle/>
          <a:p>
            <a:pPr algn="ctr"/>
            <a:r>
              <a:rPr sz="1000" b="0" i="0">
                <a:solidFill>
                  <a:srgbClr val="C8BEB0"/>
                </a:solidFill>
                <a:latin typeface="Calibri"/>
              </a:rPr>
              <a:t>Estimaciones
punto publicadas</a:t>
            </a:r>
          </a:p>
        </p:txBody>
      </p:sp>
      <p:sp>
        <p:nvSpPr>
          <p:cNvPr id="15" name="Rectangle 14"/>
          <p:cNvSpPr/>
          <p:nvPr/>
        </p:nvSpPr>
        <p:spPr>
          <a:xfrm>
            <a:off x="5120640" y="1417320"/>
            <a:ext cx="2194560" cy="347472"/>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1463040"/>
            <a:ext cx="2194560" cy="310896"/>
          </a:xfrm>
          <a:prstGeom prst="rect">
            <a:avLst/>
          </a:prstGeom>
          <a:noFill/>
        </p:spPr>
        <p:txBody>
          <a:bodyPr wrap="square">
            <a:spAutoFit/>
          </a:bodyPr>
          <a:lstStyle/>
          <a:p>
            <a:pPr algn="ctr"/>
            <a:r>
              <a:rPr sz="900" b="1" i="0">
                <a:solidFill>
                  <a:srgbClr val="FDF8F1"/>
                </a:solidFill>
                <a:latin typeface="Consolas"/>
              </a:rPr>
              <a:t>CONSERVADOR</a:t>
            </a:r>
          </a:p>
        </p:txBody>
      </p:sp>
      <p:sp>
        <p:nvSpPr>
          <p:cNvPr id="17" name="Rectangle 16"/>
          <p:cNvSpPr/>
          <p:nvPr/>
        </p:nvSpPr>
        <p:spPr>
          <a:xfrm>
            <a:off x="5120640" y="1810512"/>
            <a:ext cx="2194560" cy="1371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9" y="1920240"/>
            <a:ext cx="2011680" cy="822960"/>
          </a:xfrm>
          <a:prstGeom prst="rect">
            <a:avLst/>
          </a:prstGeom>
          <a:noFill/>
        </p:spPr>
        <p:txBody>
          <a:bodyPr wrap="square">
            <a:spAutoFit/>
          </a:bodyPr>
          <a:lstStyle/>
          <a:p>
            <a:pPr algn="ctr"/>
            <a:r>
              <a:rPr sz="2400" b="1" i="0">
                <a:solidFill>
                  <a:srgbClr val="C8BEB0"/>
                </a:solidFill>
                <a:latin typeface="Calibri"/>
              </a:rPr>
              <a:t>−0.30 kg/m²</a:t>
            </a:r>
          </a:p>
        </p:txBody>
      </p:sp>
      <p:sp>
        <p:nvSpPr>
          <p:cNvPr id="19" name="TextBox 18"/>
          <p:cNvSpPr txBox="1"/>
          <p:nvPr/>
        </p:nvSpPr>
        <p:spPr>
          <a:xfrm>
            <a:off x="5212079" y="2788920"/>
            <a:ext cx="2011680" cy="320040"/>
          </a:xfrm>
          <a:prstGeom prst="rect">
            <a:avLst/>
          </a:prstGeom>
          <a:noFill/>
        </p:spPr>
        <p:txBody>
          <a:bodyPr wrap="square">
            <a:spAutoFit/>
          </a:bodyPr>
          <a:lstStyle/>
          <a:p>
            <a:pPr algn="ctr"/>
            <a:r>
              <a:rPr sz="1000" b="0" i="0">
                <a:solidFill>
                  <a:srgbClr val="C8BEB0"/>
                </a:solidFill>
                <a:latin typeface="Calibri"/>
              </a:rPr>
              <a:t>Cota inferior
publicada</a:t>
            </a:r>
          </a:p>
        </p:txBody>
      </p:sp>
      <p:sp>
        <p:nvSpPr>
          <p:cNvPr id="20" name="Rectangle 19"/>
          <p:cNvSpPr/>
          <p:nvPr/>
        </p:nvSpPr>
        <p:spPr>
          <a:xfrm>
            <a:off x="7452359" y="1417320"/>
            <a:ext cx="2194560" cy="347472"/>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59" y="1463040"/>
            <a:ext cx="2194560" cy="310896"/>
          </a:xfrm>
          <a:prstGeom prst="rect">
            <a:avLst/>
          </a:prstGeom>
          <a:noFill/>
        </p:spPr>
        <p:txBody>
          <a:bodyPr wrap="square">
            <a:spAutoFit/>
          </a:bodyPr>
          <a:lstStyle/>
          <a:p>
            <a:pPr algn="ctr"/>
            <a:r>
              <a:rPr sz="900" b="1" i="0">
                <a:solidFill>
                  <a:srgbClr val="C8BEB0"/>
                </a:solidFill>
                <a:latin typeface="Consolas"/>
              </a:rPr>
              <a:t>NULO ★</a:t>
            </a:r>
          </a:p>
        </p:txBody>
      </p:sp>
      <p:sp>
        <p:nvSpPr>
          <p:cNvPr id="22" name="Rectangle 21"/>
          <p:cNvSpPr/>
          <p:nvPr/>
        </p:nvSpPr>
        <p:spPr>
          <a:xfrm>
            <a:off x="7452359" y="1810512"/>
            <a:ext cx="2194560" cy="137160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3799" y="1920240"/>
            <a:ext cx="2011680" cy="822960"/>
          </a:xfrm>
          <a:prstGeom prst="rect">
            <a:avLst/>
          </a:prstGeom>
          <a:noFill/>
        </p:spPr>
        <p:txBody>
          <a:bodyPr wrap="square">
            <a:spAutoFit/>
          </a:bodyPr>
          <a:lstStyle/>
          <a:p>
            <a:pPr algn="ctr"/>
            <a:r>
              <a:rPr sz="2400" b="1" i="0">
                <a:solidFill>
                  <a:srgbClr val="C8BEB0"/>
                </a:solidFill>
                <a:latin typeface="Calibri"/>
              </a:rPr>
              <a:t> 0.00 kg/m²</a:t>
            </a:r>
          </a:p>
        </p:txBody>
      </p:sp>
      <p:sp>
        <p:nvSpPr>
          <p:cNvPr id="24" name="TextBox 23"/>
          <p:cNvSpPr txBox="1"/>
          <p:nvPr/>
        </p:nvSpPr>
        <p:spPr>
          <a:xfrm>
            <a:off x="7543799" y="2788920"/>
            <a:ext cx="2011680" cy="320040"/>
          </a:xfrm>
          <a:prstGeom prst="rect">
            <a:avLst/>
          </a:prstGeom>
          <a:noFill/>
        </p:spPr>
        <p:txBody>
          <a:bodyPr wrap="square">
            <a:spAutoFit/>
          </a:bodyPr>
          <a:lstStyle/>
          <a:p>
            <a:pPr algn="ctr"/>
            <a:r>
              <a:rPr sz="1000" b="0" i="0">
                <a:solidFill>
                  <a:srgbClr val="C8BEB0"/>
                </a:solidFill>
                <a:latin typeface="Calibri"/>
              </a:rPr>
              <a:t>MA 2021
largo plazo</a:t>
            </a:r>
          </a:p>
        </p:txBody>
      </p:sp>
      <p:sp>
        <p:nvSpPr>
          <p:cNvPr id="25" name="Rectangle 24"/>
          <p:cNvSpPr/>
          <p:nvPr/>
        </p:nvSpPr>
        <p:spPr>
          <a:xfrm>
            <a:off x="9784080" y="1417320"/>
            <a:ext cx="2194560" cy="347472"/>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463040"/>
            <a:ext cx="2194560" cy="310896"/>
          </a:xfrm>
          <a:prstGeom prst="rect">
            <a:avLst/>
          </a:prstGeom>
          <a:noFill/>
        </p:spPr>
        <p:txBody>
          <a:bodyPr wrap="square">
            <a:spAutoFit/>
          </a:bodyPr>
          <a:lstStyle/>
          <a:p>
            <a:pPr algn="ctr"/>
            <a:r>
              <a:rPr sz="900" b="1" i="0">
                <a:solidFill>
                  <a:srgbClr val="7A7368"/>
                </a:solidFill>
                <a:latin typeface="Consolas"/>
              </a:rPr>
              <a:t>BASELINE</a:t>
            </a:r>
          </a:p>
        </p:txBody>
      </p:sp>
      <p:sp>
        <p:nvSpPr>
          <p:cNvPr id="27" name="Rectangle 26"/>
          <p:cNvSpPr/>
          <p:nvPr/>
        </p:nvSpPr>
        <p:spPr>
          <a:xfrm>
            <a:off x="9784080" y="1810512"/>
            <a:ext cx="2194560" cy="137160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19" y="1920240"/>
            <a:ext cx="2011680" cy="822960"/>
          </a:xfrm>
          <a:prstGeom prst="rect">
            <a:avLst/>
          </a:prstGeom>
          <a:noFill/>
        </p:spPr>
        <p:txBody>
          <a:bodyPr wrap="square">
            <a:spAutoFit/>
          </a:bodyPr>
          <a:lstStyle/>
          <a:p>
            <a:pPr algn="ctr"/>
            <a:r>
              <a:rPr sz="2400" b="1" i="0">
                <a:solidFill>
                  <a:srgbClr val="C8BEB0"/>
                </a:solidFill>
                <a:latin typeface="Calibri"/>
              </a:rPr>
              <a:t>+0.45 kg/m²</a:t>
            </a:r>
          </a:p>
        </p:txBody>
      </p:sp>
      <p:sp>
        <p:nvSpPr>
          <p:cNvPr id="29" name="TextBox 28"/>
          <p:cNvSpPr txBox="1"/>
          <p:nvPr/>
        </p:nvSpPr>
        <p:spPr>
          <a:xfrm>
            <a:off x="9875519" y="2788920"/>
            <a:ext cx="2011680" cy="320040"/>
          </a:xfrm>
          <a:prstGeom prst="rect">
            <a:avLst/>
          </a:prstGeom>
          <a:noFill/>
        </p:spPr>
        <p:txBody>
          <a:bodyPr wrap="square">
            <a:spAutoFit/>
          </a:bodyPr>
          <a:lstStyle/>
          <a:p>
            <a:pPr algn="ctr"/>
            <a:r>
              <a:rPr sz="1000" b="0" i="0">
                <a:solidFill>
                  <a:srgbClr val="C8BEB0"/>
                </a:solidFill>
                <a:latin typeface="Calibri"/>
              </a:rPr>
              <a:t>Sin intervención
crecimiento</a:t>
            </a:r>
          </a:p>
        </p:txBody>
      </p:sp>
      <p:sp>
        <p:nvSpPr>
          <p:cNvPr id="30" name="TextBox 29"/>
          <p:cNvSpPr txBox="1"/>
          <p:nvPr/>
        </p:nvSpPr>
        <p:spPr>
          <a:xfrm>
            <a:off x="548640" y="3337560"/>
            <a:ext cx="10972800" cy="256032"/>
          </a:xfrm>
          <a:prstGeom prst="rect">
            <a:avLst/>
          </a:prstGeom>
          <a:noFill/>
        </p:spPr>
        <p:txBody>
          <a:bodyPr wrap="square">
            <a:spAutoFit/>
          </a:bodyPr>
          <a:lstStyle/>
          <a:p>
            <a:pPr algn="l"/>
            <a:r>
              <a:rPr sz="900" b="0" i="0">
                <a:solidFill>
                  <a:srgbClr val="B8862A"/>
                </a:solidFill>
                <a:latin typeface="Consolas"/>
              </a:rPr>
              <a:t>PARÁMETROS DE EFECTO — DE META-ANÁLISIS PUBLICADOS</a:t>
            </a:r>
          </a:p>
        </p:txBody>
      </p:sp>
      <p:sp>
        <p:nvSpPr>
          <p:cNvPr id="31" name="Rectangle 30"/>
          <p:cNvSpPr/>
          <p:nvPr/>
        </p:nvSpPr>
        <p:spPr>
          <a:xfrm>
            <a:off x="457200" y="3639312"/>
            <a:ext cx="434340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675887"/>
            <a:ext cx="4251959" cy="237744"/>
          </a:xfrm>
          <a:prstGeom prst="rect">
            <a:avLst/>
          </a:prstGeom>
          <a:noFill/>
        </p:spPr>
        <p:txBody>
          <a:bodyPr wrap="square">
            <a:spAutoFit/>
          </a:bodyPr>
          <a:lstStyle/>
          <a:p>
            <a:pPr algn="l"/>
            <a:r>
              <a:rPr sz="900" b="1" i="0">
                <a:solidFill>
                  <a:srgbClr val="B8862A"/>
                </a:solidFill>
                <a:latin typeface="Consolas"/>
              </a:rPr>
              <a:t>Componente</a:t>
            </a:r>
          </a:p>
        </p:txBody>
      </p:sp>
      <p:sp>
        <p:nvSpPr>
          <p:cNvPr id="33" name="Rectangle 32"/>
          <p:cNvSpPr/>
          <p:nvPr/>
        </p:nvSpPr>
        <p:spPr>
          <a:xfrm>
            <a:off x="5029200" y="3639312"/>
            <a:ext cx="187452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3675887"/>
            <a:ext cx="1783080" cy="237744"/>
          </a:xfrm>
          <a:prstGeom prst="rect">
            <a:avLst/>
          </a:prstGeom>
          <a:noFill/>
        </p:spPr>
        <p:txBody>
          <a:bodyPr wrap="square">
            <a:spAutoFit/>
          </a:bodyPr>
          <a:lstStyle/>
          <a:p>
            <a:pPr algn="l"/>
            <a:r>
              <a:rPr sz="900" b="1" i="0">
                <a:solidFill>
                  <a:srgbClr val="B8862A"/>
                </a:solidFill>
                <a:latin typeface="Consolas"/>
              </a:rPr>
              <a:t>ΔIMC (kg/m²)</a:t>
            </a:r>
          </a:p>
        </p:txBody>
      </p:sp>
      <p:sp>
        <p:nvSpPr>
          <p:cNvPr id="35" name="Rectangle 34"/>
          <p:cNvSpPr/>
          <p:nvPr/>
        </p:nvSpPr>
        <p:spPr>
          <a:xfrm>
            <a:off x="7132320" y="3639312"/>
            <a:ext cx="196596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59" y="3675887"/>
            <a:ext cx="1874520" cy="237744"/>
          </a:xfrm>
          <a:prstGeom prst="rect">
            <a:avLst/>
          </a:prstGeom>
          <a:noFill/>
        </p:spPr>
        <p:txBody>
          <a:bodyPr wrap="square">
            <a:spAutoFit/>
          </a:bodyPr>
          <a:lstStyle/>
          <a:p>
            <a:pPr algn="l"/>
            <a:r>
              <a:rPr sz="900" b="1" i="0">
                <a:solidFill>
                  <a:srgbClr val="B8862A"/>
                </a:solidFill>
                <a:latin typeface="Consolas"/>
              </a:rPr>
              <a:t>IC 95%</a:t>
            </a:r>
          </a:p>
        </p:txBody>
      </p:sp>
      <p:sp>
        <p:nvSpPr>
          <p:cNvPr id="37" name="Rectangle 36"/>
          <p:cNvSpPr/>
          <p:nvPr/>
        </p:nvSpPr>
        <p:spPr>
          <a:xfrm>
            <a:off x="9326880" y="3639312"/>
            <a:ext cx="260604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19" y="3675887"/>
            <a:ext cx="2514600" cy="237744"/>
          </a:xfrm>
          <a:prstGeom prst="rect">
            <a:avLst/>
          </a:prstGeom>
          <a:noFill/>
        </p:spPr>
        <p:txBody>
          <a:bodyPr wrap="square">
            <a:spAutoFit/>
          </a:bodyPr>
          <a:lstStyle/>
          <a:p>
            <a:pPr algn="l"/>
            <a:r>
              <a:rPr sz="900" b="1" i="0">
                <a:solidFill>
                  <a:srgbClr val="B8862A"/>
                </a:solidFill>
                <a:latin typeface="Consolas"/>
              </a:rPr>
              <a:t>Fuente</a:t>
            </a:r>
          </a:p>
        </p:txBody>
      </p:sp>
      <p:sp>
        <p:nvSpPr>
          <p:cNvPr id="39" name="Rectangle 38"/>
          <p:cNvSpPr/>
          <p:nvPr/>
        </p:nvSpPr>
        <p:spPr>
          <a:xfrm>
            <a:off x="457200" y="3977639"/>
            <a:ext cx="434340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023359"/>
            <a:ext cx="4251959" cy="256032"/>
          </a:xfrm>
          <a:prstGeom prst="rect">
            <a:avLst/>
          </a:prstGeom>
          <a:noFill/>
        </p:spPr>
        <p:txBody>
          <a:bodyPr wrap="square">
            <a:spAutoFit/>
          </a:bodyPr>
          <a:lstStyle/>
          <a:p>
            <a:pPr algn="l"/>
            <a:r>
              <a:rPr sz="1000" b="0" i="0">
                <a:solidFill>
                  <a:srgbClr val="1A1612"/>
                </a:solidFill>
                <a:latin typeface="Calibri"/>
              </a:rPr>
              <a:t>Nutrición sola (Silveira 2013)</a:t>
            </a:r>
          </a:p>
        </p:txBody>
      </p:sp>
      <p:sp>
        <p:nvSpPr>
          <p:cNvPr id="41" name="Rectangle 40"/>
          <p:cNvSpPr/>
          <p:nvPr/>
        </p:nvSpPr>
        <p:spPr>
          <a:xfrm>
            <a:off x="5029200" y="3977639"/>
            <a:ext cx="187452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20640" y="4023359"/>
            <a:ext cx="1783080" cy="256032"/>
          </a:xfrm>
          <a:prstGeom prst="rect">
            <a:avLst/>
          </a:prstGeom>
          <a:noFill/>
        </p:spPr>
        <p:txBody>
          <a:bodyPr wrap="square">
            <a:spAutoFit/>
          </a:bodyPr>
          <a:lstStyle/>
          <a:p>
            <a:pPr algn="l"/>
            <a:r>
              <a:rPr sz="1000" b="0" i="0">
                <a:solidFill>
                  <a:srgbClr val="1A1612"/>
                </a:solidFill>
                <a:latin typeface="Calibri"/>
              </a:rPr>
              <a:t>−0.33</a:t>
            </a:r>
          </a:p>
        </p:txBody>
      </p:sp>
      <p:sp>
        <p:nvSpPr>
          <p:cNvPr id="43" name="Rectangle 42"/>
          <p:cNvSpPr/>
          <p:nvPr/>
        </p:nvSpPr>
        <p:spPr>
          <a:xfrm>
            <a:off x="7132320" y="3977639"/>
            <a:ext cx="196596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59" y="4023359"/>
            <a:ext cx="1874520" cy="256032"/>
          </a:xfrm>
          <a:prstGeom prst="rect">
            <a:avLst/>
          </a:prstGeom>
          <a:noFill/>
        </p:spPr>
        <p:txBody>
          <a:bodyPr wrap="square">
            <a:spAutoFit/>
          </a:bodyPr>
          <a:lstStyle/>
          <a:p>
            <a:pPr algn="l"/>
            <a:r>
              <a:rPr sz="1000" b="0" i="0">
                <a:solidFill>
                  <a:srgbClr val="1A1612"/>
                </a:solidFill>
                <a:latin typeface="Calibri"/>
              </a:rPr>
              <a:t>(−0.55, −0.11)</a:t>
            </a:r>
          </a:p>
        </p:txBody>
      </p:sp>
      <p:sp>
        <p:nvSpPr>
          <p:cNvPr id="45" name="Rectangle 44"/>
          <p:cNvSpPr/>
          <p:nvPr/>
        </p:nvSpPr>
        <p:spPr>
          <a:xfrm>
            <a:off x="9326880" y="3977639"/>
            <a:ext cx="260604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19" y="4023359"/>
            <a:ext cx="2514600" cy="256032"/>
          </a:xfrm>
          <a:prstGeom prst="rect">
            <a:avLst/>
          </a:prstGeom>
          <a:noFill/>
        </p:spPr>
        <p:txBody>
          <a:bodyPr wrap="square">
            <a:spAutoFit/>
          </a:bodyPr>
          <a:lstStyle/>
          <a:p>
            <a:pPr algn="l"/>
            <a:r>
              <a:rPr sz="1000" b="0" i="0">
                <a:solidFill>
                  <a:srgbClr val="1A1612"/>
                </a:solidFill>
                <a:latin typeface="Calibri"/>
              </a:rPr>
              <a:t>Silveira et al.</a:t>
            </a:r>
          </a:p>
        </p:txBody>
      </p:sp>
      <p:sp>
        <p:nvSpPr>
          <p:cNvPr id="47" name="Rectangle 46"/>
          <p:cNvSpPr/>
          <p:nvPr/>
        </p:nvSpPr>
        <p:spPr>
          <a:xfrm>
            <a:off x="457200" y="4325112"/>
            <a:ext cx="434340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4370831"/>
            <a:ext cx="4251959" cy="256032"/>
          </a:xfrm>
          <a:prstGeom prst="rect">
            <a:avLst/>
          </a:prstGeom>
          <a:noFill/>
        </p:spPr>
        <p:txBody>
          <a:bodyPr wrap="square">
            <a:spAutoFit/>
          </a:bodyPr>
          <a:lstStyle/>
          <a:p>
            <a:pPr algn="l"/>
            <a:r>
              <a:rPr sz="1000" b="0" i="0">
                <a:solidFill>
                  <a:srgbClr val="1A1612"/>
                </a:solidFill>
                <a:latin typeface="Calibri"/>
              </a:rPr>
              <a:t>Actividad física (Cochrane)</a:t>
            </a:r>
          </a:p>
        </p:txBody>
      </p:sp>
      <p:sp>
        <p:nvSpPr>
          <p:cNvPr id="49" name="Rectangle 48"/>
          <p:cNvSpPr/>
          <p:nvPr/>
        </p:nvSpPr>
        <p:spPr>
          <a:xfrm>
            <a:off x="5029200" y="4325112"/>
            <a:ext cx="187452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20640" y="4370831"/>
            <a:ext cx="1783080" cy="256032"/>
          </a:xfrm>
          <a:prstGeom prst="rect">
            <a:avLst/>
          </a:prstGeom>
          <a:noFill/>
        </p:spPr>
        <p:txBody>
          <a:bodyPr wrap="square">
            <a:spAutoFit/>
          </a:bodyPr>
          <a:lstStyle/>
          <a:p>
            <a:pPr algn="l"/>
            <a:r>
              <a:rPr sz="1000" b="0" i="0">
                <a:solidFill>
                  <a:srgbClr val="1A1612"/>
                </a:solidFill>
                <a:latin typeface="Calibri"/>
              </a:rPr>
              <a:t>−0.13</a:t>
            </a:r>
          </a:p>
        </p:txBody>
      </p:sp>
      <p:sp>
        <p:nvSpPr>
          <p:cNvPr id="51" name="Rectangle 50"/>
          <p:cNvSpPr/>
          <p:nvPr/>
        </p:nvSpPr>
        <p:spPr>
          <a:xfrm>
            <a:off x="7132320" y="4325112"/>
            <a:ext cx="196596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59" y="4370831"/>
            <a:ext cx="1874520" cy="256032"/>
          </a:xfrm>
          <a:prstGeom prst="rect">
            <a:avLst/>
          </a:prstGeom>
          <a:noFill/>
        </p:spPr>
        <p:txBody>
          <a:bodyPr wrap="square">
            <a:spAutoFit/>
          </a:bodyPr>
          <a:lstStyle/>
          <a:p>
            <a:pPr algn="l"/>
            <a:r>
              <a:rPr sz="1000" b="0" i="0">
                <a:solidFill>
                  <a:srgbClr val="1A1612"/>
                </a:solidFill>
                <a:latin typeface="Calibri"/>
              </a:rPr>
              <a:t>(−0.22, −0.04)</a:t>
            </a:r>
          </a:p>
        </p:txBody>
      </p:sp>
      <p:sp>
        <p:nvSpPr>
          <p:cNvPr id="53" name="Rectangle 52"/>
          <p:cNvSpPr/>
          <p:nvPr/>
        </p:nvSpPr>
        <p:spPr>
          <a:xfrm>
            <a:off x="9326880" y="4325112"/>
            <a:ext cx="260604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418319" y="4370831"/>
            <a:ext cx="2514600" cy="256032"/>
          </a:xfrm>
          <a:prstGeom prst="rect">
            <a:avLst/>
          </a:prstGeom>
          <a:noFill/>
        </p:spPr>
        <p:txBody>
          <a:bodyPr wrap="square">
            <a:spAutoFit/>
          </a:bodyPr>
          <a:lstStyle/>
          <a:p>
            <a:pPr algn="l"/>
            <a:r>
              <a:rPr sz="1000" b="0" i="0">
                <a:solidFill>
                  <a:srgbClr val="1A1612"/>
                </a:solidFill>
                <a:latin typeface="Calibri"/>
              </a:rPr>
              <a:t>Cochrane SR</a:t>
            </a:r>
          </a:p>
        </p:txBody>
      </p:sp>
      <p:sp>
        <p:nvSpPr>
          <p:cNvPr id="55" name="Rectangle 54"/>
          <p:cNvSpPr/>
          <p:nvPr/>
        </p:nvSpPr>
        <p:spPr>
          <a:xfrm>
            <a:off x="457200" y="4672583"/>
            <a:ext cx="434340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718303"/>
            <a:ext cx="4251959" cy="256032"/>
          </a:xfrm>
          <a:prstGeom prst="rect">
            <a:avLst/>
          </a:prstGeom>
          <a:noFill/>
        </p:spPr>
        <p:txBody>
          <a:bodyPr wrap="square">
            <a:spAutoFit/>
          </a:bodyPr>
          <a:lstStyle/>
          <a:p>
            <a:pPr algn="l"/>
            <a:r>
              <a:rPr sz="1000" b="0" i="0">
                <a:solidFill>
                  <a:srgbClr val="1A1612"/>
                </a:solidFill>
                <a:latin typeface="Calibri"/>
              </a:rPr>
              <a:t>AF + nutrición combinado (Cochrane)</a:t>
            </a:r>
          </a:p>
        </p:txBody>
      </p:sp>
      <p:sp>
        <p:nvSpPr>
          <p:cNvPr id="57" name="Rectangle 56"/>
          <p:cNvSpPr/>
          <p:nvPr/>
        </p:nvSpPr>
        <p:spPr>
          <a:xfrm>
            <a:off x="5029200" y="4672583"/>
            <a:ext cx="187452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20640" y="4718303"/>
            <a:ext cx="1783080" cy="256032"/>
          </a:xfrm>
          <a:prstGeom prst="rect">
            <a:avLst/>
          </a:prstGeom>
          <a:noFill/>
        </p:spPr>
        <p:txBody>
          <a:bodyPr wrap="square">
            <a:spAutoFit/>
          </a:bodyPr>
          <a:lstStyle/>
          <a:p>
            <a:pPr algn="l"/>
            <a:r>
              <a:rPr sz="1000" b="0" i="0">
                <a:solidFill>
                  <a:srgbClr val="1A1612"/>
                </a:solidFill>
                <a:latin typeface="Calibri"/>
              </a:rPr>
              <a:t>−0.17</a:t>
            </a:r>
          </a:p>
        </p:txBody>
      </p:sp>
      <p:sp>
        <p:nvSpPr>
          <p:cNvPr id="59" name="Rectangle 58"/>
          <p:cNvSpPr/>
          <p:nvPr/>
        </p:nvSpPr>
        <p:spPr>
          <a:xfrm>
            <a:off x="7132320" y="4672583"/>
            <a:ext cx="196596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59" y="4718303"/>
            <a:ext cx="1874520" cy="256032"/>
          </a:xfrm>
          <a:prstGeom prst="rect">
            <a:avLst/>
          </a:prstGeom>
          <a:noFill/>
        </p:spPr>
        <p:txBody>
          <a:bodyPr wrap="square">
            <a:spAutoFit/>
          </a:bodyPr>
          <a:lstStyle/>
          <a:p>
            <a:pPr algn="l"/>
            <a:r>
              <a:rPr sz="1000" b="0" i="0">
                <a:solidFill>
                  <a:srgbClr val="1A1612"/>
                </a:solidFill>
                <a:latin typeface="Calibri"/>
              </a:rPr>
              <a:t>(−0.29, −0.06)</a:t>
            </a:r>
          </a:p>
        </p:txBody>
      </p:sp>
      <p:sp>
        <p:nvSpPr>
          <p:cNvPr id="61" name="Rectangle 60"/>
          <p:cNvSpPr/>
          <p:nvPr/>
        </p:nvSpPr>
        <p:spPr>
          <a:xfrm>
            <a:off x="9326880" y="4672583"/>
            <a:ext cx="2606040" cy="329184"/>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418319" y="4718303"/>
            <a:ext cx="2514600" cy="256032"/>
          </a:xfrm>
          <a:prstGeom prst="rect">
            <a:avLst/>
          </a:prstGeom>
          <a:noFill/>
        </p:spPr>
        <p:txBody>
          <a:bodyPr wrap="square">
            <a:spAutoFit/>
          </a:bodyPr>
          <a:lstStyle/>
          <a:p>
            <a:pPr algn="l"/>
            <a:r>
              <a:rPr sz="1000" b="0" i="0">
                <a:solidFill>
                  <a:srgbClr val="1A1612"/>
                </a:solidFill>
                <a:latin typeface="Calibri"/>
              </a:rPr>
              <a:t>Cochrane SR</a:t>
            </a:r>
          </a:p>
        </p:txBody>
      </p:sp>
      <p:sp>
        <p:nvSpPr>
          <p:cNvPr id="63" name="Rectangle 62"/>
          <p:cNvSpPr/>
          <p:nvPr/>
        </p:nvSpPr>
        <p:spPr>
          <a:xfrm>
            <a:off x="457200" y="5020056"/>
            <a:ext cx="434340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5065776"/>
            <a:ext cx="4251959" cy="256032"/>
          </a:xfrm>
          <a:prstGeom prst="rect">
            <a:avLst/>
          </a:prstGeom>
          <a:noFill/>
        </p:spPr>
        <p:txBody>
          <a:bodyPr wrap="square">
            <a:spAutoFit/>
          </a:bodyPr>
          <a:lstStyle/>
          <a:p>
            <a:pPr algn="l"/>
            <a:r>
              <a:rPr sz="1000" b="0" i="0">
                <a:solidFill>
                  <a:srgbClr val="1A1612"/>
                </a:solidFill>
                <a:latin typeface="Calibri"/>
              </a:rPr>
              <a:t>Ed. salud adolescentes (Brown 2020)</a:t>
            </a:r>
          </a:p>
        </p:txBody>
      </p:sp>
      <p:sp>
        <p:nvSpPr>
          <p:cNvPr id="65" name="Rectangle 64"/>
          <p:cNvSpPr/>
          <p:nvPr/>
        </p:nvSpPr>
        <p:spPr>
          <a:xfrm>
            <a:off x="5029200" y="5020056"/>
            <a:ext cx="187452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065776"/>
            <a:ext cx="1783080" cy="256032"/>
          </a:xfrm>
          <a:prstGeom prst="rect">
            <a:avLst/>
          </a:prstGeom>
          <a:noFill/>
        </p:spPr>
        <p:txBody>
          <a:bodyPr wrap="square">
            <a:spAutoFit/>
          </a:bodyPr>
          <a:lstStyle/>
          <a:p>
            <a:pPr algn="l"/>
            <a:r>
              <a:rPr sz="1000" b="0" i="0">
                <a:solidFill>
                  <a:srgbClr val="1A1612"/>
                </a:solidFill>
                <a:latin typeface="Calibri"/>
              </a:rPr>
              <a:t>−0.06z</a:t>
            </a:r>
          </a:p>
        </p:txBody>
      </p:sp>
      <p:sp>
        <p:nvSpPr>
          <p:cNvPr id="67" name="Rectangle 66"/>
          <p:cNvSpPr/>
          <p:nvPr/>
        </p:nvSpPr>
        <p:spPr>
          <a:xfrm>
            <a:off x="7132320" y="5020056"/>
            <a:ext cx="196596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59" y="5065776"/>
            <a:ext cx="1874520" cy="256032"/>
          </a:xfrm>
          <a:prstGeom prst="rect">
            <a:avLst/>
          </a:prstGeom>
          <a:noFill/>
        </p:spPr>
        <p:txBody>
          <a:bodyPr wrap="square">
            <a:spAutoFit/>
          </a:bodyPr>
          <a:lstStyle/>
          <a:p>
            <a:pPr algn="l"/>
            <a:r>
              <a:rPr sz="1000" b="0" i="0">
                <a:solidFill>
                  <a:srgbClr val="1A1612"/>
                </a:solidFill>
                <a:latin typeface="Calibri"/>
              </a:rPr>
              <a:t>(−0.10, −0.03)</a:t>
            </a:r>
          </a:p>
        </p:txBody>
      </p:sp>
      <p:sp>
        <p:nvSpPr>
          <p:cNvPr id="69" name="Rectangle 68"/>
          <p:cNvSpPr/>
          <p:nvPr/>
        </p:nvSpPr>
        <p:spPr>
          <a:xfrm>
            <a:off x="9326880" y="5020056"/>
            <a:ext cx="2606040" cy="329184"/>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19" y="5065776"/>
            <a:ext cx="2514600" cy="256032"/>
          </a:xfrm>
          <a:prstGeom prst="rect">
            <a:avLst/>
          </a:prstGeom>
          <a:noFill/>
        </p:spPr>
        <p:txBody>
          <a:bodyPr wrap="square">
            <a:spAutoFit/>
          </a:bodyPr>
          <a:lstStyle/>
          <a:p>
            <a:pPr algn="l"/>
            <a:r>
              <a:rPr sz="1000" b="0" i="0">
                <a:solidFill>
                  <a:srgbClr val="1A1612"/>
                </a:solidFill>
                <a:latin typeface="Calibri"/>
              </a:rPr>
              <a:t>BMC PH 2020</a:t>
            </a:r>
          </a:p>
        </p:txBody>
      </p:sp>
      <p:sp>
        <p:nvSpPr>
          <p:cNvPr id="71" name="Rectangle 70"/>
          <p:cNvSpPr/>
          <p:nvPr/>
        </p:nvSpPr>
        <p:spPr>
          <a:xfrm>
            <a:off x="457200" y="5367527"/>
            <a:ext cx="4343400" cy="329184"/>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48640" y="5413247"/>
            <a:ext cx="4251959" cy="256032"/>
          </a:xfrm>
          <a:prstGeom prst="rect">
            <a:avLst/>
          </a:prstGeom>
          <a:noFill/>
        </p:spPr>
        <p:txBody>
          <a:bodyPr wrap="square">
            <a:spAutoFit/>
          </a:bodyPr>
          <a:lstStyle/>
          <a:p>
            <a:pPr algn="l"/>
            <a:r>
              <a:rPr sz="1000" b="0" i="0">
                <a:solidFill>
                  <a:srgbClr val="1A1612"/>
                </a:solidFill>
                <a:latin typeface="Calibri"/>
              </a:rPr>
              <a:t>Nulo largo plazo ★ (Hodder 2021)</a:t>
            </a:r>
          </a:p>
        </p:txBody>
      </p:sp>
      <p:sp>
        <p:nvSpPr>
          <p:cNvPr id="73" name="Rectangle 72"/>
          <p:cNvSpPr/>
          <p:nvPr/>
        </p:nvSpPr>
        <p:spPr>
          <a:xfrm>
            <a:off x="5029200" y="5367527"/>
            <a:ext cx="1874520" cy="329184"/>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0640" y="5413247"/>
            <a:ext cx="1783080" cy="256032"/>
          </a:xfrm>
          <a:prstGeom prst="rect">
            <a:avLst/>
          </a:prstGeom>
          <a:noFill/>
        </p:spPr>
        <p:txBody>
          <a:bodyPr wrap="square">
            <a:spAutoFit/>
          </a:bodyPr>
          <a:lstStyle/>
          <a:p>
            <a:pPr algn="l"/>
            <a:r>
              <a:rPr sz="1000" b="0" i="0">
                <a:solidFill>
                  <a:srgbClr val="B8332A"/>
                </a:solidFill>
                <a:latin typeface="Calibri"/>
              </a:rPr>
              <a:t> 0.00</a:t>
            </a:r>
          </a:p>
        </p:txBody>
      </p:sp>
      <p:sp>
        <p:nvSpPr>
          <p:cNvPr id="75" name="Rectangle 74"/>
          <p:cNvSpPr/>
          <p:nvPr/>
        </p:nvSpPr>
        <p:spPr>
          <a:xfrm>
            <a:off x="7132320" y="5367527"/>
            <a:ext cx="1965960" cy="329184"/>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23759" y="5413247"/>
            <a:ext cx="1874520" cy="256032"/>
          </a:xfrm>
          <a:prstGeom prst="rect">
            <a:avLst/>
          </a:prstGeom>
          <a:noFill/>
        </p:spPr>
        <p:txBody>
          <a:bodyPr wrap="square">
            <a:spAutoFit/>
          </a:bodyPr>
          <a:lstStyle/>
          <a:p>
            <a:pPr algn="l"/>
            <a:r>
              <a:rPr sz="1000" b="0" i="0">
                <a:solidFill>
                  <a:srgbClr val="1A1612"/>
                </a:solidFill>
                <a:latin typeface="Calibri"/>
              </a:rPr>
              <a:t>(−0.05, +0.04)</a:t>
            </a:r>
          </a:p>
        </p:txBody>
      </p:sp>
      <p:sp>
        <p:nvSpPr>
          <p:cNvPr id="77" name="Rectangle 76"/>
          <p:cNvSpPr/>
          <p:nvPr/>
        </p:nvSpPr>
        <p:spPr>
          <a:xfrm>
            <a:off x="9326880" y="5367527"/>
            <a:ext cx="2606040" cy="329184"/>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18319" y="5413247"/>
            <a:ext cx="2514600" cy="256032"/>
          </a:xfrm>
          <a:prstGeom prst="rect">
            <a:avLst/>
          </a:prstGeom>
          <a:noFill/>
        </p:spPr>
        <p:txBody>
          <a:bodyPr wrap="square">
            <a:spAutoFit/>
          </a:bodyPr>
          <a:lstStyle/>
          <a:p>
            <a:pPr algn="l"/>
            <a:r>
              <a:rPr sz="1000" b="0" i="0">
                <a:solidFill>
                  <a:srgbClr val="1A1612"/>
                </a:solidFill>
                <a:latin typeface="Calibri"/>
              </a:rPr>
              <a:t>Hodder 2021</a:t>
            </a:r>
          </a:p>
        </p:txBody>
      </p:sp>
      <p:sp>
        <p:nvSpPr>
          <p:cNvPr id="79" name="TextBox 78"/>
          <p:cNvSpPr txBox="1"/>
          <p:nvPr/>
        </p:nvSpPr>
        <p:spPr>
          <a:xfrm>
            <a:off x="457200" y="5852160"/>
            <a:ext cx="11338560" cy="320040"/>
          </a:xfrm>
          <a:prstGeom prst="rect">
            <a:avLst/>
          </a:prstGeom>
          <a:noFill/>
        </p:spPr>
        <p:txBody>
          <a:bodyPr wrap="square">
            <a:spAutoFit/>
          </a:bodyPr>
          <a:lstStyle/>
          <a:p>
            <a:pPr algn="l"/>
            <a:r>
              <a:rPr sz="1100" b="0" i="1">
                <a:solidFill>
                  <a:srgbClr val="B8332A"/>
                </a:solidFill>
                <a:latin typeface="Calibri"/>
              </a:rPr>
              <a:t>★  El escenario nulo de largo plazo se incluye explícitamente. Un resultado nulo en IMC es consistente con la literatura — y honesto es reportarlo.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#1  ·  INVESTIGACIÓN EDUCATIVA</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Dr. José Manuel Olais Govea</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Tec de Monterrey · Campus SLP  ·  INVESTIGACIÓN EDUCATIVA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#2  ·  INVESTIGACIÓN EDUCATIVA</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Dr. Leopoldo Zúñiga Silva</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Tec de Monterrey · Campus SLP  ·  INVESTIGACIÓN EDUCATIVA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#3  ·  IMPLEMENTACIÓN INSTITUCIONAL</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Director · Sec. Téc. 78</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Matehuala · San Luis Potosí  ·  IMPLEMENTACIÓN INSTITUCIONAL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#4  ·  PRÁCTICA EN AULA</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Docente de Secundaria</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Practicante de fitness  ·  PRÁCTICA EN AULA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#5  ·  VOZ ESTUDIANTIL / ED. EMERGENTE</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Estudiante de Educación</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Background físico-deportivo  ·  VOZ ESTUDIANTIL / ED. EMERGENTE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CIERRE  ·  MIT LIFTLAB NATIONAL COMPETITION 2026</a:t>
            </a:r>
          </a:p>
        </p:txBody>
      </p:sp>
      <p:sp>
        <p:nvSpPr>
          <p:cNvPr id="4" name="TextBox 3"/>
          <p:cNvSpPr txBox="1"/>
          <p:nvPr/>
        </p:nvSpPr>
        <p:spPr>
          <a:xfrm>
            <a:off x="548640" y="777240"/>
            <a:ext cx="10972800" cy="502920"/>
          </a:xfrm>
          <a:prstGeom prst="rect">
            <a:avLst/>
          </a:prstGeom>
          <a:noFill/>
        </p:spPr>
        <p:txBody>
          <a:bodyPr wrap="square">
            <a:spAutoFit/>
          </a:bodyPr>
          <a:lstStyle/>
          <a:p>
            <a:pPr algn="l"/>
            <a:r>
              <a:rPr sz="3600" b="1" i="0">
                <a:solidFill>
                  <a:srgbClr val="1A1612"/>
                </a:solidFill>
                <a:latin typeface="Calibri"/>
              </a:rPr>
              <a:t>De los datos a las aulas.</a:t>
            </a:r>
          </a:p>
        </p:txBody>
      </p:sp>
      <p:sp>
        <p:nvSpPr>
          <p:cNvPr id="5" name="TextBox 4"/>
          <p:cNvSpPr txBox="1"/>
          <p:nvPr/>
        </p:nvSpPr>
        <p:spPr>
          <a:xfrm>
            <a:off x="548640" y="1325880"/>
            <a:ext cx="10972800" cy="411480"/>
          </a:xfrm>
          <a:prstGeom prst="rect">
            <a:avLst/>
          </a:prstGeom>
          <a:noFill/>
        </p:spPr>
        <p:txBody>
          <a:bodyPr wrap="square">
            <a:spAutoFit/>
          </a:bodyPr>
          <a:lstStyle/>
          <a:p>
            <a:pPr algn="l"/>
            <a:r>
              <a:rPr sz="1800" b="0" i="1">
                <a:solidFill>
                  <a:srgbClr val="B8332A"/>
                </a:solidFill>
                <a:latin typeface="Calibri"/>
              </a:rPr>
              <a:t>Una propuesta basada en evidencia para la salud infantil en México.</a:t>
            </a:r>
          </a:p>
        </p:txBody>
      </p:sp>
      <p:sp>
        <p:nvSpPr>
          <p:cNvPr id="6" name="Rectangle 5"/>
          <p:cNvSpPr/>
          <p:nvPr/>
        </p:nvSpPr>
        <p:spPr>
          <a:xfrm>
            <a:off x="548640" y="2103120"/>
            <a:ext cx="3566160" cy="50292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76272"/>
            <a:ext cx="3566160" cy="411480"/>
          </a:xfrm>
          <a:prstGeom prst="rect">
            <a:avLst/>
          </a:prstGeom>
          <a:noFill/>
        </p:spPr>
        <p:txBody>
          <a:bodyPr wrap="square">
            <a:spAutoFit/>
          </a:bodyPr>
          <a:lstStyle/>
          <a:p>
            <a:pPr algn="ctr"/>
            <a:r>
              <a:rPr sz="2000" b="1" i="0">
                <a:solidFill>
                  <a:srgbClr val="FDF8F1"/>
                </a:solidFill>
                <a:latin typeface="Calibri"/>
              </a:rPr>
              <a:t>Fernanda Ita</a:t>
            </a:r>
          </a:p>
        </p:txBody>
      </p:sp>
      <p:sp>
        <p:nvSpPr>
          <p:cNvPr id="8" name="Rectangle 7"/>
          <p:cNvSpPr/>
          <p:nvPr/>
        </p:nvSpPr>
        <p:spPr>
          <a:xfrm>
            <a:off x="548640" y="2651760"/>
            <a:ext cx="3566160" cy="21945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724912"/>
            <a:ext cx="3246120" cy="256032"/>
          </a:xfrm>
          <a:prstGeom prst="rect">
            <a:avLst/>
          </a:prstGeom>
          <a:noFill/>
        </p:spPr>
        <p:txBody>
          <a:bodyPr wrap="square">
            <a:spAutoFit/>
          </a:bodyPr>
          <a:lstStyle/>
          <a:p>
            <a:pPr algn="l"/>
            <a:r>
              <a:rPr sz="900" b="0" i="0">
                <a:solidFill>
                  <a:srgbClr val="B8862A"/>
                </a:solidFill>
                <a:latin typeface="Consolas"/>
              </a:rPr>
              <a:t>INVESTIGACIÓN EDUCATIVA</a:t>
            </a:r>
          </a:p>
        </p:txBody>
      </p:sp>
      <p:sp>
        <p:nvSpPr>
          <p:cNvPr id="10" name="TextBox 9"/>
          <p:cNvSpPr txBox="1"/>
          <p:nvPr/>
        </p:nvSpPr>
        <p:spPr>
          <a:xfrm>
            <a:off x="713232" y="3063240"/>
            <a:ext cx="3246120" cy="1463040"/>
          </a:xfrm>
          <a:prstGeom prst="rect">
            <a:avLst/>
          </a:prstGeom>
          <a:noFill/>
        </p:spPr>
        <p:txBody>
          <a:bodyPr wrap="square">
            <a:spAutoFit/>
          </a:bodyPr>
          <a:lstStyle/>
          <a:p>
            <a:pPr algn="l"/>
            <a:r>
              <a:rPr sz="1200" b="0" i="0">
                <a:solidFill>
                  <a:srgbClr val="FDF8F1"/>
                </a:solidFill>
                <a:latin typeface="Calibri"/>
              </a:rPr>
              <a:t>Literatura sistemática
Marco curricular NEM
Codificación entrevistas</a:t>
            </a:r>
          </a:p>
        </p:txBody>
      </p:sp>
      <p:sp>
        <p:nvSpPr>
          <p:cNvPr id="11" name="Rectangle 10"/>
          <p:cNvSpPr/>
          <p:nvPr/>
        </p:nvSpPr>
        <p:spPr>
          <a:xfrm>
            <a:off x="4343400" y="2103120"/>
            <a:ext cx="3566160" cy="50292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176272"/>
            <a:ext cx="3566160" cy="411480"/>
          </a:xfrm>
          <a:prstGeom prst="rect">
            <a:avLst/>
          </a:prstGeom>
          <a:noFill/>
        </p:spPr>
        <p:txBody>
          <a:bodyPr wrap="square">
            <a:spAutoFit/>
          </a:bodyPr>
          <a:lstStyle/>
          <a:p>
            <a:pPr algn="ctr"/>
            <a:r>
              <a:rPr sz="2000" b="1" i="0">
                <a:solidFill>
                  <a:srgbClr val="FDF8F1"/>
                </a:solidFill>
                <a:latin typeface="Calibri"/>
              </a:rPr>
              <a:t>Alexis Marcos</a:t>
            </a:r>
          </a:p>
        </p:txBody>
      </p:sp>
      <p:sp>
        <p:nvSpPr>
          <p:cNvPr id="13" name="Rectangle 12"/>
          <p:cNvSpPr/>
          <p:nvPr/>
        </p:nvSpPr>
        <p:spPr>
          <a:xfrm>
            <a:off x="4343400" y="2651760"/>
            <a:ext cx="3566160" cy="21945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7992" y="2724912"/>
            <a:ext cx="3246120" cy="256032"/>
          </a:xfrm>
          <a:prstGeom prst="rect">
            <a:avLst/>
          </a:prstGeom>
          <a:noFill/>
        </p:spPr>
        <p:txBody>
          <a:bodyPr wrap="square">
            <a:spAutoFit/>
          </a:bodyPr>
          <a:lstStyle/>
          <a:p>
            <a:pPr algn="l"/>
            <a:r>
              <a:rPr sz="900" b="0" i="0">
                <a:solidFill>
                  <a:srgbClr val="B8862A"/>
                </a:solidFill>
                <a:latin typeface="Consolas"/>
              </a:rPr>
              <a:t>INVESTIGACIÓN DE CAMPO</a:t>
            </a:r>
          </a:p>
        </p:txBody>
      </p:sp>
      <p:sp>
        <p:nvSpPr>
          <p:cNvPr id="15" name="TextBox 14"/>
          <p:cNvSpPr txBox="1"/>
          <p:nvPr/>
        </p:nvSpPr>
        <p:spPr>
          <a:xfrm>
            <a:off x="4507992" y="3063240"/>
            <a:ext cx="3246120" cy="1463040"/>
          </a:xfrm>
          <a:prstGeom prst="rect">
            <a:avLst/>
          </a:prstGeom>
          <a:noFill/>
        </p:spPr>
        <p:txBody>
          <a:bodyPr wrap="square">
            <a:spAutoFit/>
          </a:bodyPr>
          <a:lstStyle/>
          <a:p>
            <a:pPr algn="l"/>
            <a:r>
              <a:rPr sz="1200" b="0" i="0">
                <a:solidFill>
                  <a:srgbClr val="FDF8F1"/>
                </a:solidFill>
                <a:latin typeface="Calibri"/>
              </a:rPr>
              <a:t>Instrumento de encuesta
Expertos y validación
Síntesis cualitativa</a:t>
            </a:r>
          </a:p>
        </p:txBody>
      </p:sp>
      <p:sp>
        <p:nvSpPr>
          <p:cNvPr id="16" name="Rectangle 15"/>
          <p:cNvSpPr/>
          <p:nvPr/>
        </p:nvSpPr>
        <p:spPr>
          <a:xfrm>
            <a:off x="8138160" y="2103120"/>
            <a:ext cx="3566160" cy="50292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2176272"/>
            <a:ext cx="3566160" cy="411480"/>
          </a:xfrm>
          <a:prstGeom prst="rect">
            <a:avLst/>
          </a:prstGeom>
          <a:noFill/>
        </p:spPr>
        <p:txBody>
          <a:bodyPr wrap="square">
            <a:spAutoFit/>
          </a:bodyPr>
          <a:lstStyle/>
          <a:p>
            <a:pPr algn="ctr"/>
            <a:r>
              <a:rPr sz="2000" b="1" i="0">
                <a:solidFill>
                  <a:srgbClr val="FDF8F1"/>
                </a:solidFill>
                <a:latin typeface="Calibri"/>
              </a:rPr>
              <a:t>Carlos Torres</a:t>
            </a:r>
          </a:p>
        </p:txBody>
      </p:sp>
      <p:sp>
        <p:nvSpPr>
          <p:cNvPr id="18" name="Rectangle 17"/>
          <p:cNvSpPr/>
          <p:nvPr/>
        </p:nvSpPr>
        <p:spPr>
          <a:xfrm>
            <a:off x="8138160" y="2651760"/>
            <a:ext cx="3566160" cy="21945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2752" y="2724912"/>
            <a:ext cx="3246120" cy="256032"/>
          </a:xfrm>
          <a:prstGeom prst="rect">
            <a:avLst/>
          </a:prstGeom>
          <a:noFill/>
        </p:spPr>
        <p:txBody>
          <a:bodyPr wrap="square">
            <a:spAutoFit/>
          </a:bodyPr>
          <a:lstStyle/>
          <a:p>
            <a:pPr algn="l"/>
            <a:r>
              <a:rPr sz="900" b="0" i="0">
                <a:solidFill>
                  <a:srgbClr val="B8862A"/>
                </a:solidFill>
                <a:latin typeface="Consolas"/>
              </a:rPr>
              <a:t>MODELADO CUANTITATIVO</a:t>
            </a:r>
          </a:p>
        </p:txBody>
      </p:sp>
      <p:sp>
        <p:nvSpPr>
          <p:cNvPr id="20" name="TextBox 19"/>
          <p:cNvSpPr txBox="1"/>
          <p:nvPr/>
        </p:nvSpPr>
        <p:spPr>
          <a:xfrm>
            <a:off x="8302752" y="3063240"/>
            <a:ext cx="3246120" cy="1463040"/>
          </a:xfrm>
          <a:prstGeom prst="rect">
            <a:avLst/>
          </a:prstGeom>
          <a:noFill/>
        </p:spPr>
        <p:txBody>
          <a:bodyPr wrap="square">
            <a:spAutoFit/>
          </a:bodyPr>
          <a:lstStyle/>
          <a:p>
            <a:pPr algn="l"/>
            <a:r>
              <a:rPr sz="1200" b="0" i="0">
                <a:solidFill>
                  <a:srgbClr val="FDF8F1"/>
                </a:solidFill>
                <a:latin typeface="Calibri"/>
              </a:rPr>
              <a:t>Regresión + Random Forest
Monte Carlo · Plataforma</a:t>
            </a:r>
          </a:p>
        </p:txBody>
      </p:sp>
      <p:sp>
        <p:nvSpPr>
          <p:cNvPr id="21" name="Rectangle 20"/>
          <p:cNvSpPr/>
          <p:nvPr/>
        </p:nvSpPr>
        <p:spPr>
          <a:xfrm>
            <a:off x="548640" y="507492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212080"/>
            <a:ext cx="2743200" cy="411480"/>
          </a:xfrm>
          <a:prstGeom prst="rect">
            <a:avLst/>
          </a:prstGeom>
          <a:noFill/>
        </p:spPr>
        <p:txBody>
          <a:bodyPr wrap="square">
            <a:spAutoFit/>
          </a:bodyPr>
          <a:lstStyle/>
          <a:p>
            <a:pPr algn="l"/>
            <a:r>
              <a:rPr sz="2000" b="1" i="0">
                <a:solidFill>
                  <a:srgbClr val="B8332A"/>
                </a:solidFill>
                <a:latin typeface="Calibri"/>
              </a:rPr>
              <a:t>R² = 0.634</a:t>
            </a:r>
          </a:p>
        </p:txBody>
      </p:sp>
      <p:sp>
        <p:nvSpPr>
          <p:cNvPr id="23" name="TextBox 22"/>
          <p:cNvSpPr txBox="1"/>
          <p:nvPr/>
        </p:nvSpPr>
        <p:spPr>
          <a:xfrm>
            <a:off x="548640" y="5623560"/>
            <a:ext cx="2743200" cy="274320"/>
          </a:xfrm>
          <a:prstGeom prst="rect">
            <a:avLst/>
          </a:prstGeom>
          <a:noFill/>
        </p:spPr>
        <p:txBody>
          <a:bodyPr wrap="square">
            <a:spAutoFit/>
          </a:bodyPr>
          <a:lstStyle/>
          <a:p>
            <a:pPr algn="l"/>
            <a:r>
              <a:rPr sz="1000" b="0" i="0">
                <a:solidFill>
                  <a:srgbClr val="7A7368"/>
                </a:solidFill>
                <a:latin typeface="Calibri"/>
              </a:rPr>
              <a:t>regresión controlada</a:t>
            </a:r>
          </a:p>
        </p:txBody>
      </p:sp>
      <p:sp>
        <p:nvSpPr>
          <p:cNvPr id="24" name="TextBox 23"/>
          <p:cNvSpPr txBox="1"/>
          <p:nvPr/>
        </p:nvSpPr>
        <p:spPr>
          <a:xfrm>
            <a:off x="3429000" y="5212080"/>
            <a:ext cx="2743200" cy="411480"/>
          </a:xfrm>
          <a:prstGeom prst="rect">
            <a:avLst/>
          </a:prstGeom>
          <a:noFill/>
        </p:spPr>
        <p:txBody>
          <a:bodyPr wrap="square">
            <a:spAutoFit/>
          </a:bodyPr>
          <a:lstStyle/>
          <a:p>
            <a:pPr algn="l"/>
            <a:r>
              <a:rPr sz="2000" b="1" i="0">
                <a:solidFill>
                  <a:srgbClr val="B8332A"/>
                </a:solidFill>
                <a:latin typeface="Calibri"/>
              </a:rPr>
              <a:t>r = −0.911</a:t>
            </a:r>
          </a:p>
        </p:txBody>
      </p:sp>
      <p:sp>
        <p:nvSpPr>
          <p:cNvPr id="25" name="TextBox 24"/>
          <p:cNvSpPr txBox="1"/>
          <p:nvPr/>
        </p:nvSpPr>
        <p:spPr>
          <a:xfrm>
            <a:off x="3429000" y="5623560"/>
            <a:ext cx="2743200" cy="274320"/>
          </a:xfrm>
          <a:prstGeom prst="rect">
            <a:avLst/>
          </a:prstGeom>
          <a:noFill/>
        </p:spPr>
        <p:txBody>
          <a:bodyPr wrap="square">
            <a:spAutoFit/>
          </a:bodyPr>
          <a:lstStyle/>
          <a:p>
            <a:pPr algn="l"/>
            <a:r>
              <a:rPr sz="1000" b="0" i="0">
                <a:solidFill>
                  <a:srgbClr val="7A7368"/>
                </a:solidFill>
                <a:latin typeface="Calibri"/>
              </a:rPr>
              <a:t>PA compliance vs obesidad</a:t>
            </a:r>
          </a:p>
        </p:txBody>
      </p:sp>
      <p:sp>
        <p:nvSpPr>
          <p:cNvPr id="26" name="TextBox 25"/>
          <p:cNvSpPr txBox="1"/>
          <p:nvPr/>
        </p:nvSpPr>
        <p:spPr>
          <a:xfrm>
            <a:off x="6309359" y="5212080"/>
            <a:ext cx="2743200" cy="411480"/>
          </a:xfrm>
          <a:prstGeom prst="rect">
            <a:avLst/>
          </a:prstGeom>
          <a:noFill/>
        </p:spPr>
        <p:txBody>
          <a:bodyPr wrap="square">
            <a:spAutoFit/>
          </a:bodyPr>
          <a:lstStyle/>
          <a:p>
            <a:pPr algn="l"/>
            <a:r>
              <a:rPr sz="2000" b="1" i="0">
                <a:solidFill>
                  <a:srgbClr val="B8332A"/>
                </a:solidFill>
                <a:latin typeface="Calibri"/>
              </a:rPr>
              <a:t>98</a:t>
            </a:r>
          </a:p>
        </p:txBody>
      </p:sp>
      <p:sp>
        <p:nvSpPr>
          <p:cNvPr id="27" name="TextBox 26"/>
          <p:cNvSpPr txBox="1"/>
          <p:nvPr/>
        </p:nvSpPr>
        <p:spPr>
          <a:xfrm>
            <a:off x="6309359" y="5623560"/>
            <a:ext cx="2743200" cy="274320"/>
          </a:xfrm>
          <a:prstGeom prst="rect">
            <a:avLst/>
          </a:prstGeom>
          <a:noFill/>
        </p:spPr>
        <p:txBody>
          <a:bodyPr wrap="square">
            <a:spAutoFit/>
          </a:bodyPr>
          <a:lstStyle/>
          <a:p>
            <a:pPr algn="l"/>
            <a:r>
              <a:rPr sz="1000" b="0" i="0">
                <a:solidFill>
                  <a:srgbClr val="7A7368"/>
                </a:solidFill>
                <a:latin typeface="Calibri"/>
              </a:rPr>
              <a:t>voces reales en SLP</a:t>
            </a:r>
          </a:p>
        </p:txBody>
      </p:sp>
      <p:sp>
        <p:nvSpPr>
          <p:cNvPr id="28" name="TextBox 27"/>
          <p:cNvSpPr txBox="1"/>
          <p:nvPr/>
        </p:nvSpPr>
        <p:spPr>
          <a:xfrm>
            <a:off x="9189719" y="5212080"/>
            <a:ext cx="2743200" cy="411480"/>
          </a:xfrm>
          <a:prstGeom prst="rect">
            <a:avLst/>
          </a:prstGeom>
          <a:noFill/>
        </p:spPr>
        <p:txBody>
          <a:bodyPr wrap="square">
            <a:spAutoFit/>
          </a:bodyPr>
          <a:lstStyle/>
          <a:p>
            <a:pPr algn="l"/>
            <a:r>
              <a:rPr sz="2000" b="1" i="0">
                <a:solidFill>
                  <a:srgbClr val="B8332A"/>
                </a:solidFill>
                <a:latin typeface="Calibri"/>
              </a:rPr>
              <a:t>5,000</a:t>
            </a:r>
          </a:p>
        </p:txBody>
      </p:sp>
      <p:sp>
        <p:nvSpPr>
          <p:cNvPr id="29" name="TextBox 28"/>
          <p:cNvSpPr txBox="1"/>
          <p:nvPr/>
        </p:nvSpPr>
        <p:spPr>
          <a:xfrm>
            <a:off x="9189719" y="5623560"/>
            <a:ext cx="2743200" cy="274320"/>
          </a:xfrm>
          <a:prstGeom prst="rect">
            <a:avLst/>
          </a:prstGeom>
          <a:noFill/>
        </p:spPr>
        <p:txBody>
          <a:bodyPr wrap="square">
            <a:spAutoFit/>
          </a:bodyPr>
          <a:lstStyle/>
          <a:p>
            <a:pPr algn="l"/>
            <a:r>
              <a:rPr sz="1000" b="0" i="0">
                <a:solidFill>
                  <a:srgbClr val="7A7368"/>
                </a:solidFill>
                <a:latin typeface="Calibri"/>
              </a:rPr>
              <a:t>corridas Monte Carlo</a:t>
            </a:r>
          </a:p>
        </p:txBody>
      </p:sp>
      <p:sp>
        <p:nvSpPr>
          <p:cNvPr id="30" name="Rectangle 29"/>
          <p:cNvSpPr/>
          <p:nvPr/>
        </p:nvSpPr>
        <p:spPr>
          <a:xfrm>
            <a:off x="548640" y="598932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53328"/>
            <a:ext cx="11338560" cy="365760"/>
          </a:xfrm>
          <a:prstGeom prst="rect">
            <a:avLst/>
          </a:prstGeom>
          <a:noFill/>
        </p:spPr>
        <p:txBody>
          <a:bodyPr wrap="square">
            <a:spAutoFit/>
          </a:bodyPr>
          <a:lstStyle/>
          <a:p>
            <a:pPr algn="ctr"/>
            <a:r>
              <a:rPr sz="1000" b="0" i="0">
                <a:solidFill>
                  <a:srgbClr val="B8862A"/>
                </a:solidFill>
                <a:latin typeface="Consolas"/>
              </a:rPr>
              <a:t>DATOS ABIERTOS  ·  CÓDIGO ABIERTO  ·  LICENCIA MIT  ·  Tec de Monterrey · Campus SLP · Ing. Mecatrónica · 4° Semestre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