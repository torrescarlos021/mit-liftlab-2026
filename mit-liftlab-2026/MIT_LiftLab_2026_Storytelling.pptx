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 — quien presente abre]</a:t>
            </a:r>
          </a:p>
          <a:p/>
          <a:p>
            <a:r>
              <a:t>Buenas tardes. Somos Fernanda, Alexis y Carlos, estudiantes de Mecatrónica de cuarto semestre del Tec Campus San Luis Potosí.</a:t>
            </a:r>
          </a:p>
          <a:p/>
          <a:p>
            <a:r>
              <a:t>Lo que les vamos a contar en los próximos minutos es la historia de cómo, durante tres semanas, intentamos contestar una pregunta incómoda sobre la salud infantil en México — y de cómo los datos nos obligaron a cambiar de pregunta a la mitad del camino.</a:t>
            </a:r>
          </a:p>
          <a:p/>
          <a:p>
            <a:r>
              <a:t>Esta presentación no es un reporte técnico. Es la historia de un equipo escuchando a los datos y a las personas, en ese orden, y luego dejándose corregir por ambos.</a:t>
            </a:r>
          </a:p>
          <a:p/>
          <a:p>
            <a:r>
              <a:t>Empieza con una voz que no es la nuestra.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[REPRODUCIR VIDEO — testimonio de la tendera]</a:t>
            </a:r>
          </a:p>
          <a:p/>
          <a:p>
            <a:r>
              <a:t>[Antes del video — preparar al público]:</a:t>
            </a:r>
          </a:p>
          <a:p>
            <a:r>
              <a:t>"Cuando hablamos de obesidad infantil en México, normalmente hablamos de cifras. Hoy queremos empezar diferente. Esta es Doña [Nombre], dueña de una tiendita aquí en San Luis Potosí. La conocimos durante nuestro trabajo de campo. Le pedimos que nos contara, en sus propias palabras, qué ve ella todos los días detrás del mostrador."</a:t>
            </a:r>
          </a:p>
          <a:p/>
          <a:p>
            <a:r>
              <a:t>[Reproducir video — ~45-60 segundos]</a:t>
            </a:r>
          </a:p>
          <a:p/>
          <a:p>
            <a:r>
              <a:t>[Después del video]:</a:t>
            </a:r>
          </a:p>
          <a:p>
            <a:r>
              <a:t>"Doña [Nombre] no es el problema. Es testigo del problema. Y lo que ella ve todos los días — niños comprando papas y refresco con el dinero que les dan sus papás — es la punta de una crisis que la mayor parte del país no ha querido nombrar.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[NARRADOR — Fernanda o quien lleve el bloque de diagnóstico]</a:t>
            </a:r>
          </a:p>
          <a:p/>
          <a:p>
            <a:r>
              <a:t>México tiene una de las crisis de obesidad infantil más severas del mundo. No es una opinión, es la cifra que reporta el propio gobierno.</a:t>
            </a:r>
          </a:p>
          <a:p/>
          <a:p>
            <a:r>
              <a:t>Tres de cada diez niños entre cinco y once años viven con sobrepeso u obesidad. Cuatro de cada diez adolescentes. Y la tendencia, lejos de mejorar, está empeorando: solo entre 2006 y 2022, la obesidad en escolares varones subió casi seis puntos porcentuales.</a:t>
            </a:r>
          </a:p>
          <a:p/>
          <a:p>
            <a:r>
              <a:t>Mientras tanto, dos cosas se vuelven invisibles en el debate público. Primero: hay 1.1 millones de tienditas en este país. Son el primer punto de acceso a comida en las comunidades vulnerables, y la mayoría de lo que venden es ultraprocesado. Segundo: la escuela, que históricamente tenía hasta cinco horas semanales de educación física, hoy tiene dos.</a:t>
            </a:r>
          </a:p>
          <a:p/>
          <a:p>
            <a:r>
              <a:t>El sistema sabe que esto es un problema. La SEP introdujo Vida Saludable como eje articulador en la Nueva Escuela Mexicana. Pero un eje articulador no es una materia, no tiene horas asignadas, no tiene capacitación docente estandarizada. Es una buena intención sin músculo operativo.</a:t>
            </a:r>
          </a:p>
          <a:p/>
          <a:p>
            <a:r>
              <a:t>Ahí entró nuestro proyecto.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[NARRADOR — Carlos o quien lleve la parte cuantitativa]</a:t>
            </a:r>
          </a:p>
          <a:p/>
          <a:p>
            <a:r>
              <a:t>Para abordar un problema de este tamaño en tres semanas, construimos una metodología que se sostiene en cinco fases. No es ornamental — cada una existe porque la siguiente la necesita.</a:t>
            </a:r>
          </a:p>
          <a:p/>
          <a:p>
            <a:r>
              <a:t>La primera fase fue una regresión lineal a nivel estatal: cruzamos densidad de tienditas con prevalencia de obesidad en menores en los 32 estados, controlando por marginación y urbanización. Es el punto de entrada honesto: antes de cualquier simulación, hay que demostrar que la asociación básica existe.</a:t>
            </a:r>
          </a:p>
          <a:p/>
          <a:p>
            <a:r>
              <a:t>La segunda fase amplió ese modelo con datos de actividad física, consumo de alimentos del ENSANUT, gasto en procesados del ENIGH, y morbilidad. La pregunta era cuál es el predictor más modificable.</a:t>
            </a:r>
          </a:p>
          <a:p/>
          <a:p>
            <a:r>
              <a:t>La tercera fase es donde la historia se complica — y es por eso que está marcada distinto en el siguiente slide. Salimos a campo. Hablamos con 104 personas reales.</a:t>
            </a:r>
          </a:p>
          <a:p/>
          <a:p>
            <a:r>
              <a:t>La cuarta fase diseñó la intervención. La quinta la proyectó hacia el futuro con simulación Monte Carlo basada en meta-análisis publicados.</a:t>
            </a:r>
          </a:p>
          <a:p/>
          <a:p>
            <a:r>
              <a:t>Y un detalle no menor: en cada fase reportamos absolutamente todos los resultados, incluyendo los que no nos favorecen. Si una correlación pierde significancia al controlar, lo decimos. Si un meta-análisis muestra efecto nulo, lo incluimos. Eso es lo que distingue una propuesta seria de un argumento de venta.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[NARRADOR — Alexis o quien lleve el bloque cualitativo]</a:t>
            </a:r>
          </a:p>
          <a:p/>
          <a:p>
            <a:r>
              <a:t>Aquí es donde la investigación cambió. Diseñamos un cuestionario en dos pistas — una para padres, otra para no padres — y lo aplicamos a 104 personas en San Luis Potosí entre diciembre y enero. Estudiantes, maestros, oficinistas, comerciantes, amas de casa. De menores de 18 a mayores de 50.</a:t>
            </a:r>
          </a:p>
          <a:p/>
          <a:p>
            <a:r>
              <a:t>Miren la barra de la izquierda. La pregunta era "¿por qué no cocinas frecuentemente?". La respuesta más frecuente — por amplio margen — fue "no tengo tiempo debido al trabajo". 38 personas. Más que las que dijeron que no les gusta cocinar.</a:t>
            </a:r>
          </a:p>
          <a:p/>
          <a:p>
            <a:r>
              <a:t>Eso significa una cosa muy concreta: la causa no es la ignorancia, no es la pereza, no es la falta de voluntad. Es estructural. La gente quiere cocinar y no puede.</a:t>
            </a:r>
          </a:p>
          <a:p/>
          <a:p>
            <a:r>
              <a:t>Ahora miren la barra de la derecha. La pregunta era "¿qué soluciones quieres?". Las dos respuestas más pedidas fueron acceso a alimentos saludables y educación nutricional. La gente nos estaba diciendo, sin que se lo preguntáramos directamente, qué tipo de intervención estaban dispuestos a recibir.</a:t>
            </a:r>
          </a:p>
          <a:p/>
          <a:p>
            <a:r>
              <a:t>Y abajo, la confirmación: 91.7% de los padres están preocupados por la alimentación de sus hijos. 85% dice que cambiaría sus hábitos si tuviera más tiempo o recursos. La motivación no es el problema. La estructura sí.</a:t>
            </a:r>
          </a:p>
          <a:p/>
          <a:p>
            <a:r>
              <a:t>Cuando vimos estos datos juntos, supimos que la pregunta original — "¿cómo regulamos las tienditas?" — era la pregunta equivocada.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[PAUSA. Quien narre, lentamente.]</a:t>
            </a:r>
          </a:p>
          <a:p/>
          <a:p>
            <a:r>
              <a:t>Una sola frase. La respuesta más frecuente, dicha por gente que no se conoce entre sí, en colonias distintas, en edades distintas: "No tengo tiempo debido al trabajo."</a:t>
            </a:r>
          </a:p>
          <a:p/>
          <a:p>
            <a:r>
              <a:t>Si el tiempo es estructural — si las familias físicamente no pueden cocinar distinto porque trabajan más de lo que el día permite — entonces no podemos arreglar este problema cambiando a los adultos de hoy. Eso no quiere decir que esté perdida la batalla. Quiere decir que la batalla está en otro lado.</a:t>
            </a:r>
          </a:p>
          <a:p/>
          <a:p>
            <a:r>
              <a:t>[Marcar la transición — más fuerte]</a:t>
            </a:r>
          </a:p>
          <a:p/>
          <a:p>
            <a:r>
              <a:t>La población no necesita permiso. Necesita herramientas.</a:t>
            </a:r>
          </a:p>
          <a:p/>
          <a:p>
            <a:r>
              <a:t>Eso fue lo que nos hizo dejar de pensar en regulación, y empezar a pensar en educación. Y específicamente: en la única institución que ya tiene a los adolescentes 30 horas a la semana, con presupuesto asignado y maestros en plaza. La escuela secundaria pública.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[NARRADOR — Fernanda o el bloque de propuesta]</a:t>
            </a:r>
          </a:p>
          <a:p/>
          <a:p>
            <a:r>
              <a:t>Cuando entendimos eso, nos sentamos a diseñar. Y aquí tomamos cinco decisiones que se reflejan en estos cinco componentes.</a:t>
            </a:r>
          </a:p>
          <a:p/>
          <a:p>
            <a:r>
              <a:t>Componente A: expandir la Educación Física de dos a tres horas semanales. La tercera hora no es deporte — es alfabetización aplicada de estilo de vida activo. Leer una etiqueta de un producto real traído de la tiendita. Diseñar un snack saludable con un presupuesto de 20 pesos. Mapear el entorno alimentario alrededor de la escuela.</a:t>
            </a:r>
          </a:p>
          <a:p/>
          <a:p>
            <a:r>
              <a:t>Componente B — y este es nuestro aporte original. Cada dos semanas, durante 30 minutos en cualquier clase que toque Vida Saludable, los estudiantes auditan las tienditas alrededor de su escuela. Cuentan productos, clasifican, registran precios. Es ciencia ciudadana. Y la suma de esos datos, cohorte tras cohorte, le da a México algo que hoy no existe: un dataset geolocalizado del entorno obesogénico escolar.</a:t>
            </a:r>
          </a:p>
          <a:p/>
          <a:p>
            <a:r>
              <a:t>Componente C es la respuesta a la economía conductual. La compra en la tiendita es una decisión rápida, de impulso, en el punto de venta. La clase del martes no llega a ese momento. Por eso trabajamos con tienditas voluntarias para mover el agua al frente, poner una etiqueta de "snack saludable bajo 20 pesos" diseñada por los propios alumnos.</a:t>
            </a:r>
          </a:p>
          <a:p/>
          <a:p>
            <a:r>
              <a:t>Componente D es la capacitación docente. Ocho horas asincrónicas. Pedagogía centrada en autonomía — porque si los maestros vuelven a dar cátedra, el mecanismo se rompe. Y la fidelidad de implementación se mide, no se asume.</a:t>
            </a:r>
          </a:p>
          <a:p/>
          <a:p>
            <a:r>
              <a:t>Componente E es la invitación familiar mensual. Una invitación, no tarea. Respeta el dato más importante de la encuesta: las familias no tienen tiempo.</a:t>
            </a:r>
          </a:p>
          <a:p/>
          <a:p>
            <a:r>
              <a:t>Doce mil pesos por escuela al año. Escalado a 35,000 secundarias: 420 millones. Menos del 0.1% del presupuesto federal de educación. Es la propuesta más barata que hemos visto para mover una aguja de esta magnitud.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[NARRADOR — Carlos o el bloque cuantitativo]</a:t>
            </a:r>
          </a:p>
          <a:p/>
          <a:p>
            <a:r>
              <a:t>Una propuesta sin proyección es una opinión. Aquí está nuestra proyección.</a:t>
            </a:r>
          </a:p>
          <a:p/>
          <a:p>
            <a:r>
              <a:t>Construimos una simulación Monte Carlo: 1,000 estudiantes simulados, 5,000 corridas por escenario, parámetros tomados directamente de meta-análisis publicados — no inventados.</a:t>
            </a:r>
          </a:p>
          <a:p/>
          <a:p>
            <a:r>
              <a:t>En el escenario central — el que toma las estimaciones puntuales de los estudios — la intervención ralentiza el crecimiento del IMC en 0.68 kg/m² a cinco años. Eso se traduce aproximadamente en una reducción de seis puntos porcentuales en la prevalencia de sobrepeso.</a:t>
            </a:r>
          </a:p>
          <a:p/>
          <a:p>
            <a:r>
              <a:t>Pero hay algo más importante que ese número. Vean el cuarto escenario. Dice cero. Es el escenario nulo: la posibilidad de que, a largo plazo, el efecto sobre IMC sea estadísticamente indistinguible de cero. Eso lo reportamos honestamente, porque hay un meta-análisis del 2021 que encontró exactamente eso para intervenciones escolares de largo plazo en niños.</a:t>
            </a:r>
          </a:p>
          <a:p/>
          <a:p>
            <a:r>
              <a:t>Si nosotros no incluyéramos ese escenario, ustedes deberían sospechar de nosotros. Lo incluimos. Y aún así, los otros cuatro resultados de la intervención — cambio en comportamiento de compra, cambio en el inventario de las tienditas socias, cambio en la agencia crítica del estudiante — esos son medibles en semanas o meses, no en años. La propuesta sigue siendo defendible aunque el IMC no se mueva.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[Quien presente el bloque de validación introduce]:</a:t>
            </a:r>
          </a:p>
          <a:p>
            <a:r>
              <a:t>"Para someter este diseño a prueba, lo presentamos a cinco validadores externos. El primero es el Dr. José Manuel Olais Govea, investigador del Tec de Monterrey Campus San Luis Potosí, con perspectiva de investigación educativa. Le hicimos las ocho preguntas core del protocolo, más tres específicas para su rol como investigador."</a:t>
            </a:r>
          </a:p>
          <a:p/>
          <a:p>
            <a:r>
              <a:t>[Reproducir video — 60-90 segundos del testimonio]</a:t>
            </a:r>
          </a:p>
          <a:p/>
          <a:p>
            <a:r>
              <a:t>[Después del video — resumir 1 frase clave]:</a:t>
            </a:r>
          </a:p>
          <a:p>
            <a:r>
              <a:t>"De su intervención retuvimos especialmente [punto clave que aporte el doctor].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[Introducir el segundo experto]:</a:t>
            </a:r>
          </a:p>
          <a:p>
            <a:r>
              <a:t>"El segundo investigador es el Dr. Leopoldo Zúñiga Silva, también del Tec de Monterrey Campus SLP. Lo invitamos a triangular con el Dr. Olais — queríamos dos voces de la misma escuela teórica pero con énfasis distintos."</a:t>
            </a:r>
          </a:p>
          <a:p/>
          <a:p>
            <a:r>
              <a:t>[Reproducir video]</a:t>
            </a:r>
          </a:p>
          <a:p/>
          <a:p>
            <a:r>
              <a:t>[Después]:</a:t>
            </a:r>
          </a:p>
          <a:p>
            <a:r>
              <a:t>"Su aporte más fuerte fue [tema central que mencione]. Eso reforzó nuestra decisión de [decisión que el doctor validó].</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[Introducir al director]:</a:t>
            </a:r>
          </a:p>
          <a:p>
            <a:r>
              <a:t>"Pero la validación académica no basta. Una propuesta que no se pueda implementar es una propuesta muerta. Entrevistamos al director de la Secundaria Técnica 78 de Matehuala — la escuela donde, si esto se vuelve piloto, ocurriría primero."</a:t>
            </a:r>
          </a:p>
          <a:p/>
          <a:p>
            <a:r>
              <a:t>[Reproducir video]</a:t>
            </a:r>
          </a:p>
          <a:p/>
          <a:p>
            <a:r>
              <a:t>[Después]:</a:t>
            </a:r>
          </a:p>
          <a:p>
            <a:r>
              <a:t>"Y aquí vino el aprendizaje operativo más importante: [restricción que él levantó]. Eso nos llevó a incluir el componente de fallback en la propuesta — si la tercera hora de EF no es schedulable, se compacta a 30 minutos más sesiones de bloque mensuales.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[Introducir al docente]:</a:t>
            </a:r>
          </a:p>
          <a:p>
            <a:r>
              <a:t>"El cuarto experto es un docente de secundaria, en activo, que además es practicante de fitness. La razón de elegir este perfil: queríamos a alguien que viviera el aula todos los días y al mismo tiempo entendiera el lado físico de lo que estamos proponiendo."</a:t>
            </a:r>
          </a:p>
          <a:p/>
          <a:p>
            <a:r>
              <a:t>[Reproducir video]</a:t>
            </a:r>
          </a:p>
          <a:p/>
          <a:p>
            <a:r>
              <a:t>[Después]:</a:t>
            </a:r>
          </a:p>
          <a:p>
            <a:r>
              <a:t>"Lo que dijo, y que nosotros no habíamos visto: [punto inesperado del docente]. Eso es exactamente para lo que sirve la validación — encontrar lo que los datos solos no ven.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[Introducir a la quinta voz]:</a:t>
            </a:r>
          </a:p>
          <a:p>
            <a:r>
              <a:t>"La última perspectiva es la que más fácil se olvida en este tipo de propuestas: la voz del estudiante. Entrevistamos a una estudiante de licenciatura en Educación con background físico-deportivo. Es nuestro puente entre quien está formándose para enseñar y quien fue alumno hace muy poco."</a:t>
            </a:r>
          </a:p>
          <a:p/>
          <a:p>
            <a:r>
              <a:t>[Reproducir video]</a:t>
            </a:r>
          </a:p>
          <a:p/>
          <a:p>
            <a:r>
              <a:t>[Después]:</a:t>
            </a:r>
          </a:p>
          <a:p>
            <a:r>
              <a:t>"Su frase que nos marcó: '[frase textual o paráfrasis]'. Esa es la última pieza del rompecabezas. Si los estudiantes no le ven sentido, la propuesta no funciona — por mejor diseñada que esté.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 preferentemente quien abrió la presentación]</a:t>
            </a:r>
          </a:p>
          <a:p/>
          <a:p>
            <a:r>
              <a:t>Lo que les acabamos de contar es una historia de tres semanas y de tres personas. Una historia donde los datos nos hicieron cambiar de pregunta, donde 104 personas reales nos dieron la respuesta antes de que supiéramos formular el problema, y donde cinco expertos nos ayudaron a no engañarnos a nosotros mismos.</a:t>
            </a:r>
          </a:p>
          <a:p/>
          <a:p>
            <a:r>
              <a:t>Lo que proponemos no es revolucionario. Es exactamente lo contrario: es modesto, barato, alineado a un plan curricular que ya existe, y honesto sobre lo que no sabemos.</a:t>
            </a:r>
          </a:p>
          <a:p/>
          <a:p>
            <a:r>
              <a:t>Pero si funciona aunque sea a medias, le da a México algo que hoy le falta: una manera concreta, presupuestable, evaluable, de meter la salud infantil en el único lugar donde podemos alcanzarla a tiempo — el salón de clases.</a:t>
            </a:r>
          </a:p>
          <a:p/>
          <a:p>
            <a:r>
              <a:t>Gracias.</a:t>
            </a:r>
          </a:p>
          <a:p/>
          <a:p>
            <a:r>
              <a:t>[Abrir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MIT LIFTLAB  ·  NATIONAL COMPETITION 2026</a:t>
            </a:r>
          </a:p>
        </p:txBody>
      </p:sp>
      <p:sp>
        <p:nvSpPr>
          <p:cNvPr id="4" name="TextBox 3"/>
          <p:cNvSpPr txBox="1"/>
          <p:nvPr/>
        </p:nvSpPr>
        <p:spPr>
          <a:xfrm>
            <a:off x="731520" y="1645920"/>
            <a:ext cx="10515600" cy="1188720"/>
          </a:xfrm>
          <a:prstGeom prst="rect">
            <a:avLst/>
          </a:prstGeom>
          <a:noFill/>
        </p:spPr>
        <p:txBody>
          <a:bodyPr wrap="square">
            <a:spAutoFit/>
          </a:bodyPr>
          <a:lstStyle/>
          <a:p>
            <a:pPr algn="l"/>
            <a:r>
              <a:rPr sz="7200" b="0" i="0">
                <a:solidFill>
                  <a:srgbClr val="1A1612"/>
                </a:solidFill>
                <a:latin typeface="Calibri"/>
              </a:rPr>
              <a:t>From Nanostores</a:t>
            </a:r>
          </a:p>
        </p:txBody>
      </p:sp>
      <p:sp>
        <p:nvSpPr>
          <p:cNvPr id="5" name="TextBox 4"/>
          <p:cNvSpPr txBox="1"/>
          <p:nvPr/>
        </p:nvSpPr>
        <p:spPr>
          <a:xfrm>
            <a:off x="731520" y="2697480"/>
            <a:ext cx="10515600" cy="1188720"/>
          </a:xfrm>
          <a:prstGeom prst="rect">
            <a:avLst/>
          </a:prstGeom>
          <a:noFill/>
        </p:spPr>
        <p:txBody>
          <a:bodyPr wrap="square">
            <a:spAutoFit/>
          </a:bodyPr>
          <a:lstStyle/>
          <a:p>
            <a:pPr algn="l"/>
            <a:r>
              <a:rPr sz="7200" b="0" i="1">
                <a:solidFill>
                  <a:srgbClr val="B8332A"/>
                </a:solidFill>
                <a:latin typeface="Calibri"/>
              </a:rPr>
              <a:t>→ Classrooms.</a:t>
            </a:r>
          </a:p>
        </p:txBody>
      </p:sp>
      <p:sp>
        <p:nvSpPr>
          <p:cNvPr id="6" name="TextBox 5"/>
          <p:cNvSpPr txBox="1"/>
          <p:nvPr/>
        </p:nvSpPr>
        <p:spPr>
          <a:xfrm>
            <a:off x="731520" y="4206240"/>
            <a:ext cx="9144000" cy="457200"/>
          </a:xfrm>
          <a:prstGeom prst="rect">
            <a:avLst/>
          </a:prstGeom>
          <a:noFill/>
        </p:spPr>
        <p:txBody>
          <a:bodyPr wrap="square">
            <a:spAutoFit/>
          </a:bodyPr>
          <a:lstStyle/>
          <a:p>
            <a:pPr algn="l"/>
            <a:r>
              <a:rPr sz="1600" b="0" i="0">
                <a:solidFill>
                  <a:srgbClr val="7A7368"/>
                </a:solidFill>
                <a:latin typeface="Calibri"/>
              </a:rPr>
              <a:t>Una historia de datos, 104 voces, y una propuesta para la salud infantil en México.</a:t>
            </a:r>
          </a:p>
        </p:txBody>
      </p:sp>
      <p:sp>
        <p:nvSpPr>
          <p:cNvPr id="7" name="Rectangle 6"/>
          <p:cNvSpPr/>
          <p:nvPr/>
        </p:nvSpPr>
        <p:spPr>
          <a:xfrm>
            <a:off x="731520" y="5212080"/>
            <a:ext cx="10515600" cy="9144"/>
          </a:xfrm>
          <a:prstGeom prst="rect">
            <a:avLst/>
          </a:prstGeom>
          <a:solidFill>
            <a:srgbClr val="C8BE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349240"/>
            <a:ext cx="3657600" cy="274320"/>
          </a:xfrm>
          <a:prstGeom prst="rect">
            <a:avLst/>
          </a:prstGeom>
          <a:noFill/>
        </p:spPr>
        <p:txBody>
          <a:bodyPr wrap="square">
            <a:spAutoFit/>
          </a:bodyPr>
          <a:lstStyle/>
          <a:p>
            <a:pPr algn="l"/>
            <a:r>
              <a:rPr sz="900" b="0" i="0">
                <a:solidFill>
                  <a:srgbClr val="7A7368"/>
                </a:solidFill>
                <a:latin typeface="Consolas"/>
              </a:rPr>
              <a:t>TEC DE MONTERREY · CAMPUS SLP</a:t>
            </a:r>
          </a:p>
        </p:txBody>
      </p:sp>
      <p:sp>
        <p:nvSpPr>
          <p:cNvPr id="9" name="TextBox 8"/>
          <p:cNvSpPr txBox="1"/>
          <p:nvPr/>
        </p:nvSpPr>
        <p:spPr>
          <a:xfrm>
            <a:off x="731520" y="5669280"/>
            <a:ext cx="10058400" cy="365760"/>
          </a:xfrm>
          <a:prstGeom prst="rect">
            <a:avLst/>
          </a:prstGeom>
          <a:noFill/>
        </p:spPr>
        <p:txBody>
          <a:bodyPr wrap="square">
            <a:spAutoFit/>
          </a:bodyPr>
          <a:lstStyle/>
          <a:p>
            <a:pPr algn="l"/>
            <a:r>
              <a:rPr sz="1600" b="1" i="0">
                <a:solidFill>
                  <a:srgbClr val="1A1612"/>
                </a:solidFill>
                <a:latin typeface="Calibri"/>
              </a:rPr>
              <a:t>Ita  ·  Marcos  ·  Torres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TESTIMONIO DE UNA TENDERA</a:t>
            </a:r>
          </a:p>
        </p:txBody>
      </p:sp>
      <p:sp>
        <p:nvSpPr>
          <p:cNvPr id="4" name="Rectangle 3"/>
          <p:cNvSpPr/>
          <p:nvPr/>
        </p:nvSpPr>
        <p:spPr>
          <a:xfrm>
            <a:off x="1371600" y="1097280"/>
            <a:ext cx="9418320" cy="475488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097280"/>
            <a:ext cx="9418320" cy="47548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0" y="3017520"/>
            <a:ext cx="1188720" cy="9144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0" y="3154680"/>
            <a:ext cx="1188720" cy="640080"/>
          </a:xfrm>
          <a:prstGeom prst="rect">
            <a:avLst/>
          </a:prstGeom>
          <a:noFill/>
        </p:spPr>
        <p:txBody>
          <a:bodyPr wrap="square">
            <a:spAutoFit/>
          </a:bodyPr>
          <a:lstStyle/>
          <a:p>
            <a:pPr algn="ctr"/>
            <a:r>
              <a:rPr sz="4400" b="1" i="0">
                <a:solidFill>
                  <a:srgbClr val="FDF8F1"/>
                </a:solidFill>
                <a:latin typeface="Calibri"/>
              </a:rPr>
              <a:t>▶</a:t>
            </a:r>
          </a:p>
        </p:txBody>
      </p:sp>
      <p:sp>
        <p:nvSpPr>
          <p:cNvPr id="8" name="TextBox 7"/>
          <p:cNvSpPr txBox="1"/>
          <p:nvPr/>
        </p:nvSpPr>
        <p:spPr>
          <a:xfrm>
            <a:off x="1371600" y="4114800"/>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9" name="TextBox 8"/>
          <p:cNvSpPr txBox="1"/>
          <p:nvPr/>
        </p:nvSpPr>
        <p:spPr>
          <a:xfrm>
            <a:off x="1371600" y="4572000"/>
            <a:ext cx="9418320" cy="365760"/>
          </a:xfrm>
          <a:prstGeom prst="rect">
            <a:avLst/>
          </a:prstGeom>
          <a:noFill/>
        </p:spPr>
        <p:txBody>
          <a:bodyPr wrap="square">
            <a:spAutoFit/>
          </a:bodyPr>
          <a:lstStyle/>
          <a:p>
            <a:pPr algn="ctr"/>
            <a:r>
              <a:rPr sz="1300" b="0" i="1">
                <a:solidFill>
                  <a:srgbClr val="C8BEB0"/>
                </a:solidFill>
                <a:latin typeface="Calibri"/>
              </a:rPr>
              <a:t>La voz de quien vive el problema desde el mostrador.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DASHBOARD 01  ·  LA CRISIS</a:t>
            </a:r>
          </a:p>
        </p:txBody>
      </p:sp>
      <p:sp>
        <p:nvSpPr>
          <p:cNvPr id="4" name="TextBox 3"/>
          <p:cNvSpPr txBox="1"/>
          <p:nvPr/>
        </p:nvSpPr>
        <p:spPr>
          <a:xfrm>
            <a:off x="548640" y="685800"/>
            <a:ext cx="10972800" cy="457200"/>
          </a:xfrm>
          <a:prstGeom prst="rect">
            <a:avLst/>
          </a:prstGeom>
          <a:noFill/>
        </p:spPr>
        <p:txBody>
          <a:bodyPr wrap="square">
            <a:spAutoFit/>
          </a:bodyPr>
          <a:lstStyle/>
          <a:p>
            <a:pPr algn="l"/>
            <a:r>
              <a:rPr sz="2800" b="1" i="0">
                <a:solidFill>
                  <a:srgbClr val="1A1612"/>
                </a:solidFill>
                <a:latin typeface="Calibri"/>
              </a:rPr>
              <a:t>La fotografía nacional.</a:t>
            </a:r>
          </a:p>
        </p:txBody>
      </p:sp>
      <p:sp>
        <p:nvSpPr>
          <p:cNvPr id="5" name="Rectangle 4"/>
          <p:cNvSpPr/>
          <p:nvPr/>
        </p:nvSpPr>
        <p:spPr>
          <a:xfrm>
            <a:off x="548640" y="1463040"/>
            <a:ext cx="5486400" cy="25603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00200"/>
            <a:ext cx="5029200" cy="274320"/>
          </a:xfrm>
          <a:prstGeom prst="rect">
            <a:avLst/>
          </a:prstGeom>
          <a:noFill/>
        </p:spPr>
        <p:txBody>
          <a:bodyPr wrap="square">
            <a:spAutoFit/>
          </a:bodyPr>
          <a:lstStyle/>
          <a:p>
            <a:pPr algn="l"/>
            <a:r>
              <a:rPr sz="1000" b="0" i="0">
                <a:solidFill>
                  <a:srgbClr val="B8862A"/>
                </a:solidFill>
                <a:latin typeface="Consolas"/>
              </a:rPr>
              <a:t>NIÑOS 5–11 AÑOS</a:t>
            </a:r>
          </a:p>
        </p:txBody>
      </p:sp>
      <p:sp>
        <p:nvSpPr>
          <p:cNvPr id="7" name="TextBox 6"/>
          <p:cNvSpPr txBox="1"/>
          <p:nvPr/>
        </p:nvSpPr>
        <p:spPr>
          <a:xfrm>
            <a:off x="777240" y="1920240"/>
            <a:ext cx="5029200" cy="1645920"/>
          </a:xfrm>
          <a:prstGeom prst="rect">
            <a:avLst/>
          </a:prstGeom>
          <a:noFill/>
        </p:spPr>
        <p:txBody>
          <a:bodyPr wrap="square">
            <a:spAutoFit/>
          </a:bodyPr>
          <a:lstStyle/>
          <a:p>
            <a:pPr algn="l"/>
            <a:r>
              <a:rPr sz="10000" b="1" i="0">
                <a:solidFill>
                  <a:srgbClr val="B8332A"/>
                </a:solidFill>
                <a:latin typeface="Calibri"/>
              </a:rPr>
              <a:t>36.6%</a:t>
            </a:r>
          </a:p>
        </p:txBody>
      </p:sp>
      <p:sp>
        <p:nvSpPr>
          <p:cNvPr id="8" name="TextBox 7"/>
          <p:cNvSpPr txBox="1"/>
          <p:nvPr/>
        </p:nvSpPr>
        <p:spPr>
          <a:xfrm>
            <a:off x="777240" y="3383280"/>
            <a:ext cx="5029200" cy="457200"/>
          </a:xfrm>
          <a:prstGeom prst="rect">
            <a:avLst/>
          </a:prstGeom>
          <a:noFill/>
        </p:spPr>
        <p:txBody>
          <a:bodyPr wrap="square">
            <a:spAutoFit/>
          </a:bodyPr>
          <a:lstStyle/>
          <a:p>
            <a:pPr algn="l"/>
            <a:r>
              <a:rPr sz="1400" b="0" i="0">
                <a:solidFill>
                  <a:srgbClr val="FDF8F1"/>
                </a:solidFill>
                <a:latin typeface="Calibri"/>
              </a:rPr>
              <a:t>con sobrepeso u obesidad</a:t>
            </a:r>
          </a:p>
        </p:txBody>
      </p:sp>
      <p:sp>
        <p:nvSpPr>
          <p:cNvPr id="9" name="TextBox 8"/>
          <p:cNvSpPr txBox="1"/>
          <p:nvPr/>
        </p:nvSpPr>
        <p:spPr>
          <a:xfrm>
            <a:off x="777240" y="3749039"/>
            <a:ext cx="5029200" cy="274320"/>
          </a:xfrm>
          <a:prstGeom prst="rect">
            <a:avLst/>
          </a:prstGeom>
          <a:noFill/>
        </p:spPr>
        <p:txBody>
          <a:bodyPr wrap="square">
            <a:spAutoFit/>
          </a:bodyPr>
          <a:lstStyle/>
          <a:p>
            <a:pPr algn="l"/>
            <a:r>
              <a:rPr sz="900" b="0" i="0">
                <a:solidFill>
                  <a:srgbClr val="C8BEB0"/>
                </a:solidFill>
                <a:latin typeface="Consolas"/>
              </a:rPr>
              <a:t>ENSANUT 2020–2024</a:t>
            </a:r>
          </a:p>
        </p:txBody>
      </p:sp>
      <p:sp>
        <p:nvSpPr>
          <p:cNvPr id="10" name="Rectangle 9"/>
          <p:cNvSpPr/>
          <p:nvPr/>
        </p:nvSpPr>
        <p:spPr>
          <a:xfrm>
            <a:off x="6172200" y="1463040"/>
            <a:ext cx="5486400" cy="25603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00200"/>
            <a:ext cx="5029200" cy="274320"/>
          </a:xfrm>
          <a:prstGeom prst="rect">
            <a:avLst/>
          </a:prstGeom>
          <a:noFill/>
        </p:spPr>
        <p:txBody>
          <a:bodyPr wrap="square">
            <a:spAutoFit/>
          </a:bodyPr>
          <a:lstStyle/>
          <a:p>
            <a:pPr algn="l"/>
            <a:r>
              <a:rPr sz="1000" b="0" i="0">
                <a:solidFill>
                  <a:srgbClr val="B8862A"/>
                </a:solidFill>
                <a:latin typeface="Consolas"/>
              </a:rPr>
              <a:t>ADOLESCENTES 12–19 AÑOS</a:t>
            </a:r>
          </a:p>
        </p:txBody>
      </p:sp>
      <p:sp>
        <p:nvSpPr>
          <p:cNvPr id="12" name="TextBox 11"/>
          <p:cNvSpPr txBox="1"/>
          <p:nvPr/>
        </p:nvSpPr>
        <p:spPr>
          <a:xfrm>
            <a:off x="6400800" y="1920240"/>
            <a:ext cx="5029200" cy="1645920"/>
          </a:xfrm>
          <a:prstGeom prst="rect">
            <a:avLst/>
          </a:prstGeom>
          <a:noFill/>
        </p:spPr>
        <p:txBody>
          <a:bodyPr wrap="square">
            <a:spAutoFit/>
          </a:bodyPr>
          <a:lstStyle/>
          <a:p>
            <a:pPr algn="l"/>
            <a:r>
              <a:rPr sz="10000" b="1" i="0">
                <a:solidFill>
                  <a:srgbClr val="B8332A"/>
                </a:solidFill>
                <a:latin typeface="Calibri"/>
              </a:rPr>
              <a:t>40.1%</a:t>
            </a:r>
          </a:p>
        </p:txBody>
      </p:sp>
      <p:sp>
        <p:nvSpPr>
          <p:cNvPr id="13" name="TextBox 12"/>
          <p:cNvSpPr txBox="1"/>
          <p:nvPr/>
        </p:nvSpPr>
        <p:spPr>
          <a:xfrm>
            <a:off x="6400800" y="3383280"/>
            <a:ext cx="5029200" cy="457200"/>
          </a:xfrm>
          <a:prstGeom prst="rect">
            <a:avLst/>
          </a:prstGeom>
          <a:noFill/>
        </p:spPr>
        <p:txBody>
          <a:bodyPr wrap="square">
            <a:spAutoFit/>
          </a:bodyPr>
          <a:lstStyle/>
          <a:p>
            <a:pPr algn="l"/>
            <a:r>
              <a:rPr sz="1400" b="0" i="0">
                <a:solidFill>
                  <a:srgbClr val="FDF8F1"/>
                </a:solidFill>
                <a:latin typeface="Calibri"/>
              </a:rPr>
              <a:t>con sobrepeso u obesidad</a:t>
            </a:r>
          </a:p>
        </p:txBody>
      </p:sp>
      <p:sp>
        <p:nvSpPr>
          <p:cNvPr id="14" name="TextBox 13"/>
          <p:cNvSpPr txBox="1"/>
          <p:nvPr/>
        </p:nvSpPr>
        <p:spPr>
          <a:xfrm>
            <a:off x="6400800" y="3749039"/>
            <a:ext cx="5029200" cy="274320"/>
          </a:xfrm>
          <a:prstGeom prst="rect">
            <a:avLst/>
          </a:prstGeom>
          <a:noFill/>
        </p:spPr>
        <p:txBody>
          <a:bodyPr wrap="square">
            <a:spAutoFit/>
          </a:bodyPr>
          <a:lstStyle/>
          <a:p>
            <a:pPr algn="l"/>
            <a:r>
              <a:rPr sz="900" b="0" i="0">
                <a:solidFill>
                  <a:srgbClr val="C8BEB0"/>
                </a:solidFill>
                <a:latin typeface="Consolas"/>
              </a:rPr>
              <a:t>ENSANUT 2020–2024</a:t>
            </a:r>
          </a:p>
        </p:txBody>
      </p:sp>
      <p:sp>
        <p:nvSpPr>
          <p:cNvPr id="15" name="Rectangle 14"/>
          <p:cNvSpPr/>
          <p:nvPr/>
        </p:nvSpPr>
        <p:spPr>
          <a:xfrm>
            <a:off x="548640" y="4297680"/>
            <a:ext cx="269748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389120"/>
            <a:ext cx="2468880" cy="640080"/>
          </a:xfrm>
          <a:prstGeom prst="rect">
            <a:avLst/>
          </a:prstGeom>
          <a:noFill/>
        </p:spPr>
        <p:txBody>
          <a:bodyPr wrap="square">
            <a:spAutoFit/>
          </a:bodyPr>
          <a:lstStyle/>
          <a:p>
            <a:pPr algn="l"/>
            <a:r>
              <a:rPr sz="3000" b="1" i="0">
                <a:solidFill>
                  <a:srgbClr val="B8332A"/>
                </a:solidFill>
                <a:latin typeface="Calibri"/>
              </a:rPr>
              <a:t>1.1M</a:t>
            </a:r>
          </a:p>
        </p:txBody>
      </p:sp>
      <p:sp>
        <p:nvSpPr>
          <p:cNvPr id="17" name="TextBox 16"/>
          <p:cNvSpPr txBox="1"/>
          <p:nvPr/>
        </p:nvSpPr>
        <p:spPr>
          <a:xfrm>
            <a:off x="685800" y="5074920"/>
            <a:ext cx="2468880" cy="365760"/>
          </a:xfrm>
          <a:prstGeom prst="rect">
            <a:avLst/>
          </a:prstGeom>
          <a:noFill/>
        </p:spPr>
        <p:txBody>
          <a:bodyPr wrap="square">
            <a:spAutoFit/>
          </a:bodyPr>
          <a:lstStyle/>
          <a:p>
            <a:pPr algn="l"/>
            <a:r>
              <a:rPr sz="1200" b="0" i="0">
                <a:solidFill>
                  <a:srgbClr val="1A1612"/>
                </a:solidFill>
                <a:latin typeface="Calibri"/>
              </a:rPr>
              <a:t>tienditas en México</a:t>
            </a:r>
          </a:p>
        </p:txBody>
      </p:sp>
      <p:sp>
        <p:nvSpPr>
          <p:cNvPr id="18" name="TextBox 17"/>
          <p:cNvSpPr txBox="1"/>
          <p:nvPr/>
        </p:nvSpPr>
        <p:spPr>
          <a:xfrm>
            <a:off x="685800" y="5532120"/>
            <a:ext cx="2468880" cy="274320"/>
          </a:xfrm>
          <a:prstGeom prst="rect">
            <a:avLst/>
          </a:prstGeom>
          <a:noFill/>
        </p:spPr>
        <p:txBody>
          <a:bodyPr wrap="square">
            <a:spAutoFit/>
          </a:bodyPr>
          <a:lstStyle/>
          <a:p>
            <a:pPr algn="l"/>
            <a:r>
              <a:rPr sz="800" b="0" i="0">
                <a:solidFill>
                  <a:srgbClr val="7A7368"/>
                </a:solidFill>
                <a:latin typeface="Consolas"/>
              </a:rPr>
              <a:t>INEGI DENUE 2024</a:t>
            </a:r>
          </a:p>
        </p:txBody>
      </p:sp>
      <p:sp>
        <p:nvSpPr>
          <p:cNvPr id="19" name="Rectangle 18"/>
          <p:cNvSpPr/>
          <p:nvPr/>
        </p:nvSpPr>
        <p:spPr>
          <a:xfrm>
            <a:off x="3337560" y="4297680"/>
            <a:ext cx="269748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4389120"/>
            <a:ext cx="2468880" cy="640080"/>
          </a:xfrm>
          <a:prstGeom prst="rect">
            <a:avLst/>
          </a:prstGeom>
          <a:noFill/>
        </p:spPr>
        <p:txBody>
          <a:bodyPr wrap="square">
            <a:spAutoFit/>
          </a:bodyPr>
          <a:lstStyle/>
          <a:p>
            <a:pPr algn="l"/>
            <a:r>
              <a:rPr sz="3000" b="1" i="0">
                <a:solidFill>
                  <a:srgbClr val="B8332A"/>
                </a:solidFill>
                <a:latin typeface="Calibri"/>
              </a:rPr>
              <a:t>7 de 10</a:t>
            </a:r>
          </a:p>
        </p:txBody>
      </p:sp>
      <p:sp>
        <p:nvSpPr>
          <p:cNvPr id="21" name="TextBox 20"/>
          <p:cNvSpPr txBox="1"/>
          <p:nvPr/>
        </p:nvSpPr>
        <p:spPr>
          <a:xfrm>
            <a:off x="3474720" y="5074920"/>
            <a:ext cx="2468880" cy="365760"/>
          </a:xfrm>
          <a:prstGeom prst="rect">
            <a:avLst/>
          </a:prstGeom>
          <a:noFill/>
        </p:spPr>
        <p:txBody>
          <a:bodyPr wrap="square">
            <a:spAutoFit/>
          </a:bodyPr>
          <a:lstStyle/>
          <a:p>
            <a:pPr algn="l"/>
            <a:r>
              <a:rPr sz="1200" b="0" i="0">
                <a:solidFill>
                  <a:srgbClr val="1A1612"/>
                </a:solidFill>
                <a:latin typeface="Calibri"/>
              </a:rPr>
              <a:t>escolares sin actividad</a:t>
            </a:r>
          </a:p>
        </p:txBody>
      </p:sp>
      <p:sp>
        <p:nvSpPr>
          <p:cNvPr id="22" name="TextBox 21"/>
          <p:cNvSpPr txBox="1"/>
          <p:nvPr/>
        </p:nvSpPr>
        <p:spPr>
          <a:xfrm>
            <a:off x="3474720" y="5532120"/>
            <a:ext cx="2468880" cy="274320"/>
          </a:xfrm>
          <a:prstGeom prst="rect">
            <a:avLst/>
          </a:prstGeom>
          <a:noFill/>
        </p:spPr>
        <p:txBody>
          <a:bodyPr wrap="square">
            <a:spAutoFit/>
          </a:bodyPr>
          <a:lstStyle/>
          <a:p>
            <a:pPr algn="l"/>
            <a:r>
              <a:rPr sz="800" b="0" i="0">
                <a:solidFill>
                  <a:srgbClr val="7A7368"/>
                </a:solidFill>
                <a:latin typeface="Consolas"/>
              </a:rPr>
              <a:t>SEP 2025</a:t>
            </a:r>
          </a:p>
        </p:txBody>
      </p:sp>
      <p:sp>
        <p:nvSpPr>
          <p:cNvPr id="23" name="Rectangle 22"/>
          <p:cNvSpPr/>
          <p:nvPr/>
        </p:nvSpPr>
        <p:spPr>
          <a:xfrm>
            <a:off x="6126480" y="4297680"/>
            <a:ext cx="269748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4389120"/>
            <a:ext cx="2468880" cy="640080"/>
          </a:xfrm>
          <a:prstGeom prst="rect">
            <a:avLst/>
          </a:prstGeom>
          <a:noFill/>
        </p:spPr>
        <p:txBody>
          <a:bodyPr wrap="square">
            <a:spAutoFit/>
          </a:bodyPr>
          <a:lstStyle/>
          <a:p>
            <a:pPr algn="l"/>
            <a:r>
              <a:rPr sz="3000" b="1" i="0">
                <a:solidFill>
                  <a:srgbClr val="B8332A"/>
                </a:solidFill>
                <a:latin typeface="Calibri"/>
              </a:rPr>
              <a:t>2 h/sem</a:t>
            </a:r>
          </a:p>
        </p:txBody>
      </p:sp>
      <p:sp>
        <p:nvSpPr>
          <p:cNvPr id="25" name="TextBox 24"/>
          <p:cNvSpPr txBox="1"/>
          <p:nvPr/>
        </p:nvSpPr>
        <p:spPr>
          <a:xfrm>
            <a:off x="6263640" y="5074920"/>
            <a:ext cx="2468880" cy="365760"/>
          </a:xfrm>
          <a:prstGeom prst="rect">
            <a:avLst/>
          </a:prstGeom>
          <a:noFill/>
        </p:spPr>
        <p:txBody>
          <a:bodyPr wrap="square">
            <a:spAutoFit/>
          </a:bodyPr>
          <a:lstStyle/>
          <a:p>
            <a:pPr algn="l"/>
            <a:r>
              <a:rPr sz="1200" b="0" i="0">
                <a:solidFill>
                  <a:srgbClr val="1A1612"/>
                </a:solidFill>
                <a:latin typeface="Calibri"/>
              </a:rPr>
              <a:t>EF en secundaria</a:t>
            </a:r>
          </a:p>
        </p:txBody>
      </p:sp>
      <p:sp>
        <p:nvSpPr>
          <p:cNvPr id="26" name="TextBox 25"/>
          <p:cNvSpPr txBox="1"/>
          <p:nvPr/>
        </p:nvSpPr>
        <p:spPr>
          <a:xfrm>
            <a:off x="6263640" y="5532120"/>
            <a:ext cx="2468880" cy="274320"/>
          </a:xfrm>
          <a:prstGeom prst="rect">
            <a:avLst/>
          </a:prstGeom>
          <a:noFill/>
        </p:spPr>
        <p:txBody>
          <a:bodyPr wrap="square">
            <a:spAutoFit/>
          </a:bodyPr>
          <a:lstStyle/>
          <a:p>
            <a:pPr algn="l"/>
            <a:r>
              <a:rPr sz="800" b="0" i="0">
                <a:solidFill>
                  <a:srgbClr val="7A7368"/>
                </a:solidFill>
                <a:latin typeface="Consolas"/>
              </a:rPr>
              <a:t>antes 5h pre-2010</a:t>
            </a:r>
          </a:p>
        </p:txBody>
      </p:sp>
      <p:sp>
        <p:nvSpPr>
          <p:cNvPr id="27" name="Rectangle 26"/>
          <p:cNvSpPr/>
          <p:nvPr/>
        </p:nvSpPr>
        <p:spPr>
          <a:xfrm>
            <a:off x="8915400" y="4297680"/>
            <a:ext cx="2697480" cy="16916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0" y="4389120"/>
            <a:ext cx="2468880" cy="640080"/>
          </a:xfrm>
          <a:prstGeom prst="rect">
            <a:avLst/>
          </a:prstGeom>
          <a:noFill/>
        </p:spPr>
        <p:txBody>
          <a:bodyPr wrap="square">
            <a:spAutoFit/>
          </a:bodyPr>
          <a:lstStyle/>
          <a:p>
            <a:pPr algn="l"/>
            <a:r>
              <a:rPr sz="3000" b="1" i="0">
                <a:solidFill>
                  <a:srgbClr val="B8332A"/>
                </a:solidFill>
                <a:latin typeface="Calibri"/>
              </a:rPr>
              <a:t>+5.8pp</a:t>
            </a:r>
          </a:p>
        </p:txBody>
      </p:sp>
      <p:sp>
        <p:nvSpPr>
          <p:cNvPr id="29" name="TextBox 28"/>
          <p:cNvSpPr txBox="1"/>
          <p:nvPr/>
        </p:nvSpPr>
        <p:spPr>
          <a:xfrm>
            <a:off x="9052560" y="5074920"/>
            <a:ext cx="2468880" cy="365760"/>
          </a:xfrm>
          <a:prstGeom prst="rect">
            <a:avLst/>
          </a:prstGeom>
          <a:noFill/>
        </p:spPr>
        <p:txBody>
          <a:bodyPr wrap="square">
            <a:spAutoFit/>
          </a:bodyPr>
          <a:lstStyle/>
          <a:p>
            <a:pPr algn="l"/>
            <a:r>
              <a:rPr sz="1200" b="0" i="0">
                <a:solidFill>
                  <a:srgbClr val="1A1612"/>
                </a:solidFill>
                <a:latin typeface="Calibri"/>
              </a:rPr>
              <a:t>obesidad varones 06→22</a:t>
            </a:r>
          </a:p>
        </p:txBody>
      </p:sp>
      <p:sp>
        <p:nvSpPr>
          <p:cNvPr id="30" name="TextBox 29"/>
          <p:cNvSpPr txBox="1"/>
          <p:nvPr/>
        </p:nvSpPr>
        <p:spPr>
          <a:xfrm>
            <a:off x="9052560" y="5532120"/>
            <a:ext cx="2468880" cy="274320"/>
          </a:xfrm>
          <a:prstGeom prst="rect">
            <a:avLst/>
          </a:prstGeom>
          <a:noFill/>
        </p:spPr>
        <p:txBody>
          <a:bodyPr wrap="square">
            <a:spAutoFit/>
          </a:bodyPr>
          <a:lstStyle/>
          <a:p>
            <a:pPr algn="l"/>
            <a:r>
              <a:rPr sz="800" b="0" i="0">
                <a:solidFill>
                  <a:srgbClr val="7A7368"/>
                </a:solidFill>
                <a:latin typeface="Consolas"/>
              </a:rPr>
              <a:t>ENSANUT Continua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DASHBOARD 02  ·  EL MÉTODO</a:t>
            </a:r>
          </a:p>
        </p:txBody>
      </p:sp>
      <p:sp>
        <p:nvSpPr>
          <p:cNvPr id="4" name="TextBox 3"/>
          <p:cNvSpPr txBox="1"/>
          <p:nvPr/>
        </p:nvSpPr>
        <p:spPr>
          <a:xfrm>
            <a:off x="548640" y="685800"/>
            <a:ext cx="10972800" cy="457200"/>
          </a:xfrm>
          <a:prstGeom prst="rect">
            <a:avLst/>
          </a:prstGeom>
          <a:noFill/>
        </p:spPr>
        <p:txBody>
          <a:bodyPr wrap="square">
            <a:spAutoFit/>
          </a:bodyPr>
          <a:lstStyle/>
          <a:p>
            <a:pPr algn="l"/>
            <a:r>
              <a:rPr sz="2800" b="1" i="0">
                <a:solidFill>
                  <a:srgbClr val="1A1612"/>
                </a:solidFill>
                <a:latin typeface="Calibri"/>
              </a:rPr>
              <a:t>Cinco fases. Una cadena de evidencia.</a:t>
            </a:r>
          </a:p>
        </p:txBody>
      </p:sp>
      <p:sp>
        <p:nvSpPr>
          <p:cNvPr id="5" name="Rectangle 4"/>
          <p:cNvSpPr/>
          <p:nvPr/>
        </p:nvSpPr>
        <p:spPr>
          <a:xfrm>
            <a:off x="457200" y="1463040"/>
            <a:ext cx="2240280" cy="3657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463040"/>
            <a:ext cx="224028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08760"/>
            <a:ext cx="2240280" cy="731520"/>
          </a:xfrm>
          <a:prstGeom prst="rect">
            <a:avLst/>
          </a:prstGeom>
          <a:noFill/>
        </p:spPr>
        <p:txBody>
          <a:bodyPr wrap="square">
            <a:spAutoFit/>
          </a:bodyPr>
          <a:lstStyle/>
          <a:p>
            <a:pPr algn="ctr"/>
            <a:r>
              <a:rPr sz="5000" b="1" i="0">
                <a:solidFill>
                  <a:srgbClr val="FDF8F1"/>
                </a:solidFill>
                <a:latin typeface="Calibri"/>
              </a:rPr>
              <a:t>01</a:t>
            </a:r>
          </a:p>
        </p:txBody>
      </p:sp>
      <p:sp>
        <p:nvSpPr>
          <p:cNvPr id="8" name="TextBox 7"/>
          <p:cNvSpPr txBox="1"/>
          <p:nvPr/>
        </p:nvSpPr>
        <p:spPr>
          <a:xfrm>
            <a:off x="594360" y="2468880"/>
            <a:ext cx="1965960" cy="457200"/>
          </a:xfrm>
          <a:prstGeom prst="rect">
            <a:avLst/>
          </a:prstGeom>
          <a:noFill/>
        </p:spPr>
        <p:txBody>
          <a:bodyPr wrap="square">
            <a:spAutoFit/>
          </a:bodyPr>
          <a:lstStyle/>
          <a:p>
            <a:pPr algn="ctr"/>
            <a:r>
              <a:rPr sz="1600" b="1" i="0">
                <a:solidFill>
                  <a:srgbClr val="B8862A"/>
                </a:solidFill>
                <a:latin typeface="Calibri"/>
              </a:rPr>
              <a:t>Regresión</a:t>
            </a:r>
          </a:p>
        </p:txBody>
      </p:sp>
      <p:sp>
        <p:nvSpPr>
          <p:cNvPr id="9" name="TextBox 8"/>
          <p:cNvSpPr txBox="1"/>
          <p:nvPr/>
        </p:nvSpPr>
        <p:spPr>
          <a:xfrm>
            <a:off x="594360" y="3108960"/>
            <a:ext cx="1965960" cy="1371600"/>
          </a:xfrm>
          <a:prstGeom prst="rect">
            <a:avLst/>
          </a:prstGeom>
          <a:noFill/>
        </p:spPr>
        <p:txBody>
          <a:bodyPr wrap="square">
            <a:spAutoFit/>
          </a:bodyPr>
          <a:lstStyle/>
          <a:p>
            <a:pPr algn="ctr"/>
            <a:r>
              <a:rPr sz="1200" b="0" i="0">
                <a:solidFill>
                  <a:srgbClr val="FDF8F1"/>
                </a:solidFill>
                <a:latin typeface="Calibri"/>
              </a:rPr>
              <a:t>32 estados
OLS + diagnósticos</a:t>
            </a:r>
          </a:p>
        </p:txBody>
      </p:sp>
      <p:sp>
        <p:nvSpPr>
          <p:cNvPr id="10" name="TextBox 9"/>
          <p:cNvSpPr txBox="1"/>
          <p:nvPr/>
        </p:nvSpPr>
        <p:spPr>
          <a:xfrm>
            <a:off x="594360" y="4663440"/>
            <a:ext cx="1965960" cy="365760"/>
          </a:xfrm>
          <a:prstGeom prst="rect">
            <a:avLst/>
          </a:prstGeom>
          <a:noFill/>
        </p:spPr>
        <p:txBody>
          <a:bodyPr wrap="square">
            <a:spAutoFit/>
          </a:bodyPr>
          <a:lstStyle/>
          <a:p>
            <a:pPr algn="ctr"/>
            <a:r>
              <a:rPr sz="800" b="0" i="0">
                <a:solidFill>
                  <a:srgbClr val="C8BEB0"/>
                </a:solidFill>
                <a:latin typeface="Consolas"/>
              </a:rPr>
              <a:t>DIAGNÓSTICO</a:t>
            </a:r>
          </a:p>
        </p:txBody>
      </p:sp>
      <p:sp>
        <p:nvSpPr>
          <p:cNvPr id="11" name="Rectangle 10"/>
          <p:cNvSpPr/>
          <p:nvPr/>
        </p:nvSpPr>
        <p:spPr>
          <a:xfrm>
            <a:off x="2788920" y="1463040"/>
            <a:ext cx="2240280" cy="3657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20" y="1463040"/>
            <a:ext cx="224028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88920" y="1508760"/>
            <a:ext cx="2240280" cy="731520"/>
          </a:xfrm>
          <a:prstGeom prst="rect">
            <a:avLst/>
          </a:prstGeom>
          <a:noFill/>
        </p:spPr>
        <p:txBody>
          <a:bodyPr wrap="square">
            <a:spAutoFit/>
          </a:bodyPr>
          <a:lstStyle/>
          <a:p>
            <a:pPr algn="ctr"/>
            <a:r>
              <a:rPr sz="5000" b="1" i="0">
                <a:solidFill>
                  <a:srgbClr val="FDF8F1"/>
                </a:solidFill>
                <a:latin typeface="Calibri"/>
              </a:rPr>
              <a:t>02</a:t>
            </a:r>
          </a:p>
        </p:txBody>
      </p:sp>
      <p:sp>
        <p:nvSpPr>
          <p:cNvPr id="14" name="TextBox 13"/>
          <p:cNvSpPr txBox="1"/>
          <p:nvPr/>
        </p:nvSpPr>
        <p:spPr>
          <a:xfrm>
            <a:off x="2926080" y="2468880"/>
            <a:ext cx="1965960" cy="457200"/>
          </a:xfrm>
          <a:prstGeom prst="rect">
            <a:avLst/>
          </a:prstGeom>
          <a:noFill/>
        </p:spPr>
        <p:txBody>
          <a:bodyPr wrap="square">
            <a:spAutoFit/>
          </a:bodyPr>
          <a:lstStyle/>
          <a:p>
            <a:pPr algn="ctr"/>
            <a:r>
              <a:rPr sz="1600" b="1" i="0">
                <a:solidFill>
                  <a:srgbClr val="B8862A"/>
                </a:solidFill>
                <a:latin typeface="Calibri"/>
              </a:rPr>
              <a:t>Datasets ext.</a:t>
            </a:r>
          </a:p>
        </p:txBody>
      </p:sp>
      <p:sp>
        <p:nvSpPr>
          <p:cNvPr id="15" name="TextBox 14"/>
          <p:cNvSpPr txBox="1"/>
          <p:nvPr/>
        </p:nvSpPr>
        <p:spPr>
          <a:xfrm>
            <a:off x="2926080" y="3108960"/>
            <a:ext cx="1965960" cy="1371600"/>
          </a:xfrm>
          <a:prstGeom prst="rect">
            <a:avLst/>
          </a:prstGeom>
          <a:noFill/>
        </p:spPr>
        <p:txBody>
          <a:bodyPr wrap="square">
            <a:spAutoFit/>
          </a:bodyPr>
          <a:lstStyle/>
          <a:p>
            <a:pPr algn="ctr"/>
            <a:r>
              <a:rPr sz="1200" b="0" i="0">
                <a:solidFill>
                  <a:srgbClr val="FDF8F1"/>
                </a:solidFill>
                <a:latin typeface="Calibri"/>
              </a:rPr>
              <a:t>ENSANUT · ENIGH
Morbilidad</a:t>
            </a:r>
          </a:p>
        </p:txBody>
      </p:sp>
      <p:sp>
        <p:nvSpPr>
          <p:cNvPr id="16" name="TextBox 15"/>
          <p:cNvSpPr txBox="1"/>
          <p:nvPr/>
        </p:nvSpPr>
        <p:spPr>
          <a:xfrm>
            <a:off x="2926080" y="4663440"/>
            <a:ext cx="1965960" cy="365760"/>
          </a:xfrm>
          <a:prstGeom prst="rect">
            <a:avLst/>
          </a:prstGeom>
          <a:noFill/>
        </p:spPr>
        <p:txBody>
          <a:bodyPr wrap="square">
            <a:spAutoFit/>
          </a:bodyPr>
          <a:lstStyle/>
          <a:p>
            <a:pPr algn="ctr"/>
            <a:r>
              <a:rPr sz="800" b="0" i="0">
                <a:solidFill>
                  <a:srgbClr val="C8BEB0"/>
                </a:solidFill>
                <a:latin typeface="Consolas"/>
              </a:rPr>
              <a:t>DIAGNÓSTICO</a:t>
            </a:r>
          </a:p>
        </p:txBody>
      </p:sp>
      <p:sp>
        <p:nvSpPr>
          <p:cNvPr id="17" name="Rectangle 16"/>
          <p:cNvSpPr/>
          <p:nvPr/>
        </p:nvSpPr>
        <p:spPr>
          <a:xfrm>
            <a:off x="5120640" y="1463040"/>
            <a:ext cx="2240280" cy="3657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40" y="1463040"/>
            <a:ext cx="224028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0640" y="1508760"/>
            <a:ext cx="2240280" cy="731520"/>
          </a:xfrm>
          <a:prstGeom prst="rect">
            <a:avLst/>
          </a:prstGeom>
          <a:noFill/>
        </p:spPr>
        <p:txBody>
          <a:bodyPr wrap="square">
            <a:spAutoFit/>
          </a:bodyPr>
          <a:lstStyle/>
          <a:p>
            <a:pPr algn="ctr"/>
            <a:r>
              <a:rPr sz="5000" b="1" i="0">
                <a:solidFill>
                  <a:srgbClr val="FDF8F1"/>
                </a:solidFill>
                <a:latin typeface="Calibri"/>
              </a:rPr>
              <a:t>03</a:t>
            </a:r>
          </a:p>
        </p:txBody>
      </p:sp>
      <p:sp>
        <p:nvSpPr>
          <p:cNvPr id="20" name="TextBox 19"/>
          <p:cNvSpPr txBox="1"/>
          <p:nvPr/>
        </p:nvSpPr>
        <p:spPr>
          <a:xfrm>
            <a:off x="5257800" y="2468880"/>
            <a:ext cx="1965960" cy="457200"/>
          </a:xfrm>
          <a:prstGeom prst="rect">
            <a:avLst/>
          </a:prstGeom>
          <a:noFill/>
        </p:spPr>
        <p:txBody>
          <a:bodyPr wrap="square">
            <a:spAutoFit/>
          </a:bodyPr>
          <a:lstStyle/>
          <a:p>
            <a:pPr algn="ctr"/>
            <a:r>
              <a:rPr sz="1600" b="1" i="0">
                <a:solidFill>
                  <a:srgbClr val="B8862A"/>
                </a:solidFill>
                <a:latin typeface="Calibri"/>
              </a:rPr>
              <a:t>Encuesta</a:t>
            </a:r>
          </a:p>
        </p:txBody>
      </p:sp>
      <p:sp>
        <p:nvSpPr>
          <p:cNvPr id="21" name="TextBox 20"/>
          <p:cNvSpPr txBox="1"/>
          <p:nvPr/>
        </p:nvSpPr>
        <p:spPr>
          <a:xfrm>
            <a:off x="5257800" y="3108960"/>
            <a:ext cx="1965960" cy="1371600"/>
          </a:xfrm>
          <a:prstGeom prst="rect">
            <a:avLst/>
          </a:prstGeom>
          <a:noFill/>
        </p:spPr>
        <p:txBody>
          <a:bodyPr wrap="square">
            <a:spAutoFit/>
          </a:bodyPr>
          <a:lstStyle/>
          <a:p>
            <a:pPr algn="ctr"/>
            <a:r>
              <a:rPr sz="1200" b="0" i="0">
                <a:solidFill>
                  <a:srgbClr val="FDF8F1"/>
                </a:solidFill>
                <a:latin typeface="Calibri"/>
              </a:rPr>
              <a:t>104 personas
SLP, dic-ene</a:t>
            </a:r>
          </a:p>
        </p:txBody>
      </p:sp>
      <p:sp>
        <p:nvSpPr>
          <p:cNvPr id="22" name="TextBox 21"/>
          <p:cNvSpPr txBox="1"/>
          <p:nvPr/>
        </p:nvSpPr>
        <p:spPr>
          <a:xfrm>
            <a:off x="5257800" y="4663440"/>
            <a:ext cx="1965960" cy="365760"/>
          </a:xfrm>
          <a:prstGeom prst="rect">
            <a:avLst/>
          </a:prstGeom>
          <a:noFill/>
        </p:spPr>
        <p:txBody>
          <a:bodyPr wrap="square">
            <a:spAutoFit/>
          </a:bodyPr>
          <a:lstStyle/>
          <a:p>
            <a:pPr algn="ctr"/>
            <a:r>
              <a:rPr sz="800" b="0" i="0">
                <a:solidFill>
                  <a:srgbClr val="C8BEB0"/>
                </a:solidFill>
                <a:latin typeface="Consolas"/>
              </a:rPr>
              <a:t>DIAGNÓSTICO</a:t>
            </a:r>
          </a:p>
        </p:txBody>
      </p:sp>
      <p:sp>
        <p:nvSpPr>
          <p:cNvPr id="23" name="Rectangle 22"/>
          <p:cNvSpPr/>
          <p:nvPr/>
        </p:nvSpPr>
        <p:spPr>
          <a:xfrm>
            <a:off x="7452360" y="1463040"/>
            <a:ext cx="2240280" cy="3657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52360" y="1463040"/>
            <a:ext cx="224028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1508760"/>
            <a:ext cx="2240280" cy="731520"/>
          </a:xfrm>
          <a:prstGeom prst="rect">
            <a:avLst/>
          </a:prstGeom>
          <a:noFill/>
        </p:spPr>
        <p:txBody>
          <a:bodyPr wrap="square">
            <a:spAutoFit/>
          </a:bodyPr>
          <a:lstStyle/>
          <a:p>
            <a:pPr algn="ctr"/>
            <a:r>
              <a:rPr sz="5000" b="1" i="0">
                <a:solidFill>
                  <a:srgbClr val="FDF8F1"/>
                </a:solidFill>
                <a:latin typeface="Calibri"/>
              </a:rPr>
              <a:t>04</a:t>
            </a:r>
          </a:p>
        </p:txBody>
      </p:sp>
      <p:sp>
        <p:nvSpPr>
          <p:cNvPr id="26" name="TextBox 25"/>
          <p:cNvSpPr txBox="1"/>
          <p:nvPr/>
        </p:nvSpPr>
        <p:spPr>
          <a:xfrm>
            <a:off x="7589520" y="2468880"/>
            <a:ext cx="1965960" cy="457200"/>
          </a:xfrm>
          <a:prstGeom prst="rect">
            <a:avLst/>
          </a:prstGeom>
          <a:noFill/>
        </p:spPr>
        <p:txBody>
          <a:bodyPr wrap="square">
            <a:spAutoFit/>
          </a:bodyPr>
          <a:lstStyle/>
          <a:p>
            <a:pPr algn="ctr"/>
            <a:r>
              <a:rPr sz="1600" b="1" i="0">
                <a:solidFill>
                  <a:srgbClr val="B8862A"/>
                </a:solidFill>
                <a:latin typeface="Calibri"/>
              </a:rPr>
              <a:t>Intervención</a:t>
            </a:r>
          </a:p>
        </p:txBody>
      </p:sp>
      <p:sp>
        <p:nvSpPr>
          <p:cNvPr id="27" name="TextBox 26"/>
          <p:cNvSpPr txBox="1"/>
          <p:nvPr/>
        </p:nvSpPr>
        <p:spPr>
          <a:xfrm>
            <a:off x="7589520" y="3108960"/>
            <a:ext cx="1965960" cy="1371600"/>
          </a:xfrm>
          <a:prstGeom prst="rect">
            <a:avLst/>
          </a:prstGeom>
          <a:noFill/>
        </p:spPr>
        <p:txBody>
          <a:bodyPr wrap="square">
            <a:spAutoFit/>
          </a:bodyPr>
          <a:lstStyle/>
          <a:p>
            <a:pPr algn="ctr"/>
            <a:r>
              <a:rPr sz="1200" b="0" i="0">
                <a:solidFill>
                  <a:srgbClr val="FDF8F1"/>
                </a:solidFill>
                <a:latin typeface="Calibri"/>
              </a:rPr>
              <a:t>EF + Vida Saludable
NEM 2022</a:t>
            </a:r>
          </a:p>
        </p:txBody>
      </p:sp>
      <p:sp>
        <p:nvSpPr>
          <p:cNvPr id="28" name="TextBox 27"/>
          <p:cNvSpPr txBox="1"/>
          <p:nvPr/>
        </p:nvSpPr>
        <p:spPr>
          <a:xfrm>
            <a:off x="7589520" y="4663440"/>
            <a:ext cx="1965960" cy="365760"/>
          </a:xfrm>
          <a:prstGeom prst="rect">
            <a:avLst/>
          </a:prstGeom>
          <a:noFill/>
        </p:spPr>
        <p:txBody>
          <a:bodyPr wrap="square">
            <a:spAutoFit/>
          </a:bodyPr>
          <a:lstStyle/>
          <a:p>
            <a:pPr algn="ctr"/>
            <a:r>
              <a:rPr sz="800" b="0" i="0">
                <a:solidFill>
                  <a:srgbClr val="C8BEB0"/>
                </a:solidFill>
                <a:latin typeface="Consolas"/>
              </a:rPr>
              <a:t>DISEÑO + PROYECCIÓN</a:t>
            </a:r>
          </a:p>
        </p:txBody>
      </p:sp>
      <p:sp>
        <p:nvSpPr>
          <p:cNvPr id="29" name="Rectangle 28"/>
          <p:cNvSpPr/>
          <p:nvPr/>
        </p:nvSpPr>
        <p:spPr>
          <a:xfrm>
            <a:off x="9784080" y="1463040"/>
            <a:ext cx="2240280" cy="36576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84080" y="1463040"/>
            <a:ext cx="2240280" cy="82296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84080" y="1508760"/>
            <a:ext cx="2240280" cy="731520"/>
          </a:xfrm>
          <a:prstGeom prst="rect">
            <a:avLst/>
          </a:prstGeom>
          <a:noFill/>
        </p:spPr>
        <p:txBody>
          <a:bodyPr wrap="square">
            <a:spAutoFit/>
          </a:bodyPr>
          <a:lstStyle/>
          <a:p>
            <a:pPr algn="ctr"/>
            <a:r>
              <a:rPr sz="5000" b="1" i="0">
                <a:solidFill>
                  <a:srgbClr val="FDF8F1"/>
                </a:solidFill>
                <a:latin typeface="Calibri"/>
              </a:rPr>
              <a:t>05</a:t>
            </a:r>
          </a:p>
        </p:txBody>
      </p:sp>
      <p:sp>
        <p:nvSpPr>
          <p:cNvPr id="32" name="TextBox 31"/>
          <p:cNvSpPr txBox="1"/>
          <p:nvPr/>
        </p:nvSpPr>
        <p:spPr>
          <a:xfrm>
            <a:off x="9921240" y="2468880"/>
            <a:ext cx="1965960" cy="457200"/>
          </a:xfrm>
          <a:prstGeom prst="rect">
            <a:avLst/>
          </a:prstGeom>
          <a:noFill/>
        </p:spPr>
        <p:txBody>
          <a:bodyPr wrap="square">
            <a:spAutoFit/>
          </a:bodyPr>
          <a:lstStyle/>
          <a:p>
            <a:pPr algn="ctr"/>
            <a:r>
              <a:rPr sz="1600" b="1" i="0">
                <a:solidFill>
                  <a:srgbClr val="B8862A"/>
                </a:solidFill>
                <a:latin typeface="Calibri"/>
              </a:rPr>
              <a:t>Monte Carlo</a:t>
            </a:r>
          </a:p>
        </p:txBody>
      </p:sp>
      <p:sp>
        <p:nvSpPr>
          <p:cNvPr id="33" name="TextBox 32"/>
          <p:cNvSpPr txBox="1"/>
          <p:nvPr/>
        </p:nvSpPr>
        <p:spPr>
          <a:xfrm>
            <a:off x="9921240" y="3108960"/>
            <a:ext cx="1965960" cy="1371600"/>
          </a:xfrm>
          <a:prstGeom prst="rect">
            <a:avLst/>
          </a:prstGeom>
          <a:noFill/>
        </p:spPr>
        <p:txBody>
          <a:bodyPr wrap="square">
            <a:spAutoFit/>
          </a:bodyPr>
          <a:lstStyle/>
          <a:p>
            <a:pPr algn="ctr"/>
            <a:r>
              <a:rPr sz="1200" b="0" i="0">
                <a:solidFill>
                  <a:srgbClr val="FDF8F1"/>
                </a:solidFill>
                <a:latin typeface="Calibri"/>
              </a:rPr>
              <a:t>5,000 corridas
5 escenarios</a:t>
            </a:r>
          </a:p>
        </p:txBody>
      </p:sp>
      <p:sp>
        <p:nvSpPr>
          <p:cNvPr id="34" name="TextBox 33"/>
          <p:cNvSpPr txBox="1"/>
          <p:nvPr/>
        </p:nvSpPr>
        <p:spPr>
          <a:xfrm>
            <a:off x="9921240" y="4663440"/>
            <a:ext cx="1965960" cy="365760"/>
          </a:xfrm>
          <a:prstGeom prst="rect">
            <a:avLst/>
          </a:prstGeom>
          <a:noFill/>
        </p:spPr>
        <p:txBody>
          <a:bodyPr wrap="square">
            <a:spAutoFit/>
          </a:bodyPr>
          <a:lstStyle/>
          <a:p>
            <a:pPr algn="ctr"/>
            <a:r>
              <a:rPr sz="800" b="0" i="0">
                <a:solidFill>
                  <a:srgbClr val="C8BEB0"/>
                </a:solidFill>
                <a:latin typeface="Consolas"/>
              </a:rPr>
              <a:t>DISEÑO + PROYECCIÓN</a:t>
            </a:r>
          </a:p>
        </p:txBody>
      </p:sp>
      <p:sp>
        <p:nvSpPr>
          <p:cNvPr id="35" name="Rectangle 34"/>
          <p:cNvSpPr/>
          <p:nvPr/>
        </p:nvSpPr>
        <p:spPr>
          <a:xfrm>
            <a:off x="457200" y="5440680"/>
            <a:ext cx="6766560" cy="32004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5477256"/>
            <a:ext cx="6766560" cy="274320"/>
          </a:xfrm>
          <a:prstGeom prst="rect">
            <a:avLst/>
          </a:prstGeom>
          <a:noFill/>
        </p:spPr>
        <p:txBody>
          <a:bodyPr wrap="square">
            <a:spAutoFit/>
          </a:bodyPr>
          <a:lstStyle/>
          <a:p>
            <a:pPr algn="ctr"/>
            <a:r>
              <a:rPr sz="1000" b="0" i="0">
                <a:solidFill>
                  <a:srgbClr val="B8862A"/>
                </a:solidFill>
                <a:latin typeface="Consolas"/>
              </a:rPr>
              <a:t>FASES 1 → 2 → 3   ·   DIAGNOSTICAR LA CAUSA RAÍZ</a:t>
            </a:r>
          </a:p>
        </p:txBody>
      </p:sp>
      <p:sp>
        <p:nvSpPr>
          <p:cNvPr id="37" name="Rectangle 36"/>
          <p:cNvSpPr/>
          <p:nvPr/>
        </p:nvSpPr>
        <p:spPr>
          <a:xfrm>
            <a:off x="7315200" y="5440680"/>
            <a:ext cx="4434840" cy="32004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15200" y="5477256"/>
            <a:ext cx="4434840" cy="274320"/>
          </a:xfrm>
          <a:prstGeom prst="rect">
            <a:avLst/>
          </a:prstGeom>
          <a:noFill/>
        </p:spPr>
        <p:txBody>
          <a:bodyPr wrap="square">
            <a:spAutoFit/>
          </a:bodyPr>
          <a:lstStyle/>
          <a:p>
            <a:pPr algn="ctr"/>
            <a:r>
              <a:rPr sz="1000" b="0" i="0">
                <a:solidFill>
                  <a:srgbClr val="FDF8F1"/>
                </a:solidFill>
                <a:latin typeface="Consolas"/>
              </a:rPr>
              <a:t>FASES 4 → 5   ·   DISEÑAR Y PROYECTAR</a:t>
            </a:r>
          </a:p>
        </p:txBody>
      </p:sp>
      <p:sp>
        <p:nvSpPr>
          <p:cNvPr id="39" name="TextBox 38"/>
          <p:cNvSpPr txBox="1"/>
          <p:nvPr/>
        </p:nvSpPr>
        <p:spPr>
          <a:xfrm>
            <a:off x="457200" y="5943600"/>
            <a:ext cx="11247120" cy="365760"/>
          </a:xfrm>
          <a:prstGeom prst="rect">
            <a:avLst/>
          </a:prstGeom>
          <a:noFill/>
        </p:spPr>
        <p:txBody>
          <a:bodyPr wrap="square">
            <a:spAutoFit/>
          </a:bodyPr>
          <a:lstStyle/>
          <a:p>
            <a:pPr algn="ctr"/>
            <a:r>
              <a:rPr sz="1200" b="0" i="1">
                <a:solidFill>
                  <a:srgbClr val="7A7368"/>
                </a:solidFill>
                <a:latin typeface="Calibri"/>
              </a:rPr>
              <a:t>Reportamos todos los resultados — incluyendo los nulos y no significativos. La honestidad estadística es parte del rigor.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DASHBOARD 03  ·  LA ENCUESTA  ·  N = 104</a:t>
            </a:r>
          </a:p>
        </p:txBody>
      </p:sp>
      <p:sp>
        <p:nvSpPr>
          <p:cNvPr id="4" name="TextBox 3"/>
          <p:cNvSpPr txBox="1"/>
          <p:nvPr/>
        </p:nvSpPr>
        <p:spPr>
          <a:xfrm>
            <a:off x="548640" y="685800"/>
            <a:ext cx="10972800" cy="457200"/>
          </a:xfrm>
          <a:prstGeom prst="rect">
            <a:avLst/>
          </a:prstGeom>
          <a:noFill/>
        </p:spPr>
        <p:txBody>
          <a:bodyPr wrap="square">
            <a:spAutoFit/>
          </a:bodyPr>
          <a:lstStyle/>
          <a:p>
            <a:pPr algn="l"/>
            <a:r>
              <a:rPr sz="2800" b="1" i="0">
                <a:solidFill>
                  <a:srgbClr val="1A1612"/>
                </a:solidFill>
                <a:latin typeface="Calibri"/>
              </a:rPr>
              <a:t>Las personas reales nos dijeron la causa.</a:t>
            </a:r>
          </a:p>
        </p:txBody>
      </p:sp>
      <p:sp>
        <p:nvSpPr>
          <p:cNvPr id="5" name="Rectangle 4"/>
          <p:cNvSpPr/>
          <p:nvPr/>
        </p:nvSpPr>
        <p:spPr>
          <a:xfrm>
            <a:off x="548640" y="1371600"/>
            <a:ext cx="11064240"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444752"/>
            <a:ext cx="10972800" cy="365760"/>
          </a:xfrm>
          <a:prstGeom prst="rect">
            <a:avLst/>
          </a:prstGeom>
          <a:noFill/>
        </p:spPr>
        <p:txBody>
          <a:bodyPr wrap="square">
            <a:spAutoFit/>
          </a:bodyPr>
          <a:lstStyle/>
          <a:p>
            <a:pPr algn="l"/>
            <a:r>
              <a:rPr sz="1000" b="0" i="0">
                <a:solidFill>
                  <a:srgbClr val="B8862A"/>
                </a:solidFill>
                <a:latin typeface="Consolas"/>
              </a:rPr>
              <a:t>104 RESPONDENTES  ·  SAN LUIS POTOSÍ  ·  DIC 2025 – ENE 2026  ·  2 PISTAS (PADRES / NO PADRES)</a:t>
            </a:r>
          </a:p>
        </p:txBody>
      </p:sp>
      <p:sp>
        <p:nvSpPr>
          <p:cNvPr id="7" name="TextBox 6"/>
          <p:cNvSpPr txBox="1"/>
          <p:nvPr/>
        </p:nvSpPr>
        <p:spPr>
          <a:xfrm>
            <a:off x="548640" y="2011680"/>
            <a:ext cx="5486400" cy="320040"/>
          </a:xfrm>
          <a:prstGeom prst="rect">
            <a:avLst/>
          </a:prstGeom>
          <a:noFill/>
        </p:spPr>
        <p:txBody>
          <a:bodyPr wrap="square">
            <a:spAutoFit/>
          </a:bodyPr>
          <a:lstStyle/>
          <a:p>
            <a:pPr algn="l"/>
            <a:r>
              <a:rPr sz="1200" b="1" i="0">
                <a:solidFill>
                  <a:srgbClr val="B8332A"/>
                </a:solidFill>
                <a:latin typeface="Consolas"/>
              </a:rPr>
              <a:t>¿POR QUÉ NO COCINAS?</a:t>
            </a:r>
          </a:p>
        </p:txBody>
      </p:sp>
      <p:sp>
        <p:nvSpPr>
          <p:cNvPr id="8" name="Rectangle 7"/>
          <p:cNvSpPr/>
          <p:nvPr/>
        </p:nvSpPr>
        <p:spPr>
          <a:xfrm>
            <a:off x="548640" y="2423160"/>
            <a:ext cx="4343400" cy="329184"/>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468879"/>
            <a:ext cx="4251960" cy="274320"/>
          </a:xfrm>
          <a:prstGeom prst="rect">
            <a:avLst/>
          </a:prstGeom>
          <a:noFill/>
        </p:spPr>
        <p:txBody>
          <a:bodyPr wrap="square">
            <a:spAutoFit/>
          </a:bodyPr>
          <a:lstStyle/>
          <a:p>
            <a:pPr algn="l"/>
            <a:r>
              <a:rPr sz="1400" b="1" i="0">
                <a:solidFill>
                  <a:srgbClr val="FDF8F1"/>
                </a:solidFill>
                <a:latin typeface="Calibri"/>
              </a:rPr>
              <a:t>38</a:t>
            </a:r>
          </a:p>
        </p:txBody>
      </p:sp>
      <p:sp>
        <p:nvSpPr>
          <p:cNvPr id="10" name="TextBox 9"/>
          <p:cNvSpPr txBox="1"/>
          <p:nvPr/>
        </p:nvSpPr>
        <p:spPr>
          <a:xfrm>
            <a:off x="4983479" y="2468879"/>
            <a:ext cx="4114800" cy="274320"/>
          </a:xfrm>
          <a:prstGeom prst="rect">
            <a:avLst/>
          </a:prstGeom>
          <a:noFill/>
        </p:spPr>
        <p:txBody>
          <a:bodyPr wrap="square">
            <a:spAutoFit/>
          </a:bodyPr>
          <a:lstStyle/>
          <a:p>
            <a:pPr algn="l"/>
            <a:r>
              <a:rPr sz="1100" b="0" i="0">
                <a:solidFill>
                  <a:srgbClr val="1A1612"/>
                </a:solidFill>
                <a:latin typeface="Calibri"/>
              </a:rPr>
              <a:t>No tengo tiempo (trabajo)</a:t>
            </a:r>
          </a:p>
        </p:txBody>
      </p:sp>
      <p:sp>
        <p:nvSpPr>
          <p:cNvPr id="11" name="Rectangle 10"/>
          <p:cNvSpPr/>
          <p:nvPr/>
        </p:nvSpPr>
        <p:spPr>
          <a:xfrm>
            <a:off x="548640" y="2834640"/>
            <a:ext cx="3200400" cy="329184"/>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880360"/>
            <a:ext cx="3108960" cy="274320"/>
          </a:xfrm>
          <a:prstGeom prst="rect">
            <a:avLst/>
          </a:prstGeom>
          <a:noFill/>
        </p:spPr>
        <p:txBody>
          <a:bodyPr wrap="square">
            <a:spAutoFit/>
          </a:bodyPr>
          <a:lstStyle/>
          <a:p>
            <a:pPr algn="l"/>
            <a:r>
              <a:rPr sz="1400" b="1" i="0">
                <a:solidFill>
                  <a:srgbClr val="FDF8F1"/>
                </a:solidFill>
                <a:latin typeface="Calibri"/>
              </a:rPr>
              <a:t>28</a:t>
            </a:r>
          </a:p>
        </p:txBody>
      </p:sp>
      <p:sp>
        <p:nvSpPr>
          <p:cNvPr id="13" name="TextBox 12"/>
          <p:cNvSpPr txBox="1"/>
          <p:nvPr/>
        </p:nvSpPr>
        <p:spPr>
          <a:xfrm>
            <a:off x="3840479" y="2880360"/>
            <a:ext cx="4114800" cy="274320"/>
          </a:xfrm>
          <a:prstGeom prst="rect">
            <a:avLst/>
          </a:prstGeom>
          <a:noFill/>
        </p:spPr>
        <p:txBody>
          <a:bodyPr wrap="square">
            <a:spAutoFit/>
          </a:bodyPr>
          <a:lstStyle/>
          <a:p>
            <a:pPr algn="l"/>
            <a:r>
              <a:rPr sz="1100" b="0" i="0">
                <a:solidFill>
                  <a:srgbClr val="1A1612"/>
                </a:solidFill>
                <a:latin typeface="Calibri"/>
              </a:rPr>
              <a:t>No me gusta cocinar</a:t>
            </a:r>
          </a:p>
        </p:txBody>
      </p:sp>
      <p:sp>
        <p:nvSpPr>
          <p:cNvPr id="14" name="Rectangle 13"/>
          <p:cNvSpPr/>
          <p:nvPr/>
        </p:nvSpPr>
        <p:spPr>
          <a:xfrm>
            <a:off x="548640" y="3246120"/>
            <a:ext cx="1371600" cy="329184"/>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3291839"/>
            <a:ext cx="1280160" cy="274320"/>
          </a:xfrm>
          <a:prstGeom prst="rect">
            <a:avLst/>
          </a:prstGeom>
          <a:noFill/>
        </p:spPr>
        <p:txBody>
          <a:bodyPr wrap="square">
            <a:spAutoFit/>
          </a:bodyPr>
          <a:lstStyle/>
          <a:p>
            <a:pPr algn="l"/>
            <a:r>
              <a:rPr sz="1400" b="1" i="0">
                <a:solidFill>
                  <a:srgbClr val="FDF8F1"/>
                </a:solidFill>
                <a:latin typeface="Calibri"/>
              </a:rPr>
              <a:t>12</a:t>
            </a:r>
          </a:p>
        </p:txBody>
      </p:sp>
      <p:sp>
        <p:nvSpPr>
          <p:cNvPr id="16" name="TextBox 15"/>
          <p:cNvSpPr txBox="1"/>
          <p:nvPr/>
        </p:nvSpPr>
        <p:spPr>
          <a:xfrm>
            <a:off x="2011680" y="3291839"/>
            <a:ext cx="4114800" cy="274320"/>
          </a:xfrm>
          <a:prstGeom prst="rect">
            <a:avLst/>
          </a:prstGeom>
          <a:noFill/>
        </p:spPr>
        <p:txBody>
          <a:bodyPr wrap="square">
            <a:spAutoFit/>
          </a:bodyPr>
          <a:lstStyle/>
          <a:p>
            <a:pPr algn="l"/>
            <a:r>
              <a:rPr sz="1100" b="0" i="0">
                <a:solidFill>
                  <a:srgbClr val="1A1612"/>
                </a:solidFill>
                <a:latin typeface="Calibri"/>
              </a:rPr>
              <a:t>Prefiero comprar hecho</a:t>
            </a:r>
          </a:p>
        </p:txBody>
      </p:sp>
      <p:sp>
        <p:nvSpPr>
          <p:cNvPr id="17" name="Rectangle 16"/>
          <p:cNvSpPr/>
          <p:nvPr/>
        </p:nvSpPr>
        <p:spPr>
          <a:xfrm>
            <a:off x="548640" y="3657600"/>
            <a:ext cx="800100" cy="329184"/>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703320"/>
            <a:ext cx="708660" cy="274320"/>
          </a:xfrm>
          <a:prstGeom prst="rect">
            <a:avLst/>
          </a:prstGeom>
          <a:noFill/>
        </p:spPr>
        <p:txBody>
          <a:bodyPr wrap="square">
            <a:spAutoFit/>
          </a:bodyPr>
          <a:lstStyle/>
          <a:p>
            <a:pPr algn="l"/>
            <a:r>
              <a:rPr sz="1400" b="1" i="0">
                <a:solidFill>
                  <a:srgbClr val="FDF8F1"/>
                </a:solidFill>
                <a:latin typeface="Calibri"/>
              </a:rPr>
              <a:t>7</a:t>
            </a:r>
          </a:p>
        </p:txBody>
      </p:sp>
      <p:sp>
        <p:nvSpPr>
          <p:cNvPr id="19" name="TextBox 18"/>
          <p:cNvSpPr txBox="1"/>
          <p:nvPr/>
        </p:nvSpPr>
        <p:spPr>
          <a:xfrm>
            <a:off x="1440180" y="3703320"/>
            <a:ext cx="4114800" cy="274320"/>
          </a:xfrm>
          <a:prstGeom prst="rect">
            <a:avLst/>
          </a:prstGeom>
          <a:noFill/>
        </p:spPr>
        <p:txBody>
          <a:bodyPr wrap="square">
            <a:spAutoFit/>
          </a:bodyPr>
          <a:lstStyle/>
          <a:p>
            <a:pPr algn="l"/>
            <a:r>
              <a:rPr sz="1100" b="0" i="0">
                <a:solidFill>
                  <a:srgbClr val="1A1612"/>
                </a:solidFill>
                <a:latin typeface="Calibri"/>
              </a:rPr>
              <a:t>Estudios / universidad</a:t>
            </a:r>
          </a:p>
        </p:txBody>
      </p:sp>
      <p:sp>
        <p:nvSpPr>
          <p:cNvPr id="20" name="Rectangle 19"/>
          <p:cNvSpPr/>
          <p:nvPr/>
        </p:nvSpPr>
        <p:spPr>
          <a:xfrm>
            <a:off x="548640" y="4069080"/>
            <a:ext cx="685800" cy="329184"/>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114800"/>
            <a:ext cx="594360" cy="274320"/>
          </a:xfrm>
          <a:prstGeom prst="rect">
            <a:avLst/>
          </a:prstGeom>
          <a:noFill/>
        </p:spPr>
        <p:txBody>
          <a:bodyPr wrap="square">
            <a:spAutoFit/>
          </a:bodyPr>
          <a:lstStyle/>
          <a:p>
            <a:pPr algn="l"/>
            <a:r>
              <a:rPr sz="1400" b="1" i="0">
                <a:solidFill>
                  <a:srgbClr val="FDF8F1"/>
                </a:solidFill>
                <a:latin typeface="Calibri"/>
              </a:rPr>
              <a:t>6</a:t>
            </a:r>
          </a:p>
        </p:txBody>
      </p:sp>
      <p:sp>
        <p:nvSpPr>
          <p:cNvPr id="22" name="TextBox 21"/>
          <p:cNvSpPr txBox="1"/>
          <p:nvPr/>
        </p:nvSpPr>
        <p:spPr>
          <a:xfrm>
            <a:off x="1325880" y="4114800"/>
            <a:ext cx="4114800" cy="274320"/>
          </a:xfrm>
          <a:prstGeom prst="rect">
            <a:avLst/>
          </a:prstGeom>
          <a:noFill/>
        </p:spPr>
        <p:txBody>
          <a:bodyPr wrap="square">
            <a:spAutoFit/>
          </a:bodyPr>
          <a:lstStyle/>
          <a:p>
            <a:pPr algn="l"/>
            <a:r>
              <a:rPr sz="1100" b="0" i="0">
                <a:solidFill>
                  <a:srgbClr val="1A1612"/>
                </a:solidFill>
                <a:latin typeface="Calibri"/>
              </a:rPr>
              <a:t>Alguien más cocina</a:t>
            </a:r>
          </a:p>
        </p:txBody>
      </p:sp>
      <p:sp>
        <p:nvSpPr>
          <p:cNvPr id="23" name="Rectangle 22"/>
          <p:cNvSpPr/>
          <p:nvPr/>
        </p:nvSpPr>
        <p:spPr>
          <a:xfrm>
            <a:off x="548640" y="4480560"/>
            <a:ext cx="571500" cy="329184"/>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526280"/>
            <a:ext cx="480060" cy="274320"/>
          </a:xfrm>
          <a:prstGeom prst="rect">
            <a:avLst/>
          </a:prstGeom>
          <a:noFill/>
        </p:spPr>
        <p:txBody>
          <a:bodyPr wrap="square">
            <a:spAutoFit/>
          </a:bodyPr>
          <a:lstStyle/>
          <a:p>
            <a:pPr algn="l"/>
            <a:r>
              <a:rPr sz="1400" b="1" i="0">
                <a:solidFill>
                  <a:srgbClr val="FDF8F1"/>
                </a:solidFill>
                <a:latin typeface="Calibri"/>
              </a:rPr>
              <a:t>5</a:t>
            </a:r>
          </a:p>
        </p:txBody>
      </p:sp>
      <p:sp>
        <p:nvSpPr>
          <p:cNvPr id="25" name="TextBox 24"/>
          <p:cNvSpPr txBox="1"/>
          <p:nvPr/>
        </p:nvSpPr>
        <p:spPr>
          <a:xfrm>
            <a:off x="1211580" y="4526280"/>
            <a:ext cx="4114800" cy="274320"/>
          </a:xfrm>
          <a:prstGeom prst="rect">
            <a:avLst/>
          </a:prstGeom>
          <a:noFill/>
        </p:spPr>
        <p:txBody>
          <a:bodyPr wrap="square">
            <a:spAutoFit/>
          </a:bodyPr>
          <a:lstStyle/>
          <a:p>
            <a:pPr algn="l"/>
            <a:r>
              <a:rPr sz="1100" b="0" i="0">
                <a:solidFill>
                  <a:srgbClr val="1A1612"/>
                </a:solidFill>
                <a:latin typeface="Calibri"/>
              </a:rPr>
              <a:t>No sé cocinar</a:t>
            </a:r>
          </a:p>
        </p:txBody>
      </p:sp>
      <p:sp>
        <p:nvSpPr>
          <p:cNvPr id="26" name="TextBox 25"/>
          <p:cNvSpPr txBox="1"/>
          <p:nvPr/>
        </p:nvSpPr>
        <p:spPr>
          <a:xfrm>
            <a:off x="6400800" y="2011680"/>
            <a:ext cx="5486400" cy="320040"/>
          </a:xfrm>
          <a:prstGeom prst="rect">
            <a:avLst/>
          </a:prstGeom>
          <a:noFill/>
        </p:spPr>
        <p:txBody>
          <a:bodyPr wrap="square">
            <a:spAutoFit/>
          </a:bodyPr>
          <a:lstStyle/>
          <a:p>
            <a:pPr algn="l"/>
            <a:r>
              <a:rPr sz="1200" b="1" i="0">
                <a:solidFill>
                  <a:srgbClr val="B8332A"/>
                </a:solidFill>
                <a:latin typeface="Consolas"/>
              </a:rPr>
              <a:t>¿QUÉ SOLUCIONES PIDES?</a:t>
            </a:r>
          </a:p>
        </p:txBody>
      </p:sp>
      <p:sp>
        <p:nvSpPr>
          <p:cNvPr id="27" name="Rectangle 26"/>
          <p:cNvSpPr/>
          <p:nvPr/>
        </p:nvSpPr>
        <p:spPr>
          <a:xfrm>
            <a:off x="6400800" y="2423160"/>
            <a:ext cx="4686300" cy="411480"/>
          </a:xfrm>
          <a:prstGeom prst="rect">
            <a:avLst/>
          </a:prstGeom>
          <a:solidFill>
            <a:srgbClr val="B88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0" y="2496312"/>
            <a:ext cx="4594860" cy="274320"/>
          </a:xfrm>
          <a:prstGeom prst="rect">
            <a:avLst/>
          </a:prstGeom>
          <a:noFill/>
        </p:spPr>
        <p:txBody>
          <a:bodyPr wrap="square">
            <a:spAutoFit/>
          </a:bodyPr>
          <a:lstStyle/>
          <a:p>
            <a:pPr algn="l"/>
            <a:r>
              <a:rPr sz="1400" b="1" i="0">
                <a:solidFill>
                  <a:srgbClr val="FDF8F1"/>
                </a:solidFill>
                <a:latin typeface="Calibri"/>
              </a:rPr>
              <a:t>41</a:t>
            </a:r>
          </a:p>
        </p:txBody>
      </p:sp>
      <p:sp>
        <p:nvSpPr>
          <p:cNvPr id="29" name="TextBox 28"/>
          <p:cNvSpPr txBox="1"/>
          <p:nvPr/>
        </p:nvSpPr>
        <p:spPr>
          <a:xfrm>
            <a:off x="11178540" y="2496312"/>
            <a:ext cx="4114800" cy="274320"/>
          </a:xfrm>
          <a:prstGeom prst="rect">
            <a:avLst/>
          </a:prstGeom>
          <a:noFill/>
        </p:spPr>
        <p:txBody>
          <a:bodyPr wrap="square">
            <a:spAutoFit/>
          </a:bodyPr>
          <a:lstStyle/>
          <a:p>
            <a:pPr algn="l"/>
            <a:r>
              <a:rPr sz="1100" b="0" i="0">
                <a:solidFill>
                  <a:srgbClr val="1A1612"/>
                </a:solidFill>
                <a:latin typeface="Calibri"/>
              </a:rPr>
              <a:t>Acceso a alimentos saludables</a:t>
            </a:r>
          </a:p>
        </p:txBody>
      </p:sp>
      <p:sp>
        <p:nvSpPr>
          <p:cNvPr id="30" name="Rectangle 29"/>
          <p:cNvSpPr/>
          <p:nvPr/>
        </p:nvSpPr>
        <p:spPr>
          <a:xfrm>
            <a:off x="6400800" y="2926080"/>
            <a:ext cx="3086100" cy="4114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2999232"/>
            <a:ext cx="2994660" cy="274320"/>
          </a:xfrm>
          <a:prstGeom prst="rect">
            <a:avLst/>
          </a:prstGeom>
          <a:noFill/>
        </p:spPr>
        <p:txBody>
          <a:bodyPr wrap="square">
            <a:spAutoFit/>
          </a:bodyPr>
          <a:lstStyle/>
          <a:p>
            <a:pPr algn="l"/>
            <a:r>
              <a:rPr sz="1400" b="1" i="0">
                <a:solidFill>
                  <a:srgbClr val="FDF8F1"/>
                </a:solidFill>
                <a:latin typeface="Calibri"/>
              </a:rPr>
              <a:t>27</a:t>
            </a:r>
          </a:p>
        </p:txBody>
      </p:sp>
      <p:sp>
        <p:nvSpPr>
          <p:cNvPr id="32" name="TextBox 31"/>
          <p:cNvSpPr txBox="1"/>
          <p:nvPr/>
        </p:nvSpPr>
        <p:spPr>
          <a:xfrm>
            <a:off x="9578340" y="2999232"/>
            <a:ext cx="4114800" cy="274320"/>
          </a:xfrm>
          <a:prstGeom prst="rect">
            <a:avLst/>
          </a:prstGeom>
          <a:noFill/>
        </p:spPr>
        <p:txBody>
          <a:bodyPr wrap="square">
            <a:spAutoFit/>
          </a:bodyPr>
          <a:lstStyle/>
          <a:p>
            <a:pPr algn="l"/>
            <a:r>
              <a:rPr sz="1100" b="0" i="0">
                <a:solidFill>
                  <a:srgbClr val="1A1612"/>
                </a:solidFill>
                <a:latin typeface="Calibri"/>
              </a:rPr>
              <a:t>Educación nutricional</a:t>
            </a:r>
          </a:p>
        </p:txBody>
      </p:sp>
      <p:sp>
        <p:nvSpPr>
          <p:cNvPr id="33" name="Rectangle 32"/>
          <p:cNvSpPr/>
          <p:nvPr/>
        </p:nvSpPr>
        <p:spPr>
          <a:xfrm>
            <a:off x="6400800" y="3429000"/>
            <a:ext cx="2400300" cy="411480"/>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92240" y="3502152"/>
            <a:ext cx="2308860" cy="274320"/>
          </a:xfrm>
          <a:prstGeom prst="rect">
            <a:avLst/>
          </a:prstGeom>
          <a:noFill/>
        </p:spPr>
        <p:txBody>
          <a:bodyPr wrap="square">
            <a:spAutoFit/>
          </a:bodyPr>
          <a:lstStyle/>
          <a:p>
            <a:pPr algn="l"/>
            <a:r>
              <a:rPr sz="1400" b="1" i="0">
                <a:solidFill>
                  <a:srgbClr val="FDF8F1"/>
                </a:solidFill>
                <a:latin typeface="Calibri"/>
              </a:rPr>
              <a:t>21</a:t>
            </a:r>
          </a:p>
        </p:txBody>
      </p:sp>
      <p:sp>
        <p:nvSpPr>
          <p:cNvPr id="35" name="TextBox 34"/>
          <p:cNvSpPr txBox="1"/>
          <p:nvPr/>
        </p:nvSpPr>
        <p:spPr>
          <a:xfrm>
            <a:off x="8892540" y="3502152"/>
            <a:ext cx="4114800" cy="274320"/>
          </a:xfrm>
          <a:prstGeom prst="rect">
            <a:avLst/>
          </a:prstGeom>
          <a:noFill/>
        </p:spPr>
        <p:txBody>
          <a:bodyPr wrap="square">
            <a:spAutoFit/>
          </a:bodyPr>
          <a:lstStyle/>
          <a:p>
            <a:pPr algn="l"/>
            <a:r>
              <a:rPr sz="1100" b="0" i="0">
                <a:solidFill>
                  <a:srgbClr val="1A1612"/>
                </a:solidFill>
                <a:latin typeface="Calibri"/>
              </a:rPr>
              <a:t>Menos horas de trabajo</a:t>
            </a:r>
          </a:p>
        </p:txBody>
      </p:sp>
      <p:sp>
        <p:nvSpPr>
          <p:cNvPr id="36" name="Rectangle 35"/>
          <p:cNvSpPr/>
          <p:nvPr/>
        </p:nvSpPr>
        <p:spPr>
          <a:xfrm>
            <a:off x="6400800" y="3931920"/>
            <a:ext cx="457200" cy="411480"/>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92240" y="4005072"/>
            <a:ext cx="365760" cy="274320"/>
          </a:xfrm>
          <a:prstGeom prst="rect">
            <a:avLst/>
          </a:prstGeom>
          <a:noFill/>
        </p:spPr>
        <p:txBody>
          <a:bodyPr wrap="square">
            <a:spAutoFit/>
          </a:bodyPr>
          <a:lstStyle/>
          <a:p>
            <a:pPr algn="l"/>
            <a:r>
              <a:rPr sz="1400" b="1" i="0">
                <a:solidFill>
                  <a:srgbClr val="FDF8F1"/>
                </a:solidFill>
                <a:latin typeface="Calibri"/>
              </a:rPr>
              <a:t>4</a:t>
            </a:r>
          </a:p>
        </p:txBody>
      </p:sp>
      <p:sp>
        <p:nvSpPr>
          <p:cNvPr id="38" name="TextBox 37"/>
          <p:cNvSpPr txBox="1"/>
          <p:nvPr/>
        </p:nvSpPr>
        <p:spPr>
          <a:xfrm>
            <a:off x="6949440" y="4005072"/>
            <a:ext cx="4114800" cy="274320"/>
          </a:xfrm>
          <a:prstGeom prst="rect">
            <a:avLst/>
          </a:prstGeom>
          <a:noFill/>
        </p:spPr>
        <p:txBody>
          <a:bodyPr wrap="square">
            <a:spAutoFit/>
          </a:bodyPr>
          <a:lstStyle/>
          <a:p>
            <a:pPr algn="l"/>
            <a:r>
              <a:rPr sz="1100" b="0" i="0">
                <a:solidFill>
                  <a:srgbClr val="1A1612"/>
                </a:solidFill>
                <a:latin typeface="Calibri"/>
              </a:rPr>
              <a:t>Otro</a:t>
            </a:r>
          </a:p>
        </p:txBody>
      </p:sp>
      <p:sp>
        <p:nvSpPr>
          <p:cNvPr id="39" name="Rectangle 38"/>
          <p:cNvSpPr/>
          <p:nvPr/>
        </p:nvSpPr>
        <p:spPr>
          <a:xfrm>
            <a:off x="548640" y="5212080"/>
            <a:ext cx="11064240" cy="9601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285232"/>
            <a:ext cx="10515600" cy="274320"/>
          </a:xfrm>
          <a:prstGeom prst="rect">
            <a:avLst/>
          </a:prstGeom>
          <a:noFill/>
        </p:spPr>
        <p:txBody>
          <a:bodyPr wrap="square">
            <a:spAutoFit/>
          </a:bodyPr>
          <a:lstStyle/>
          <a:p>
            <a:pPr algn="l"/>
            <a:r>
              <a:rPr sz="900" b="0" i="0">
                <a:solidFill>
                  <a:srgbClr val="B8862A"/>
                </a:solidFill>
                <a:latin typeface="Consolas"/>
              </a:rPr>
              <a:t>LO QUE LOS DATOS CONFIRMAN</a:t>
            </a:r>
          </a:p>
        </p:txBody>
      </p:sp>
      <p:sp>
        <p:nvSpPr>
          <p:cNvPr id="41" name="TextBox 40"/>
          <p:cNvSpPr txBox="1"/>
          <p:nvPr/>
        </p:nvSpPr>
        <p:spPr>
          <a:xfrm>
            <a:off x="731520" y="5532120"/>
            <a:ext cx="10515600" cy="320040"/>
          </a:xfrm>
          <a:prstGeom prst="rect">
            <a:avLst/>
          </a:prstGeom>
          <a:noFill/>
        </p:spPr>
        <p:txBody>
          <a:bodyPr wrap="square">
            <a:spAutoFit/>
          </a:bodyPr>
          <a:lstStyle/>
          <a:p>
            <a:pPr algn="l"/>
            <a:r>
              <a:rPr sz="1200" b="0" i="0">
                <a:solidFill>
                  <a:srgbClr val="FDF8F1"/>
                </a:solidFill>
                <a:latin typeface="Calibri"/>
              </a:rPr>
              <a:t>91.7% de padres están preocupados  ·  85% cambiaría hábitos con más tiempo  ·  Los niños compran papas, dulces y refrescos</a:t>
            </a:r>
          </a:p>
        </p:txBody>
      </p:sp>
      <p:sp>
        <p:nvSpPr>
          <p:cNvPr id="42" name="TextBox 41"/>
          <p:cNvSpPr txBox="1"/>
          <p:nvPr/>
        </p:nvSpPr>
        <p:spPr>
          <a:xfrm>
            <a:off x="731520" y="5852160"/>
            <a:ext cx="10515600" cy="274320"/>
          </a:xfrm>
          <a:prstGeom prst="rect">
            <a:avLst/>
          </a:prstGeom>
          <a:noFill/>
        </p:spPr>
        <p:txBody>
          <a:bodyPr wrap="square">
            <a:spAutoFit/>
          </a:bodyPr>
          <a:lstStyle/>
          <a:p>
            <a:pPr algn="l"/>
            <a:r>
              <a:rPr sz="1200" b="1" i="1">
                <a:solidFill>
                  <a:srgbClr val="B8862A"/>
                </a:solidFill>
                <a:latin typeface="Calibri"/>
              </a:rPr>
              <a:t>La intervención que proponemos es la que la propia población nombra.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EL MOMENTO DE CLARIDAD</a:t>
            </a:r>
          </a:p>
        </p:txBody>
      </p:sp>
      <p:sp>
        <p:nvSpPr>
          <p:cNvPr id="4" name="TextBox 3"/>
          <p:cNvSpPr txBox="1"/>
          <p:nvPr/>
        </p:nvSpPr>
        <p:spPr>
          <a:xfrm>
            <a:off x="1097280" y="1645920"/>
            <a:ext cx="10058400" cy="548640"/>
          </a:xfrm>
          <a:prstGeom prst="rect">
            <a:avLst/>
          </a:prstGeom>
          <a:noFill/>
        </p:spPr>
        <p:txBody>
          <a:bodyPr wrap="square">
            <a:spAutoFit/>
          </a:bodyPr>
          <a:lstStyle/>
          <a:p>
            <a:pPr algn="l"/>
            <a:r>
              <a:rPr sz="4400" b="1" i="1">
                <a:solidFill>
                  <a:srgbClr val="B8332A"/>
                </a:solidFill>
                <a:latin typeface="Calibri"/>
              </a:rPr>
              <a:t>"No tengo tiempo debido al trabajo."</a:t>
            </a:r>
          </a:p>
        </p:txBody>
      </p:sp>
      <p:sp>
        <p:nvSpPr>
          <p:cNvPr id="5" name="TextBox 4"/>
          <p:cNvSpPr txBox="1"/>
          <p:nvPr/>
        </p:nvSpPr>
        <p:spPr>
          <a:xfrm>
            <a:off x="1097280" y="2606040"/>
            <a:ext cx="10058400" cy="365760"/>
          </a:xfrm>
          <a:prstGeom prst="rect">
            <a:avLst/>
          </a:prstGeom>
          <a:noFill/>
        </p:spPr>
        <p:txBody>
          <a:bodyPr wrap="square">
            <a:spAutoFit/>
          </a:bodyPr>
          <a:lstStyle/>
          <a:p>
            <a:pPr algn="l"/>
            <a:r>
              <a:rPr sz="1400" b="0" i="1">
                <a:solidFill>
                  <a:srgbClr val="C8BEB0"/>
                </a:solidFill>
                <a:latin typeface="Calibri"/>
              </a:rPr>
              <a:t>— respuesta #1 entre 104 personas reales</a:t>
            </a:r>
          </a:p>
        </p:txBody>
      </p:sp>
      <p:sp>
        <p:nvSpPr>
          <p:cNvPr id="6" name="Rectangle 5"/>
          <p:cNvSpPr/>
          <p:nvPr/>
        </p:nvSpPr>
        <p:spPr>
          <a:xfrm>
            <a:off x="1097280" y="3291840"/>
            <a:ext cx="9966960" cy="18288"/>
          </a:xfrm>
          <a:prstGeom prst="rect">
            <a:avLst/>
          </a:prstGeom>
          <a:solidFill>
            <a:srgbClr val="B88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3657600"/>
            <a:ext cx="10058400" cy="1371600"/>
          </a:xfrm>
          <a:prstGeom prst="rect">
            <a:avLst/>
          </a:prstGeom>
          <a:noFill/>
        </p:spPr>
        <p:txBody>
          <a:bodyPr wrap="square">
            <a:spAutoFit/>
          </a:bodyPr>
          <a:lstStyle/>
          <a:p>
            <a:pPr algn="l"/>
            <a:r>
              <a:rPr sz="3400" b="1" i="0">
                <a:solidFill>
                  <a:srgbClr val="FDF8F1"/>
                </a:solidFill>
                <a:latin typeface="Calibri"/>
              </a:rPr>
              <a:t>La población no necesita permiso.
Necesita herramientas.</a:t>
            </a:r>
          </a:p>
        </p:txBody>
      </p:sp>
      <p:sp>
        <p:nvSpPr>
          <p:cNvPr id="8" name="TextBox 7"/>
          <p:cNvSpPr txBox="1"/>
          <p:nvPr/>
        </p:nvSpPr>
        <p:spPr>
          <a:xfrm>
            <a:off x="1097280" y="5486400"/>
            <a:ext cx="10058400" cy="548640"/>
          </a:xfrm>
          <a:prstGeom prst="rect">
            <a:avLst/>
          </a:prstGeom>
          <a:noFill/>
        </p:spPr>
        <p:txBody>
          <a:bodyPr wrap="square">
            <a:spAutoFit/>
          </a:bodyPr>
          <a:lstStyle/>
          <a:p>
            <a:pPr algn="l"/>
            <a:r>
              <a:rPr sz="1400" b="0" i="1">
                <a:solidFill>
                  <a:srgbClr val="B8862A"/>
                </a:solidFill>
                <a:latin typeface="Calibri"/>
              </a:rPr>
              <a:t>Por eso nuestra propuesta no regula. Refuerza el currículo que la NEM ya nombra — pero aún no equipa.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DASHBOARD 04  ·  LA INTERVENCIÓN</a:t>
            </a:r>
          </a:p>
        </p:txBody>
      </p:sp>
      <p:sp>
        <p:nvSpPr>
          <p:cNvPr id="4" name="TextBox 3"/>
          <p:cNvSpPr txBox="1"/>
          <p:nvPr/>
        </p:nvSpPr>
        <p:spPr>
          <a:xfrm>
            <a:off x="548640" y="685800"/>
            <a:ext cx="10972800" cy="457200"/>
          </a:xfrm>
          <a:prstGeom prst="rect">
            <a:avLst/>
          </a:prstGeom>
          <a:noFill/>
        </p:spPr>
        <p:txBody>
          <a:bodyPr wrap="square">
            <a:spAutoFit/>
          </a:bodyPr>
          <a:lstStyle/>
          <a:p>
            <a:pPr algn="l"/>
            <a:r>
              <a:rPr sz="2800" b="1" i="0">
                <a:solidFill>
                  <a:srgbClr val="1A1612"/>
                </a:solidFill>
                <a:latin typeface="Calibri"/>
              </a:rPr>
              <a:t>Cinco componentes. Sobre lo que ya existe.</a:t>
            </a:r>
          </a:p>
        </p:txBody>
      </p:sp>
      <p:sp>
        <p:nvSpPr>
          <p:cNvPr id="5" name="TextBox 4"/>
          <p:cNvSpPr txBox="1"/>
          <p:nvPr/>
        </p:nvSpPr>
        <p:spPr>
          <a:xfrm>
            <a:off x="548640" y="1188720"/>
            <a:ext cx="10972800" cy="320040"/>
          </a:xfrm>
          <a:prstGeom prst="rect">
            <a:avLst/>
          </a:prstGeom>
          <a:noFill/>
        </p:spPr>
        <p:txBody>
          <a:bodyPr wrap="square">
            <a:spAutoFit/>
          </a:bodyPr>
          <a:lstStyle/>
          <a:p>
            <a:pPr algn="l"/>
            <a:r>
              <a:rPr sz="1200" b="0" i="0">
                <a:solidFill>
                  <a:srgbClr val="7A7368"/>
                </a:solidFill>
                <a:latin typeface="Consolas"/>
              </a:rPr>
              <a:t>Secundaria (12–15 años)  ·  Refuerzo a EF y Vida Saludable  ·  Sin reforma legislativa</a:t>
            </a:r>
          </a:p>
        </p:txBody>
      </p:sp>
      <p:sp>
        <p:nvSpPr>
          <p:cNvPr id="6" name="Rectangle 5"/>
          <p:cNvSpPr/>
          <p:nvPr/>
        </p:nvSpPr>
        <p:spPr>
          <a:xfrm>
            <a:off x="457200" y="1828800"/>
            <a:ext cx="2194560" cy="6400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920240"/>
            <a:ext cx="2194560" cy="548640"/>
          </a:xfrm>
          <a:prstGeom prst="rect">
            <a:avLst/>
          </a:prstGeom>
          <a:noFill/>
        </p:spPr>
        <p:txBody>
          <a:bodyPr wrap="square">
            <a:spAutoFit/>
          </a:bodyPr>
          <a:lstStyle/>
          <a:p>
            <a:pPr algn="ctr"/>
            <a:r>
              <a:rPr sz="3800" b="1" i="0">
                <a:solidFill>
                  <a:srgbClr val="FDF8F1"/>
                </a:solidFill>
                <a:latin typeface="Calibri"/>
              </a:rPr>
              <a:t>A</a:t>
            </a:r>
          </a:p>
        </p:txBody>
      </p:sp>
      <p:sp>
        <p:nvSpPr>
          <p:cNvPr id="8" name="Rectangle 7"/>
          <p:cNvSpPr/>
          <p:nvPr/>
        </p:nvSpPr>
        <p:spPr>
          <a:xfrm>
            <a:off x="457200" y="2560320"/>
            <a:ext cx="2194560" cy="29260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651760"/>
            <a:ext cx="1965960" cy="457200"/>
          </a:xfrm>
          <a:prstGeom prst="rect">
            <a:avLst/>
          </a:prstGeom>
          <a:noFill/>
        </p:spPr>
        <p:txBody>
          <a:bodyPr wrap="square">
            <a:spAutoFit/>
          </a:bodyPr>
          <a:lstStyle/>
          <a:p>
            <a:pPr algn="ctr"/>
            <a:r>
              <a:rPr sz="1300" b="1" i="0">
                <a:solidFill>
                  <a:srgbClr val="B8862A"/>
                </a:solidFill>
                <a:latin typeface="Calibri"/>
              </a:rPr>
              <a:t>EF 2h → 3h</a:t>
            </a:r>
          </a:p>
        </p:txBody>
      </p:sp>
      <p:sp>
        <p:nvSpPr>
          <p:cNvPr id="10" name="TextBox 9"/>
          <p:cNvSpPr txBox="1"/>
          <p:nvPr/>
        </p:nvSpPr>
        <p:spPr>
          <a:xfrm>
            <a:off x="566928" y="3246120"/>
            <a:ext cx="1965960" cy="2103120"/>
          </a:xfrm>
          <a:prstGeom prst="rect">
            <a:avLst/>
          </a:prstGeom>
          <a:noFill/>
        </p:spPr>
        <p:txBody>
          <a:bodyPr wrap="square">
            <a:spAutoFit/>
          </a:bodyPr>
          <a:lstStyle/>
          <a:p>
            <a:pPr algn="ctr"/>
            <a:r>
              <a:rPr sz="1100" b="0" i="0">
                <a:solidFill>
                  <a:srgbClr val="FDF8F1"/>
                </a:solidFill>
                <a:latin typeface="Calibri"/>
              </a:rPr>
              <a:t>Alfabetización aplicada:
etiquetas, snack ≤20 MXN,
mapeo del entorno</a:t>
            </a:r>
          </a:p>
        </p:txBody>
      </p:sp>
      <p:sp>
        <p:nvSpPr>
          <p:cNvPr id="11" name="Rectangle 10"/>
          <p:cNvSpPr/>
          <p:nvPr/>
        </p:nvSpPr>
        <p:spPr>
          <a:xfrm>
            <a:off x="2788920" y="1828800"/>
            <a:ext cx="2194560" cy="6400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88920" y="1920240"/>
            <a:ext cx="2194560" cy="548640"/>
          </a:xfrm>
          <a:prstGeom prst="rect">
            <a:avLst/>
          </a:prstGeom>
          <a:noFill/>
        </p:spPr>
        <p:txBody>
          <a:bodyPr wrap="square">
            <a:spAutoFit/>
          </a:bodyPr>
          <a:lstStyle/>
          <a:p>
            <a:pPr algn="ctr"/>
            <a:r>
              <a:rPr sz="3800" b="1" i="0">
                <a:solidFill>
                  <a:srgbClr val="FDF8F1"/>
                </a:solidFill>
                <a:latin typeface="Calibri"/>
              </a:rPr>
              <a:t>B</a:t>
            </a:r>
          </a:p>
        </p:txBody>
      </p:sp>
      <p:sp>
        <p:nvSpPr>
          <p:cNvPr id="13" name="Rectangle 12"/>
          <p:cNvSpPr/>
          <p:nvPr/>
        </p:nvSpPr>
        <p:spPr>
          <a:xfrm>
            <a:off x="2788920" y="2560320"/>
            <a:ext cx="2194560" cy="29260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98648" y="2651760"/>
            <a:ext cx="1965960" cy="457200"/>
          </a:xfrm>
          <a:prstGeom prst="rect">
            <a:avLst/>
          </a:prstGeom>
          <a:noFill/>
        </p:spPr>
        <p:txBody>
          <a:bodyPr wrap="square">
            <a:spAutoFit/>
          </a:bodyPr>
          <a:lstStyle/>
          <a:p>
            <a:pPr algn="ctr"/>
            <a:r>
              <a:rPr sz="1300" b="1" i="0">
                <a:solidFill>
                  <a:srgbClr val="B8862A"/>
                </a:solidFill>
                <a:latin typeface="Calibri"/>
              </a:rPr>
              <a:t>Auditoría Tienditas</a:t>
            </a:r>
          </a:p>
        </p:txBody>
      </p:sp>
      <p:sp>
        <p:nvSpPr>
          <p:cNvPr id="15" name="TextBox 14"/>
          <p:cNvSpPr txBox="1"/>
          <p:nvPr/>
        </p:nvSpPr>
        <p:spPr>
          <a:xfrm>
            <a:off x="2898648" y="3246120"/>
            <a:ext cx="1965960" cy="2103120"/>
          </a:xfrm>
          <a:prstGeom prst="rect">
            <a:avLst/>
          </a:prstGeom>
          <a:noFill/>
        </p:spPr>
        <p:txBody>
          <a:bodyPr wrap="square">
            <a:spAutoFit/>
          </a:bodyPr>
          <a:lstStyle/>
          <a:p>
            <a:pPr algn="ctr"/>
            <a:r>
              <a:rPr sz="1100" b="0" i="0">
                <a:solidFill>
                  <a:srgbClr val="FDF8F1"/>
                </a:solidFill>
                <a:latin typeface="Calibri"/>
              </a:rPr>
              <a:t>Citizen science
30 min bisemanal
Dataset nacional</a:t>
            </a:r>
          </a:p>
        </p:txBody>
      </p:sp>
      <p:sp>
        <p:nvSpPr>
          <p:cNvPr id="16" name="Rectangle 15"/>
          <p:cNvSpPr/>
          <p:nvPr/>
        </p:nvSpPr>
        <p:spPr>
          <a:xfrm>
            <a:off x="5120640" y="1828800"/>
            <a:ext cx="2194560" cy="6400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920240"/>
            <a:ext cx="2194560" cy="548640"/>
          </a:xfrm>
          <a:prstGeom prst="rect">
            <a:avLst/>
          </a:prstGeom>
          <a:noFill/>
        </p:spPr>
        <p:txBody>
          <a:bodyPr wrap="square">
            <a:spAutoFit/>
          </a:bodyPr>
          <a:lstStyle/>
          <a:p>
            <a:pPr algn="ctr"/>
            <a:r>
              <a:rPr sz="3800" b="1" i="0">
                <a:solidFill>
                  <a:srgbClr val="FDF8F1"/>
                </a:solidFill>
                <a:latin typeface="Calibri"/>
              </a:rPr>
              <a:t>C</a:t>
            </a:r>
          </a:p>
        </p:txBody>
      </p:sp>
      <p:sp>
        <p:nvSpPr>
          <p:cNvPr id="18" name="Rectangle 17"/>
          <p:cNvSpPr/>
          <p:nvPr/>
        </p:nvSpPr>
        <p:spPr>
          <a:xfrm>
            <a:off x="5120640" y="2560320"/>
            <a:ext cx="2194560" cy="29260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30368" y="2651760"/>
            <a:ext cx="1965960" cy="457200"/>
          </a:xfrm>
          <a:prstGeom prst="rect">
            <a:avLst/>
          </a:prstGeom>
          <a:noFill/>
        </p:spPr>
        <p:txBody>
          <a:bodyPr wrap="square">
            <a:spAutoFit/>
          </a:bodyPr>
          <a:lstStyle/>
          <a:p>
            <a:pPr algn="ctr"/>
            <a:r>
              <a:rPr sz="1300" b="1" i="0">
                <a:solidFill>
                  <a:srgbClr val="B8862A"/>
                </a:solidFill>
                <a:latin typeface="Calibri"/>
              </a:rPr>
              <a:t>Capa Estructural</a:t>
            </a:r>
          </a:p>
        </p:txBody>
      </p:sp>
      <p:sp>
        <p:nvSpPr>
          <p:cNvPr id="20" name="TextBox 19"/>
          <p:cNvSpPr txBox="1"/>
          <p:nvPr/>
        </p:nvSpPr>
        <p:spPr>
          <a:xfrm>
            <a:off x="5230368" y="3246120"/>
            <a:ext cx="1965960" cy="2103120"/>
          </a:xfrm>
          <a:prstGeom prst="rect">
            <a:avLst/>
          </a:prstGeom>
          <a:noFill/>
        </p:spPr>
        <p:txBody>
          <a:bodyPr wrap="square">
            <a:spAutoFit/>
          </a:bodyPr>
          <a:lstStyle/>
          <a:p>
            <a:pPr algn="ctr"/>
            <a:r>
              <a:rPr sz="1100" b="0" i="0">
                <a:solidFill>
                  <a:srgbClr val="FDF8F1"/>
                </a:solidFill>
                <a:latin typeface="Calibri"/>
              </a:rPr>
              <a:t>Nudges co-diseñados
con tienderos
Punto de decisión</a:t>
            </a:r>
          </a:p>
        </p:txBody>
      </p:sp>
      <p:sp>
        <p:nvSpPr>
          <p:cNvPr id="21" name="Rectangle 20"/>
          <p:cNvSpPr/>
          <p:nvPr/>
        </p:nvSpPr>
        <p:spPr>
          <a:xfrm>
            <a:off x="7452360" y="1828800"/>
            <a:ext cx="2194560" cy="6400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52360" y="1920240"/>
            <a:ext cx="2194560" cy="548640"/>
          </a:xfrm>
          <a:prstGeom prst="rect">
            <a:avLst/>
          </a:prstGeom>
          <a:noFill/>
        </p:spPr>
        <p:txBody>
          <a:bodyPr wrap="square">
            <a:spAutoFit/>
          </a:bodyPr>
          <a:lstStyle/>
          <a:p>
            <a:pPr algn="ctr"/>
            <a:r>
              <a:rPr sz="3800" b="1" i="0">
                <a:solidFill>
                  <a:srgbClr val="FDF8F1"/>
                </a:solidFill>
                <a:latin typeface="Calibri"/>
              </a:rPr>
              <a:t>D</a:t>
            </a:r>
          </a:p>
        </p:txBody>
      </p:sp>
      <p:sp>
        <p:nvSpPr>
          <p:cNvPr id="23" name="Rectangle 22"/>
          <p:cNvSpPr/>
          <p:nvPr/>
        </p:nvSpPr>
        <p:spPr>
          <a:xfrm>
            <a:off x="7452360" y="2560320"/>
            <a:ext cx="2194560" cy="29260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62088" y="2651760"/>
            <a:ext cx="1965960" cy="457200"/>
          </a:xfrm>
          <a:prstGeom prst="rect">
            <a:avLst/>
          </a:prstGeom>
          <a:noFill/>
        </p:spPr>
        <p:txBody>
          <a:bodyPr wrap="square">
            <a:spAutoFit/>
          </a:bodyPr>
          <a:lstStyle/>
          <a:p>
            <a:pPr algn="ctr"/>
            <a:r>
              <a:rPr sz="1300" b="1" i="0">
                <a:solidFill>
                  <a:srgbClr val="B8862A"/>
                </a:solidFill>
                <a:latin typeface="Calibri"/>
              </a:rPr>
              <a:t>CPD Docente</a:t>
            </a:r>
          </a:p>
        </p:txBody>
      </p:sp>
      <p:sp>
        <p:nvSpPr>
          <p:cNvPr id="25" name="TextBox 24"/>
          <p:cNvSpPr txBox="1"/>
          <p:nvPr/>
        </p:nvSpPr>
        <p:spPr>
          <a:xfrm>
            <a:off x="7562088" y="3246120"/>
            <a:ext cx="1965960" cy="2103120"/>
          </a:xfrm>
          <a:prstGeom prst="rect">
            <a:avLst/>
          </a:prstGeom>
          <a:noFill/>
        </p:spPr>
        <p:txBody>
          <a:bodyPr wrap="square">
            <a:spAutoFit/>
          </a:bodyPr>
          <a:lstStyle/>
          <a:p>
            <a:pPr algn="ctr"/>
            <a:r>
              <a:rPr sz="1100" b="0" i="0">
                <a:solidFill>
                  <a:srgbClr val="FDF8F1"/>
                </a:solidFill>
                <a:latin typeface="Calibri"/>
              </a:rPr>
              <a:t>8 h asincrónica + 4h
Pedagogía de autonomía
Fidelidad medida</a:t>
            </a:r>
          </a:p>
        </p:txBody>
      </p:sp>
      <p:sp>
        <p:nvSpPr>
          <p:cNvPr id="26" name="Rectangle 25"/>
          <p:cNvSpPr/>
          <p:nvPr/>
        </p:nvSpPr>
        <p:spPr>
          <a:xfrm>
            <a:off x="9784080" y="1828800"/>
            <a:ext cx="2194560" cy="64008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0" y="1920240"/>
            <a:ext cx="2194560" cy="548640"/>
          </a:xfrm>
          <a:prstGeom prst="rect">
            <a:avLst/>
          </a:prstGeom>
          <a:noFill/>
        </p:spPr>
        <p:txBody>
          <a:bodyPr wrap="square">
            <a:spAutoFit/>
          </a:bodyPr>
          <a:lstStyle/>
          <a:p>
            <a:pPr algn="ctr"/>
            <a:r>
              <a:rPr sz="3800" b="1" i="0">
                <a:solidFill>
                  <a:srgbClr val="FDF8F1"/>
                </a:solidFill>
                <a:latin typeface="Calibri"/>
              </a:rPr>
              <a:t>E</a:t>
            </a:r>
          </a:p>
        </p:txBody>
      </p:sp>
      <p:sp>
        <p:nvSpPr>
          <p:cNvPr id="28" name="Rectangle 27"/>
          <p:cNvSpPr/>
          <p:nvPr/>
        </p:nvSpPr>
        <p:spPr>
          <a:xfrm>
            <a:off x="9784080" y="2560320"/>
            <a:ext cx="2194560" cy="292608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93807" y="2651760"/>
            <a:ext cx="1965960" cy="457200"/>
          </a:xfrm>
          <a:prstGeom prst="rect">
            <a:avLst/>
          </a:prstGeom>
          <a:noFill/>
        </p:spPr>
        <p:txBody>
          <a:bodyPr wrap="square">
            <a:spAutoFit/>
          </a:bodyPr>
          <a:lstStyle/>
          <a:p>
            <a:pPr algn="ctr"/>
            <a:r>
              <a:rPr sz="1300" b="1" i="0">
                <a:solidFill>
                  <a:srgbClr val="B8862A"/>
                </a:solidFill>
                <a:latin typeface="Calibri"/>
              </a:rPr>
              <a:t>Puente Familiar</a:t>
            </a:r>
          </a:p>
        </p:txBody>
      </p:sp>
      <p:sp>
        <p:nvSpPr>
          <p:cNvPr id="30" name="TextBox 29"/>
          <p:cNvSpPr txBox="1"/>
          <p:nvPr/>
        </p:nvSpPr>
        <p:spPr>
          <a:xfrm>
            <a:off x="9893807" y="3246120"/>
            <a:ext cx="1965960" cy="2103120"/>
          </a:xfrm>
          <a:prstGeom prst="rect">
            <a:avLst/>
          </a:prstGeom>
          <a:noFill/>
        </p:spPr>
        <p:txBody>
          <a:bodyPr wrap="square">
            <a:spAutoFit/>
          </a:bodyPr>
          <a:lstStyle/>
          <a:p>
            <a:pPr algn="ctr"/>
            <a:r>
              <a:rPr sz="1100" b="0" i="0">
                <a:solidFill>
                  <a:srgbClr val="FDF8F1"/>
                </a:solidFill>
                <a:latin typeface="Calibri"/>
              </a:rPr>
              <a:t>Invitación mensual
No es tarea
Respeta el tiempo</a:t>
            </a:r>
          </a:p>
        </p:txBody>
      </p:sp>
      <p:sp>
        <p:nvSpPr>
          <p:cNvPr id="31" name="Rectangle 30"/>
          <p:cNvSpPr/>
          <p:nvPr/>
        </p:nvSpPr>
        <p:spPr>
          <a:xfrm>
            <a:off x="457200" y="5669280"/>
            <a:ext cx="11338560" cy="7772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733288"/>
            <a:ext cx="3657600" cy="274320"/>
          </a:xfrm>
          <a:prstGeom prst="rect">
            <a:avLst/>
          </a:prstGeom>
          <a:noFill/>
        </p:spPr>
        <p:txBody>
          <a:bodyPr wrap="square">
            <a:spAutoFit/>
          </a:bodyPr>
          <a:lstStyle/>
          <a:p>
            <a:pPr algn="l"/>
            <a:r>
              <a:rPr sz="900" b="0" i="0">
                <a:solidFill>
                  <a:srgbClr val="B8332A"/>
                </a:solidFill>
                <a:latin typeface="Consolas"/>
              </a:rPr>
              <a:t>COSTO POR ESCUELA</a:t>
            </a:r>
          </a:p>
        </p:txBody>
      </p:sp>
      <p:sp>
        <p:nvSpPr>
          <p:cNvPr id="33" name="TextBox 32"/>
          <p:cNvSpPr txBox="1"/>
          <p:nvPr/>
        </p:nvSpPr>
        <p:spPr>
          <a:xfrm>
            <a:off x="640080" y="5989320"/>
            <a:ext cx="3657600" cy="365760"/>
          </a:xfrm>
          <a:prstGeom prst="rect">
            <a:avLst/>
          </a:prstGeom>
          <a:noFill/>
        </p:spPr>
        <p:txBody>
          <a:bodyPr wrap="square">
            <a:spAutoFit/>
          </a:bodyPr>
          <a:lstStyle/>
          <a:p>
            <a:pPr algn="l"/>
            <a:r>
              <a:rPr sz="1800" b="1" i="0">
                <a:solidFill>
                  <a:srgbClr val="1A1612"/>
                </a:solidFill>
                <a:latin typeface="Calibri"/>
              </a:rPr>
              <a:t>MXN 12,000 / año</a:t>
            </a:r>
          </a:p>
        </p:txBody>
      </p:sp>
      <p:sp>
        <p:nvSpPr>
          <p:cNvPr id="34" name="TextBox 33"/>
          <p:cNvSpPr txBox="1"/>
          <p:nvPr/>
        </p:nvSpPr>
        <p:spPr>
          <a:xfrm>
            <a:off x="4572000" y="5733288"/>
            <a:ext cx="3657600" cy="274320"/>
          </a:xfrm>
          <a:prstGeom prst="rect">
            <a:avLst/>
          </a:prstGeom>
          <a:noFill/>
        </p:spPr>
        <p:txBody>
          <a:bodyPr wrap="square">
            <a:spAutoFit/>
          </a:bodyPr>
          <a:lstStyle/>
          <a:p>
            <a:pPr algn="l"/>
            <a:r>
              <a:rPr sz="900" b="0" i="0">
                <a:solidFill>
                  <a:srgbClr val="B8332A"/>
                </a:solidFill>
                <a:latin typeface="Consolas"/>
              </a:rPr>
              <a:t>ESCALA NACIONAL</a:t>
            </a:r>
          </a:p>
        </p:txBody>
      </p:sp>
      <p:sp>
        <p:nvSpPr>
          <p:cNvPr id="35" name="TextBox 34"/>
          <p:cNvSpPr txBox="1"/>
          <p:nvPr/>
        </p:nvSpPr>
        <p:spPr>
          <a:xfrm>
            <a:off x="4572000" y="5989320"/>
            <a:ext cx="3657600" cy="365760"/>
          </a:xfrm>
          <a:prstGeom prst="rect">
            <a:avLst/>
          </a:prstGeom>
          <a:noFill/>
        </p:spPr>
        <p:txBody>
          <a:bodyPr wrap="square">
            <a:spAutoFit/>
          </a:bodyPr>
          <a:lstStyle/>
          <a:p>
            <a:pPr algn="l"/>
            <a:r>
              <a:rPr sz="1800" b="1" i="0">
                <a:solidFill>
                  <a:srgbClr val="1A1612"/>
                </a:solidFill>
                <a:latin typeface="Calibri"/>
              </a:rPr>
              <a:t>MXN 420 M / año</a:t>
            </a:r>
          </a:p>
        </p:txBody>
      </p:sp>
      <p:sp>
        <p:nvSpPr>
          <p:cNvPr id="36" name="TextBox 35"/>
          <p:cNvSpPr txBox="1"/>
          <p:nvPr/>
        </p:nvSpPr>
        <p:spPr>
          <a:xfrm>
            <a:off x="8686800" y="5733288"/>
            <a:ext cx="3657600" cy="274320"/>
          </a:xfrm>
          <a:prstGeom prst="rect">
            <a:avLst/>
          </a:prstGeom>
          <a:noFill/>
        </p:spPr>
        <p:txBody>
          <a:bodyPr wrap="square">
            <a:spAutoFit/>
          </a:bodyPr>
          <a:lstStyle/>
          <a:p>
            <a:pPr algn="l"/>
            <a:r>
              <a:rPr sz="900" b="0" i="0">
                <a:solidFill>
                  <a:srgbClr val="B8332A"/>
                </a:solidFill>
                <a:latin typeface="Consolas"/>
              </a:rPr>
              <a:t>% PRESUPUESTO SEP</a:t>
            </a:r>
          </a:p>
        </p:txBody>
      </p:sp>
      <p:sp>
        <p:nvSpPr>
          <p:cNvPr id="37" name="TextBox 36"/>
          <p:cNvSpPr txBox="1"/>
          <p:nvPr/>
        </p:nvSpPr>
        <p:spPr>
          <a:xfrm>
            <a:off x="8686800" y="5989320"/>
            <a:ext cx="3657600" cy="365760"/>
          </a:xfrm>
          <a:prstGeom prst="rect">
            <a:avLst/>
          </a:prstGeom>
          <a:noFill/>
        </p:spPr>
        <p:txBody>
          <a:bodyPr wrap="square">
            <a:spAutoFit/>
          </a:bodyPr>
          <a:lstStyle/>
          <a:p>
            <a:pPr algn="l"/>
            <a:r>
              <a:rPr sz="1800" b="1" i="0">
                <a:solidFill>
                  <a:srgbClr val="1A1612"/>
                </a:solidFill>
                <a:latin typeface="Calibri"/>
              </a:rPr>
              <a:t>&lt; 0.1%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DASHBOARD 05  ·  PROYECCIÓN MONTE CARLO</a:t>
            </a:r>
          </a:p>
        </p:txBody>
      </p:sp>
      <p:sp>
        <p:nvSpPr>
          <p:cNvPr id="4" name="TextBox 3"/>
          <p:cNvSpPr txBox="1"/>
          <p:nvPr/>
        </p:nvSpPr>
        <p:spPr>
          <a:xfrm>
            <a:off x="548640" y="685800"/>
            <a:ext cx="10972800" cy="457200"/>
          </a:xfrm>
          <a:prstGeom prst="rect">
            <a:avLst/>
          </a:prstGeom>
          <a:noFill/>
        </p:spPr>
        <p:txBody>
          <a:bodyPr wrap="square">
            <a:spAutoFit/>
          </a:bodyPr>
          <a:lstStyle/>
          <a:p>
            <a:pPr algn="l"/>
            <a:r>
              <a:rPr sz="2600" b="1" i="0">
                <a:solidFill>
                  <a:srgbClr val="1A1612"/>
                </a:solidFill>
                <a:latin typeface="Calibri"/>
              </a:rPr>
              <a:t>5,000 corridas. 5 escenarios. Honestidad sobre la incertidumbre.</a:t>
            </a:r>
          </a:p>
        </p:txBody>
      </p:sp>
      <p:sp>
        <p:nvSpPr>
          <p:cNvPr id="5" name="Rectangle 4"/>
          <p:cNvSpPr/>
          <p:nvPr/>
        </p:nvSpPr>
        <p:spPr>
          <a:xfrm>
            <a:off x="457200" y="1554480"/>
            <a:ext cx="2194560" cy="3200400"/>
          </a:xfrm>
          <a:prstGeom prst="rect">
            <a:avLst/>
          </a:prstGeom>
          <a:solidFill>
            <a:srgbClr val="B886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27632"/>
            <a:ext cx="2194560" cy="274320"/>
          </a:xfrm>
          <a:prstGeom prst="rect">
            <a:avLst/>
          </a:prstGeom>
          <a:noFill/>
        </p:spPr>
        <p:txBody>
          <a:bodyPr wrap="square">
            <a:spAutoFit/>
          </a:bodyPr>
          <a:lstStyle/>
          <a:p>
            <a:pPr algn="ctr"/>
            <a:r>
              <a:rPr sz="1000" b="1" i="0">
                <a:solidFill>
                  <a:srgbClr val="1A1612"/>
                </a:solidFill>
                <a:latin typeface="Consolas"/>
              </a:rPr>
              <a:t>OPTIMISTA</a:t>
            </a:r>
          </a:p>
        </p:txBody>
      </p:sp>
      <p:sp>
        <p:nvSpPr>
          <p:cNvPr id="7" name="TextBox 6"/>
          <p:cNvSpPr txBox="1"/>
          <p:nvPr/>
        </p:nvSpPr>
        <p:spPr>
          <a:xfrm>
            <a:off x="457200" y="2057400"/>
            <a:ext cx="2194560" cy="1280160"/>
          </a:xfrm>
          <a:prstGeom prst="rect">
            <a:avLst/>
          </a:prstGeom>
          <a:noFill/>
        </p:spPr>
        <p:txBody>
          <a:bodyPr wrap="square">
            <a:spAutoFit/>
          </a:bodyPr>
          <a:lstStyle/>
          <a:p>
            <a:pPr algn="ctr"/>
            <a:r>
              <a:rPr sz="4400" b="1" i="0">
                <a:solidFill>
                  <a:srgbClr val="1A1612"/>
                </a:solidFill>
                <a:latin typeface="Calibri"/>
              </a:rPr>
              <a:t>−0.95</a:t>
            </a:r>
          </a:p>
        </p:txBody>
      </p:sp>
      <p:sp>
        <p:nvSpPr>
          <p:cNvPr id="8" name="TextBox 7"/>
          <p:cNvSpPr txBox="1"/>
          <p:nvPr/>
        </p:nvSpPr>
        <p:spPr>
          <a:xfrm>
            <a:off x="457200" y="3383280"/>
            <a:ext cx="2194560" cy="365760"/>
          </a:xfrm>
          <a:prstGeom prst="rect">
            <a:avLst/>
          </a:prstGeom>
          <a:noFill/>
        </p:spPr>
        <p:txBody>
          <a:bodyPr wrap="square">
            <a:spAutoFit/>
          </a:bodyPr>
          <a:lstStyle/>
          <a:p>
            <a:pPr algn="ctr"/>
            <a:r>
              <a:rPr sz="1100" b="0" i="0">
                <a:solidFill>
                  <a:srgbClr val="1A1612"/>
                </a:solidFill>
                <a:latin typeface="Calibri"/>
              </a:rPr>
              <a:t>kg/m² ΔIMC</a:t>
            </a:r>
          </a:p>
        </p:txBody>
      </p:sp>
      <p:sp>
        <p:nvSpPr>
          <p:cNvPr id="9" name="TextBox 8"/>
          <p:cNvSpPr txBox="1"/>
          <p:nvPr/>
        </p:nvSpPr>
        <p:spPr>
          <a:xfrm>
            <a:off x="548640" y="3931920"/>
            <a:ext cx="2011680" cy="640080"/>
          </a:xfrm>
          <a:prstGeom prst="rect">
            <a:avLst/>
          </a:prstGeom>
          <a:noFill/>
        </p:spPr>
        <p:txBody>
          <a:bodyPr wrap="square">
            <a:spAutoFit/>
          </a:bodyPr>
          <a:lstStyle/>
          <a:p>
            <a:pPr algn="ctr"/>
            <a:r>
              <a:rPr sz="1000" b="0" i="1">
                <a:solidFill>
                  <a:srgbClr val="1A1612"/>
                </a:solidFill>
                <a:latin typeface="Calibri"/>
              </a:rPr>
              <a:t>Cota superior IC 95%</a:t>
            </a:r>
          </a:p>
        </p:txBody>
      </p:sp>
      <p:sp>
        <p:nvSpPr>
          <p:cNvPr id="10" name="Rectangle 9"/>
          <p:cNvSpPr/>
          <p:nvPr/>
        </p:nvSpPr>
        <p:spPr>
          <a:xfrm>
            <a:off x="2788920" y="1554480"/>
            <a:ext cx="2194560" cy="32004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88920" y="1627632"/>
            <a:ext cx="2194560" cy="274320"/>
          </a:xfrm>
          <a:prstGeom prst="rect">
            <a:avLst/>
          </a:prstGeom>
          <a:noFill/>
        </p:spPr>
        <p:txBody>
          <a:bodyPr wrap="square">
            <a:spAutoFit/>
          </a:bodyPr>
          <a:lstStyle/>
          <a:p>
            <a:pPr algn="ctr"/>
            <a:r>
              <a:rPr sz="1000" b="1" i="0">
                <a:solidFill>
                  <a:srgbClr val="FDF8F1"/>
                </a:solidFill>
                <a:latin typeface="Consolas"/>
              </a:rPr>
              <a:t>CENTRAL</a:t>
            </a:r>
          </a:p>
        </p:txBody>
      </p:sp>
      <p:sp>
        <p:nvSpPr>
          <p:cNvPr id="12" name="TextBox 11"/>
          <p:cNvSpPr txBox="1"/>
          <p:nvPr/>
        </p:nvSpPr>
        <p:spPr>
          <a:xfrm>
            <a:off x="2788920" y="2057400"/>
            <a:ext cx="2194560" cy="1280160"/>
          </a:xfrm>
          <a:prstGeom prst="rect">
            <a:avLst/>
          </a:prstGeom>
          <a:noFill/>
        </p:spPr>
        <p:txBody>
          <a:bodyPr wrap="square">
            <a:spAutoFit/>
          </a:bodyPr>
          <a:lstStyle/>
          <a:p>
            <a:pPr algn="ctr"/>
            <a:r>
              <a:rPr sz="4400" b="1" i="0">
                <a:solidFill>
                  <a:srgbClr val="FDF8F1"/>
                </a:solidFill>
                <a:latin typeface="Calibri"/>
              </a:rPr>
              <a:t>−0.68</a:t>
            </a:r>
          </a:p>
        </p:txBody>
      </p:sp>
      <p:sp>
        <p:nvSpPr>
          <p:cNvPr id="13" name="TextBox 12"/>
          <p:cNvSpPr txBox="1"/>
          <p:nvPr/>
        </p:nvSpPr>
        <p:spPr>
          <a:xfrm>
            <a:off x="2788920" y="3383280"/>
            <a:ext cx="2194560" cy="365760"/>
          </a:xfrm>
          <a:prstGeom prst="rect">
            <a:avLst/>
          </a:prstGeom>
          <a:noFill/>
        </p:spPr>
        <p:txBody>
          <a:bodyPr wrap="square">
            <a:spAutoFit/>
          </a:bodyPr>
          <a:lstStyle/>
          <a:p>
            <a:pPr algn="ctr"/>
            <a:r>
              <a:rPr sz="1100" b="0" i="0">
                <a:solidFill>
                  <a:srgbClr val="FDF8F1"/>
                </a:solidFill>
                <a:latin typeface="Calibri"/>
              </a:rPr>
              <a:t>kg/m² ΔIMC</a:t>
            </a:r>
          </a:p>
        </p:txBody>
      </p:sp>
      <p:sp>
        <p:nvSpPr>
          <p:cNvPr id="14" name="TextBox 13"/>
          <p:cNvSpPr txBox="1"/>
          <p:nvPr/>
        </p:nvSpPr>
        <p:spPr>
          <a:xfrm>
            <a:off x="2880360" y="3931920"/>
            <a:ext cx="2011680" cy="640080"/>
          </a:xfrm>
          <a:prstGeom prst="rect">
            <a:avLst/>
          </a:prstGeom>
          <a:noFill/>
        </p:spPr>
        <p:txBody>
          <a:bodyPr wrap="square">
            <a:spAutoFit/>
          </a:bodyPr>
          <a:lstStyle/>
          <a:p>
            <a:pPr algn="ctr"/>
            <a:r>
              <a:rPr sz="1000" b="0" i="1">
                <a:solidFill>
                  <a:srgbClr val="FDF8F1"/>
                </a:solidFill>
                <a:latin typeface="Calibri"/>
              </a:rPr>
              <a:t>Estimaciones puntuales</a:t>
            </a:r>
          </a:p>
        </p:txBody>
      </p:sp>
      <p:sp>
        <p:nvSpPr>
          <p:cNvPr id="15" name="Rectangle 14"/>
          <p:cNvSpPr/>
          <p:nvPr/>
        </p:nvSpPr>
        <p:spPr>
          <a:xfrm>
            <a:off x="5120640" y="1554480"/>
            <a:ext cx="2194560" cy="3200400"/>
          </a:xfrm>
          <a:prstGeom prst="rect">
            <a:avLst/>
          </a:prstGeom>
          <a:solidFill>
            <a:srgbClr val="7A73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0" y="1627632"/>
            <a:ext cx="2194560" cy="274320"/>
          </a:xfrm>
          <a:prstGeom prst="rect">
            <a:avLst/>
          </a:prstGeom>
          <a:noFill/>
        </p:spPr>
        <p:txBody>
          <a:bodyPr wrap="square">
            <a:spAutoFit/>
          </a:bodyPr>
          <a:lstStyle/>
          <a:p>
            <a:pPr algn="ctr"/>
            <a:r>
              <a:rPr sz="1000" b="1" i="0">
                <a:solidFill>
                  <a:srgbClr val="FDF8F1"/>
                </a:solidFill>
                <a:latin typeface="Consolas"/>
              </a:rPr>
              <a:t>CONSERVADOR</a:t>
            </a:r>
          </a:p>
        </p:txBody>
      </p:sp>
      <p:sp>
        <p:nvSpPr>
          <p:cNvPr id="17" name="TextBox 16"/>
          <p:cNvSpPr txBox="1"/>
          <p:nvPr/>
        </p:nvSpPr>
        <p:spPr>
          <a:xfrm>
            <a:off x="5120640" y="2057400"/>
            <a:ext cx="2194560" cy="1280160"/>
          </a:xfrm>
          <a:prstGeom prst="rect">
            <a:avLst/>
          </a:prstGeom>
          <a:noFill/>
        </p:spPr>
        <p:txBody>
          <a:bodyPr wrap="square">
            <a:spAutoFit/>
          </a:bodyPr>
          <a:lstStyle/>
          <a:p>
            <a:pPr algn="ctr"/>
            <a:r>
              <a:rPr sz="4400" b="1" i="0">
                <a:solidFill>
                  <a:srgbClr val="FDF8F1"/>
                </a:solidFill>
                <a:latin typeface="Calibri"/>
              </a:rPr>
              <a:t>−0.30</a:t>
            </a:r>
          </a:p>
        </p:txBody>
      </p:sp>
      <p:sp>
        <p:nvSpPr>
          <p:cNvPr id="18" name="TextBox 17"/>
          <p:cNvSpPr txBox="1"/>
          <p:nvPr/>
        </p:nvSpPr>
        <p:spPr>
          <a:xfrm>
            <a:off x="5120640" y="3383280"/>
            <a:ext cx="2194560" cy="365760"/>
          </a:xfrm>
          <a:prstGeom prst="rect">
            <a:avLst/>
          </a:prstGeom>
          <a:noFill/>
        </p:spPr>
        <p:txBody>
          <a:bodyPr wrap="square">
            <a:spAutoFit/>
          </a:bodyPr>
          <a:lstStyle/>
          <a:p>
            <a:pPr algn="ctr"/>
            <a:r>
              <a:rPr sz="1100" b="0" i="0">
                <a:solidFill>
                  <a:srgbClr val="FDF8F1"/>
                </a:solidFill>
                <a:latin typeface="Calibri"/>
              </a:rPr>
              <a:t>kg/m² ΔIMC</a:t>
            </a:r>
          </a:p>
        </p:txBody>
      </p:sp>
      <p:sp>
        <p:nvSpPr>
          <p:cNvPr id="19" name="TextBox 18"/>
          <p:cNvSpPr txBox="1"/>
          <p:nvPr/>
        </p:nvSpPr>
        <p:spPr>
          <a:xfrm>
            <a:off x="5212079" y="3931920"/>
            <a:ext cx="2011680" cy="640080"/>
          </a:xfrm>
          <a:prstGeom prst="rect">
            <a:avLst/>
          </a:prstGeom>
          <a:noFill/>
        </p:spPr>
        <p:txBody>
          <a:bodyPr wrap="square">
            <a:spAutoFit/>
          </a:bodyPr>
          <a:lstStyle/>
          <a:p>
            <a:pPr algn="ctr"/>
            <a:r>
              <a:rPr sz="1000" b="0" i="1">
                <a:solidFill>
                  <a:srgbClr val="FDF8F1"/>
                </a:solidFill>
                <a:latin typeface="Calibri"/>
              </a:rPr>
              <a:t>Cota inferior</a:t>
            </a:r>
          </a:p>
        </p:txBody>
      </p:sp>
      <p:sp>
        <p:nvSpPr>
          <p:cNvPr id="20" name="Rectangle 19"/>
          <p:cNvSpPr/>
          <p:nvPr/>
        </p:nvSpPr>
        <p:spPr>
          <a:xfrm>
            <a:off x="7452360" y="1554480"/>
            <a:ext cx="2194560" cy="32004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1627632"/>
            <a:ext cx="2194560" cy="274320"/>
          </a:xfrm>
          <a:prstGeom prst="rect">
            <a:avLst/>
          </a:prstGeom>
          <a:noFill/>
        </p:spPr>
        <p:txBody>
          <a:bodyPr wrap="square">
            <a:spAutoFit/>
          </a:bodyPr>
          <a:lstStyle/>
          <a:p>
            <a:pPr algn="ctr"/>
            <a:r>
              <a:rPr sz="1000" b="1" i="0">
                <a:solidFill>
                  <a:srgbClr val="FDF8F1"/>
                </a:solidFill>
                <a:latin typeface="Consolas"/>
              </a:rPr>
              <a:t>NULO</a:t>
            </a:r>
          </a:p>
        </p:txBody>
      </p:sp>
      <p:sp>
        <p:nvSpPr>
          <p:cNvPr id="22" name="TextBox 21"/>
          <p:cNvSpPr txBox="1"/>
          <p:nvPr/>
        </p:nvSpPr>
        <p:spPr>
          <a:xfrm>
            <a:off x="7452360" y="2057400"/>
            <a:ext cx="2194560" cy="1280160"/>
          </a:xfrm>
          <a:prstGeom prst="rect">
            <a:avLst/>
          </a:prstGeom>
          <a:noFill/>
        </p:spPr>
        <p:txBody>
          <a:bodyPr wrap="square">
            <a:spAutoFit/>
          </a:bodyPr>
          <a:lstStyle/>
          <a:p>
            <a:pPr algn="ctr"/>
            <a:r>
              <a:rPr sz="4400" b="1" i="0">
                <a:solidFill>
                  <a:srgbClr val="FDF8F1"/>
                </a:solidFill>
                <a:latin typeface="Calibri"/>
              </a:rPr>
              <a:t> 0.00</a:t>
            </a:r>
          </a:p>
        </p:txBody>
      </p:sp>
      <p:sp>
        <p:nvSpPr>
          <p:cNvPr id="23" name="TextBox 22"/>
          <p:cNvSpPr txBox="1"/>
          <p:nvPr/>
        </p:nvSpPr>
        <p:spPr>
          <a:xfrm>
            <a:off x="7452360" y="3383280"/>
            <a:ext cx="2194560" cy="365760"/>
          </a:xfrm>
          <a:prstGeom prst="rect">
            <a:avLst/>
          </a:prstGeom>
          <a:noFill/>
        </p:spPr>
        <p:txBody>
          <a:bodyPr wrap="square">
            <a:spAutoFit/>
          </a:bodyPr>
          <a:lstStyle/>
          <a:p>
            <a:pPr algn="ctr"/>
            <a:r>
              <a:rPr sz="1100" b="0" i="0">
                <a:solidFill>
                  <a:srgbClr val="FDF8F1"/>
                </a:solidFill>
                <a:latin typeface="Calibri"/>
              </a:rPr>
              <a:t>kg/m² ΔIMC</a:t>
            </a:r>
          </a:p>
        </p:txBody>
      </p:sp>
      <p:sp>
        <p:nvSpPr>
          <p:cNvPr id="24" name="TextBox 23"/>
          <p:cNvSpPr txBox="1"/>
          <p:nvPr/>
        </p:nvSpPr>
        <p:spPr>
          <a:xfrm>
            <a:off x="7543800" y="3931920"/>
            <a:ext cx="2011680" cy="640080"/>
          </a:xfrm>
          <a:prstGeom prst="rect">
            <a:avLst/>
          </a:prstGeom>
          <a:noFill/>
        </p:spPr>
        <p:txBody>
          <a:bodyPr wrap="square">
            <a:spAutoFit/>
          </a:bodyPr>
          <a:lstStyle/>
          <a:p>
            <a:pPr algn="ctr"/>
            <a:r>
              <a:rPr sz="1000" b="0" i="1">
                <a:solidFill>
                  <a:srgbClr val="FDF8F1"/>
                </a:solidFill>
                <a:latin typeface="Calibri"/>
              </a:rPr>
              <a:t>Resultado de largo plazo MA 2021</a:t>
            </a:r>
          </a:p>
        </p:txBody>
      </p:sp>
      <p:sp>
        <p:nvSpPr>
          <p:cNvPr id="25" name="Rectangle 24"/>
          <p:cNvSpPr/>
          <p:nvPr/>
        </p:nvSpPr>
        <p:spPr>
          <a:xfrm>
            <a:off x="9784080" y="1554480"/>
            <a:ext cx="2194560" cy="32004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80" y="1627632"/>
            <a:ext cx="2194560" cy="274320"/>
          </a:xfrm>
          <a:prstGeom prst="rect">
            <a:avLst/>
          </a:prstGeom>
          <a:noFill/>
        </p:spPr>
        <p:txBody>
          <a:bodyPr wrap="square">
            <a:spAutoFit/>
          </a:bodyPr>
          <a:lstStyle/>
          <a:p>
            <a:pPr algn="ctr"/>
            <a:r>
              <a:rPr sz="1000" b="1" i="0">
                <a:solidFill>
                  <a:srgbClr val="FDF8F1"/>
                </a:solidFill>
                <a:latin typeface="Consolas"/>
              </a:rPr>
              <a:t>BASELINE</a:t>
            </a:r>
          </a:p>
        </p:txBody>
      </p:sp>
      <p:sp>
        <p:nvSpPr>
          <p:cNvPr id="27" name="TextBox 26"/>
          <p:cNvSpPr txBox="1"/>
          <p:nvPr/>
        </p:nvSpPr>
        <p:spPr>
          <a:xfrm>
            <a:off x="9784080" y="2057400"/>
            <a:ext cx="2194560" cy="1280160"/>
          </a:xfrm>
          <a:prstGeom prst="rect">
            <a:avLst/>
          </a:prstGeom>
          <a:noFill/>
        </p:spPr>
        <p:txBody>
          <a:bodyPr wrap="square">
            <a:spAutoFit/>
          </a:bodyPr>
          <a:lstStyle/>
          <a:p>
            <a:pPr algn="ctr"/>
            <a:r>
              <a:rPr sz="4400" b="1" i="0">
                <a:solidFill>
                  <a:srgbClr val="FDF8F1"/>
                </a:solidFill>
                <a:latin typeface="Calibri"/>
              </a:rPr>
              <a:t>+0.45</a:t>
            </a:r>
          </a:p>
        </p:txBody>
      </p:sp>
      <p:sp>
        <p:nvSpPr>
          <p:cNvPr id="28" name="TextBox 27"/>
          <p:cNvSpPr txBox="1"/>
          <p:nvPr/>
        </p:nvSpPr>
        <p:spPr>
          <a:xfrm>
            <a:off x="9784080" y="3383280"/>
            <a:ext cx="2194560" cy="365760"/>
          </a:xfrm>
          <a:prstGeom prst="rect">
            <a:avLst/>
          </a:prstGeom>
          <a:noFill/>
        </p:spPr>
        <p:txBody>
          <a:bodyPr wrap="square">
            <a:spAutoFit/>
          </a:bodyPr>
          <a:lstStyle/>
          <a:p>
            <a:pPr algn="ctr"/>
            <a:r>
              <a:rPr sz="1100" b="0" i="0">
                <a:solidFill>
                  <a:srgbClr val="FDF8F1"/>
                </a:solidFill>
                <a:latin typeface="Calibri"/>
              </a:rPr>
              <a:t>kg/m² ΔIMC</a:t>
            </a:r>
          </a:p>
        </p:txBody>
      </p:sp>
      <p:sp>
        <p:nvSpPr>
          <p:cNvPr id="29" name="TextBox 28"/>
          <p:cNvSpPr txBox="1"/>
          <p:nvPr/>
        </p:nvSpPr>
        <p:spPr>
          <a:xfrm>
            <a:off x="9875519" y="3931920"/>
            <a:ext cx="2011680" cy="640080"/>
          </a:xfrm>
          <a:prstGeom prst="rect">
            <a:avLst/>
          </a:prstGeom>
          <a:noFill/>
        </p:spPr>
        <p:txBody>
          <a:bodyPr wrap="square">
            <a:spAutoFit/>
          </a:bodyPr>
          <a:lstStyle/>
          <a:p>
            <a:pPr algn="ctr"/>
            <a:r>
              <a:rPr sz="1000" b="0" i="1">
                <a:solidFill>
                  <a:srgbClr val="FDF8F1"/>
                </a:solidFill>
                <a:latin typeface="Calibri"/>
              </a:rPr>
              <a:t>Sin intervención</a:t>
            </a:r>
          </a:p>
        </p:txBody>
      </p:sp>
      <p:sp>
        <p:nvSpPr>
          <p:cNvPr id="30" name="TextBox 29"/>
          <p:cNvSpPr txBox="1"/>
          <p:nvPr/>
        </p:nvSpPr>
        <p:spPr>
          <a:xfrm>
            <a:off x="548640" y="5029200"/>
            <a:ext cx="10972800" cy="274320"/>
          </a:xfrm>
          <a:prstGeom prst="rect">
            <a:avLst/>
          </a:prstGeom>
          <a:noFill/>
        </p:spPr>
        <p:txBody>
          <a:bodyPr wrap="square">
            <a:spAutoFit/>
          </a:bodyPr>
          <a:lstStyle/>
          <a:p>
            <a:pPr algn="l"/>
            <a:r>
              <a:rPr sz="900" b="0" i="0">
                <a:solidFill>
                  <a:srgbClr val="B8862A"/>
                </a:solidFill>
                <a:latin typeface="Consolas"/>
              </a:rPr>
              <a:t>TAMAÑOS DE EFECTO DE META-ANÁLISIS PUBLICADOS</a:t>
            </a:r>
          </a:p>
        </p:txBody>
      </p:sp>
      <p:sp>
        <p:nvSpPr>
          <p:cNvPr id="31" name="Rectangle 30"/>
          <p:cNvSpPr/>
          <p:nvPr/>
        </p:nvSpPr>
        <p:spPr>
          <a:xfrm>
            <a:off x="457200" y="5349240"/>
            <a:ext cx="11338560" cy="777240"/>
          </a:xfrm>
          <a:prstGeom prst="rect">
            <a:avLst/>
          </a:prstGeom>
          <a:solidFill>
            <a:srgbClr val="F0E8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440680"/>
            <a:ext cx="10972800" cy="274320"/>
          </a:xfrm>
          <a:prstGeom prst="rect">
            <a:avLst/>
          </a:prstGeom>
          <a:noFill/>
        </p:spPr>
        <p:txBody>
          <a:bodyPr wrap="square">
            <a:spAutoFit/>
          </a:bodyPr>
          <a:lstStyle/>
          <a:p>
            <a:pPr algn="l"/>
            <a:r>
              <a:rPr sz="1100" b="0" i="0">
                <a:solidFill>
                  <a:srgbClr val="1A1612"/>
                </a:solidFill>
                <a:latin typeface="Calibri"/>
              </a:rPr>
              <a:t>Silveira 2013 (nutrición)  ·  Cochrane (AF y combinada)  ·  Brown 2020 (adolescentes)  ·  Meta-análisis 2021 (nulo)</a:t>
            </a:r>
          </a:p>
        </p:txBody>
      </p:sp>
      <p:sp>
        <p:nvSpPr>
          <p:cNvPr id="33" name="TextBox 32"/>
          <p:cNvSpPr txBox="1"/>
          <p:nvPr/>
        </p:nvSpPr>
        <p:spPr>
          <a:xfrm>
            <a:off x="640080" y="5760720"/>
            <a:ext cx="10972800" cy="320040"/>
          </a:xfrm>
          <a:prstGeom prst="rect">
            <a:avLst/>
          </a:prstGeom>
          <a:noFill/>
        </p:spPr>
        <p:txBody>
          <a:bodyPr wrap="square">
            <a:spAutoFit/>
          </a:bodyPr>
          <a:lstStyle/>
          <a:p>
            <a:pPr algn="l"/>
            <a:r>
              <a:rPr sz="1100" b="0" i="1">
                <a:solidFill>
                  <a:srgbClr val="B8332A"/>
                </a:solidFill>
                <a:latin typeface="Calibri"/>
              </a:rPr>
              <a:t>El escenario nulo se reporta explícitamente. No escondemos la posibilidad de que el efecto sobre IMC sea cero a largo plazo.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#1  ·  PERSPECTIVA: INVESTIGACIÓN EDUCATIVA</a:t>
            </a:r>
          </a:p>
        </p:txBody>
      </p:sp>
      <p:sp>
        <p:nvSpPr>
          <p:cNvPr id="4" name="Rectangle 3"/>
          <p:cNvSpPr/>
          <p:nvPr/>
        </p:nvSpPr>
        <p:spPr>
          <a:xfrm>
            <a:off x="1371600" y="1097280"/>
            <a:ext cx="9418320" cy="402336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097280"/>
            <a:ext cx="9418320" cy="40233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0" y="2560320"/>
            <a:ext cx="1188720" cy="9144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0" y="2697480"/>
            <a:ext cx="1188720" cy="640080"/>
          </a:xfrm>
          <a:prstGeom prst="rect">
            <a:avLst/>
          </a:prstGeom>
          <a:noFill/>
        </p:spPr>
        <p:txBody>
          <a:bodyPr wrap="square">
            <a:spAutoFit/>
          </a:bodyPr>
          <a:lstStyle/>
          <a:p>
            <a:pPr algn="ctr"/>
            <a:r>
              <a:rPr sz="4400" b="1" i="0">
                <a:solidFill>
                  <a:srgbClr val="FDF8F1"/>
                </a:solidFill>
                <a:latin typeface="Calibri"/>
              </a:rPr>
              <a:t>▶</a:t>
            </a:r>
          </a:p>
        </p:txBody>
      </p:sp>
      <p:sp>
        <p:nvSpPr>
          <p:cNvPr id="8" name="TextBox 7"/>
          <p:cNvSpPr txBox="1"/>
          <p:nvPr/>
        </p:nvSpPr>
        <p:spPr>
          <a:xfrm>
            <a:off x="1371600" y="3749039"/>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9" name="Rectangle 8"/>
          <p:cNvSpPr/>
          <p:nvPr/>
        </p:nvSpPr>
        <p:spPr>
          <a:xfrm>
            <a:off x="1371600" y="5394960"/>
            <a:ext cx="9418320" cy="91440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5440680"/>
            <a:ext cx="9144000" cy="365760"/>
          </a:xfrm>
          <a:prstGeom prst="rect">
            <a:avLst/>
          </a:prstGeom>
          <a:noFill/>
        </p:spPr>
        <p:txBody>
          <a:bodyPr wrap="square">
            <a:spAutoFit/>
          </a:bodyPr>
          <a:lstStyle/>
          <a:p>
            <a:pPr algn="l"/>
            <a:r>
              <a:rPr sz="2000" b="1" i="0">
                <a:solidFill>
                  <a:srgbClr val="1A1612"/>
                </a:solidFill>
                <a:latin typeface="Calibri"/>
              </a:rPr>
              <a:t>Dr. José Manuel Olais Govea</a:t>
            </a:r>
          </a:p>
        </p:txBody>
      </p:sp>
      <p:sp>
        <p:nvSpPr>
          <p:cNvPr id="11" name="TextBox 10"/>
          <p:cNvSpPr txBox="1"/>
          <p:nvPr/>
        </p:nvSpPr>
        <p:spPr>
          <a:xfrm>
            <a:off x="1554480" y="5852160"/>
            <a:ext cx="9144000" cy="274320"/>
          </a:xfrm>
          <a:prstGeom prst="rect">
            <a:avLst/>
          </a:prstGeom>
          <a:noFill/>
        </p:spPr>
        <p:txBody>
          <a:bodyPr wrap="square">
            <a:spAutoFit/>
          </a:bodyPr>
          <a:lstStyle/>
          <a:p>
            <a:pPr algn="l"/>
            <a:r>
              <a:rPr sz="1200" b="0" i="1">
                <a:solidFill>
                  <a:srgbClr val="7A7368"/>
                </a:solidFill>
                <a:latin typeface="Calibri"/>
              </a:rPr>
              <a:t>Investigador, Tec de Monterrey · Campus SLP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#2  ·  PERSPECTIVA: INVESTIGACIÓN EDUCATIVA</a:t>
            </a:r>
          </a:p>
        </p:txBody>
      </p:sp>
      <p:sp>
        <p:nvSpPr>
          <p:cNvPr id="4" name="Rectangle 3"/>
          <p:cNvSpPr/>
          <p:nvPr/>
        </p:nvSpPr>
        <p:spPr>
          <a:xfrm>
            <a:off x="1371600" y="1097280"/>
            <a:ext cx="9418320" cy="402336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097280"/>
            <a:ext cx="9418320" cy="40233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0" y="2560320"/>
            <a:ext cx="1188720" cy="9144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0" y="2697480"/>
            <a:ext cx="1188720" cy="640080"/>
          </a:xfrm>
          <a:prstGeom prst="rect">
            <a:avLst/>
          </a:prstGeom>
          <a:noFill/>
        </p:spPr>
        <p:txBody>
          <a:bodyPr wrap="square">
            <a:spAutoFit/>
          </a:bodyPr>
          <a:lstStyle/>
          <a:p>
            <a:pPr algn="ctr"/>
            <a:r>
              <a:rPr sz="4400" b="1" i="0">
                <a:solidFill>
                  <a:srgbClr val="FDF8F1"/>
                </a:solidFill>
                <a:latin typeface="Calibri"/>
              </a:rPr>
              <a:t>▶</a:t>
            </a:r>
          </a:p>
        </p:txBody>
      </p:sp>
      <p:sp>
        <p:nvSpPr>
          <p:cNvPr id="8" name="TextBox 7"/>
          <p:cNvSpPr txBox="1"/>
          <p:nvPr/>
        </p:nvSpPr>
        <p:spPr>
          <a:xfrm>
            <a:off x="1371600" y="3749039"/>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9" name="Rectangle 8"/>
          <p:cNvSpPr/>
          <p:nvPr/>
        </p:nvSpPr>
        <p:spPr>
          <a:xfrm>
            <a:off x="1371600" y="5394960"/>
            <a:ext cx="9418320" cy="91440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5440680"/>
            <a:ext cx="9144000" cy="365760"/>
          </a:xfrm>
          <a:prstGeom prst="rect">
            <a:avLst/>
          </a:prstGeom>
          <a:noFill/>
        </p:spPr>
        <p:txBody>
          <a:bodyPr wrap="square">
            <a:spAutoFit/>
          </a:bodyPr>
          <a:lstStyle/>
          <a:p>
            <a:pPr algn="l"/>
            <a:r>
              <a:rPr sz="2000" b="1" i="0">
                <a:solidFill>
                  <a:srgbClr val="1A1612"/>
                </a:solidFill>
                <a:latin typeface="Calibri"/>
              </a:rPr>
              <a:t>Dr. Leopoldo Zúñiga Silva</a:t>
            </a:r>
          </a:p>
        </p:txBody>
      </p:sp>
      <p:sp>
        <p:nvSpPr>
          <p:cNvPr id="11" name="TextBox 10"/>
          <p:cNvSpPr txBox="1"/>
          <p:nvPr/>
        </p:nvSpPr>
        <p:spPr>
          <a:xfrm>
            <a:off x="1554480" y="5852160"/>
            <a:ext cx="9144000" cy="274320"/>
          </a:xfrm>
          <a:prstGeom prst="rect">
            <a:avLst/>
          </a:prstGeom>
          <a:noFill/>
        </p:spPr>
        <p:txBody>
          <a:bodyPr wrap="square">
            <a:spAutoFit/>
          </a:bodyPr>
          <a:lstStyle/>
          <a:p>
            <a:pPr algn="l"/>
            <a:r>
              <a:rPr sz="1200" b="0" i="1">
                <a:solidFill>
                  <a:srgbClr val="7A7368"/>
                </a:solidFill>
                <a:latin typeface="Calibri"/>
              </a:rPr>
              <a:t>Investigador, Tec de Monterrey · Campus SLP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#3  ·  PERSPECTIVA: IMPLEMENTACIÓN INSTITUCIONAL</a:t>
            </a:r>
          </a:p>
        </p:txBody>
      </p:sp>
      <p:sp>
        <p:nvSpPr>
          <p:cNvPr id="4" name="Rectangle 3"/>
          <p:cNvSpPr/>
          <p:nvPr/>
        </p:nvSpPr>
        <p:spPr>
          <a:xfrm>
            <a:off x="1371600" y="1097280"/>
            <a:ext cx="9418320" cy="402336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097280"/>
            <a:ext cx="9418320" cy="40233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0" y="2560320"/>
            <a:ext cx="1188720" cy="9144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0" y="2697480"/>
            <a:ext cx="1188720" cy="640080"/>
          </a:xfrm>
          <a:prstGeom prst="rect">
            <a:avLst/>
          </a:prstGeom>
          <a:noFill/>
        </p:spPr>
        <p:txBody>
          <a:bodyPr wrap="square">
            <a:spAutoFit/>
          </a:bodyPr>
          <a:lstStyle/>
          <a:p>
            <a:pPr algn="ctr"/>
            <a:r>
              <a:rPr sz="4400" b="1" i="0">
                <a:solidFill>
                  <a:srgbClr val="FDF8F1"/>
                </a:solidFill>
                <a:latin typeface="Calibri"/>
              </a:rPr>
              <a:t>▶</a:t>
            </a:r>
          </a:p>
        </p:txBody>
      </p:sp>
      <p:sp>
        <p:nvSpPr>
          <p:cNvPr id="8" name="TextBox 7"/>
          <p:cNvSpPr txBox="1"/>
          <p:nvPr/>
        </p:nvSpPr>
        <p:spPr>
          <a:xfrm>
            <a:off x="1371600" y="3749039"/>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9" name="Rectangle 8"/>
          <p:cNvSpPr/>
          <p:nvPr/>
        </p:nvSpPr>
        <p:spPr>
          <a:xfrm>
            <a:off x="1371600" y="5394960"/>
            <a:ext cx="9418320" cy="91440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5440680"/>
            <a:ext cx="9144000" cy="365760"/>
          </a:xfrm>
          <a:prstGeom prst="rect">
            <a:avLst/>
          </a:prstGeom>
          <a:noFill/>
        </p:spPr>
        <p:txBody>
          <a:bodyPr wrap="square">
            <a:spAutoFit/>
          </a:bodyPr>
          <a:lstStyle/>
          <a:p>
            <a:pPr algn="l"/>
            <a:r>
              <a:rPr sz="2000" b="1" i="0">
                <a:solidFill>
                  <a:srgbClr val="1A1612"/>
                </a:solidFill>
                <a:latin typeface="Calibri"/>
              </a:rPr>
              <a:t>Director, Sec. Téc. 78</a:t>
            </a:r>
          </a:p>
        </p:txBody>
      </p:sp>
      <p:sp>
        <p:nvSpPr>
          <p:cNvPr id="11" name="TextBox 10"/>
          <p:cNvSpPr txBox="1"/>
          <p:nvPr/>
        </p:nvSpPr>
        <p:spPr>
          <a:xfrm>
            <a:off x="1554480" y="5852160"/>
            <a:ext cx="9144000" cy="274320"/>
          </a:xfrm>
          <a:prstGeom prst="rect">
            <a:avLst/>
          </a:prstGeom>
          <a:noFill/>
        </p:spPr>
        <p:txBody>
          <a:bodyPr wrap="square">
            <a:spAutoFit/>
          </a:bodyPr>
          <a:lstStyle/>
          <a:p>
            <a:pPr algn="l"/>
            <a:r>
              <a:rPr sz="1200" b="0" i="1">
                <a:solidFill>
                  <a:srgbClr val="7A7368"/>
                </a:solidFill>
                <a:latin typeface="Calibri"/>
              </a:rPr>
              <a:t>Matehuala, San Luis Potosí</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#4  ·  PERSPECTIVA: PRÁCTICA EN AULA</a:t>
            </a:r>
          </a:p>
        </p:txBody>
      </p:sp>
      <p:sp>
        <p:nvSpPr>
          <p:cNvPr id="4" name="Rectangle 3"/>
          <p:cNvSpPr/>
          <p:nvPr/>
        </p:nvSpPr>
        <p:spPr>
          <a:xfrm>
            <a:off x="1371600" y="1097280"/>
            <a:ext cx="9418320" cy="402336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097280"/>
            <a:ext cx="9418320" cy="40233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0" y="2560320"/>
            <a:ext cx="1188720" cy="9144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0" y="2697480"/>
            <a:ext cx="1188720" cy="640080"/>
          </a:xfrm>
          <a:prstGeom prst="rect">
            <a:avLst/>
          </a:prstGeom>
          <a:noFill/>
        </p:spPr>
        <p:txBody>
          <a:bodyPr wrap="square">
            <a:spAutoFit/>
          </a:bodyPr>
          <a:lstStyle/>
          <a:p>
            <a:pPr algn="ctr"/>
            <a:r>
              <a:rPr sz="4400" b="1" i="0">
                <a:solidFill>
                  <a:srgbClr val="FDF8F1"/>
                </a:solidFill>
                <a:latin typeface="Calibri"/>
              </a:rPr>
              <a:t>▶</a:t>
            </a:r>
          </a:p>
        </p:txBody>
      </p:sp>
      <p:sp>
        <p:nvSpPr>
          <p:cNvPr id="8" name="TextBox 7"/>
          <p:cNvSpPr txBox="1"/>
          <p:nvPr/>
        </p:nvSpPr>
        <p:spPr>
          <a:xfrm>
            <a:off x="1371600" y="3749039"/>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9" name="Rectangle 8"/>
          <p:cNvSpPr/>
          <p:nvPr/>
        </p:nvSpPr>
        <p:spPr>
          <a:xfrm>
            <a:off x="1371600" y="5394960"/>
            <a:ext cx="9418320" cy="91440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5440680"/>
            <a:ext cx="9144000" cy="365760"/>
          </a:xfrm>
          <a:prstGeom prst="rect">
            <a:avLst/>
          </a:prstGeom>
          <a:noFill/>
        </p:spPr>
        <p:txBody>
          <a:bodyPr wrap="square">
            <a:spAutoFit/>
          </a:bodyPr>
          <a:lstStyle/>
          <a:p>
            <a:pPr algn="l"/>
            <a:r>
              <a:rPr sz="2000" b="1" i="0">
                <a:solidFill>
                  <a:srgbClr val="1A1612"/>
                </a:solidFill>
                <a:latin typeface="Calibri"/>
              </a:rPr>
              <a:t>Docente de Secundaria</a:t>
            </a:r>
          </a:p>
        </p:txBody>
      </p:sp>
      <p:sp>
        <p:nvSpPr>
          <p:cNvPr id="11" name="TextBox 10"/>
          <p:cNvSpPr txBox="1"/>
          <p:nvPr/>
        </p:nvSpPr>
        <p:spPr>
          <a:xfrm>
            <a:off x="1554480" y="5852160"/>
            <a:ext cx="9144000" cy="274320"/>
          </a:xfrm>
          <a:prstGeom prst="rect">
            <a:avLst/>
          </a:prstGeom>
          <a:noFill/>
        </p:spPr>
        <p:txBody>
          <a:bodyPr wrap="square">
            <a:spAutoFit/>
          </a:bodyPr>
          <a:lstStyle/>
          <a:p>
            <a:pPr algn="l"/>
            <a:r>
              <a:rPr sz="1200" b="0" i="1">
                <a:solidFill>
                  <a:srgbClr val="7A7368"/>
                </a:solidFill>
                <a:latin typeface="Calibri"/>
              </a:rPr>
              <a:t>Practicante de fitness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612"/>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VIDEO  ·  VALIDADOR #5  ·  PERSPECTIVA: ESTUDIANTE / EDUCADOR EMERGENTE</a:t>
            </a:r>
          </a:p>
        </p:txBody>
      </p:sp>
      <p:sp>
        <p:nvSpPr>
          <p:cNvPr id="4" name="Rectangle 3"/>
          <p:cNvSpPr/>
          <p:nvPr/>
        </p:nvSpPr>
        <p:spPr>
          <a:xfrm>
            <a:off x="1371600" y="1097280"/>
            <a:ext cx="9418320" cy="4023360"/>
          </a:xfrm>
          <a:prstGeom prst="rect">
            <a:avLst/>
          </a:prstGeom>
          <a:solidFill>
            <a:srgbClr val="0D0B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371600" y="1097280"/>
            <a:ext cx="9418320" cy="402336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0" y="2560320"/>
            <a:ext cx="1188720" cy="914400"/>
          </a:xfrm>
          <a:prstGeom prst="rect">
            <a:avLst/>
          </a:prstGeom>
          <a:solidFill>
            <a:srgbClr val="B83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0" y="2697480"/>
            <a:ext cx="1188720" cy="640080"/>
          </a:xfrm>
          <a:prstGeom prst="rect">
            <a:avLst/>
          </a:prstGeom>
          <a:noFill/>
        </p:spPr>
        <p:txBody>
          <a:bodyPr wrap="square">
            <a:spAutoFit/>
          </a:bodyPr>
          <a:lstStyle/>
          <a:p>
            <a:pPr algn="ctr"/>
            <a:r>
              <a:rPr sz="4400" b="1" i="0">
                <a:solidFill>
                  <a:srgbClr val="FDF8F1"/>
                </a:solidFill>
                <a:latin typeface="Calibri"/>
              </a:rPr>
              <a:t>▶</a:t>
            </a:r>
          </a:p>
        </p:txBody>
      </p:sp>
      <p:sp>
        <p:nvSpPr>
          <p:cNvPr id="8" name="TextBox 7"/>
          <p:cNvSpPr txBox="1"/>
          <p:nvPr/>
        </p:nvSpPr>
        <p:spPr>
          <a:xfrm>
            <a:off x="1371600" y="3749039"/>
            <a:ext cx="9418320" cy="457200"/>
          </a:xfrm>
          <a:prstGeom prst="rect">
            <a:avLst/>
          </a:prstGeom>
          <a:noFill/>
        </p:spPr>
        <p:txBody>
          <a:bodyPr wrap="square">
            <a:spAutoFit/>
          </a:bodyPr>
          <a:lstStyle/>
          <a:p>
            <a:pPr algn="ctr"/>
            <a:r>
              <a:rPr sz="1400" b="0" i="0">
                <a:solidFill>
                  <a:srgbClr val="B8862A"/>
                </a:solidFill>
                <a:latin typeface="Consolas"/>
              </a:rPr>
              <a:t>[ INSERTAR VIDEO AQUÍ ]</a:t>
            </a:r>
          </a:p>
        </p:txBody>
      </p:sp>
      <p:sp>
        <p:nvSpPr>
          <p:cNvPr id="9" name="Rectangle 8"/>
          <p:cNvSpPr/>
          <p:nvPr/>
        </p:nvSpPr>
        <p:spPr>
          <a:xfrm>
            <a:off x="1371600" y="5394960"/>
            <a:ext cx="9418320" cy="914400"/>
          </a:xfrm>
          <a:prstGeom prst="rect">
            <a:avLst/>
          </a:prstGeom>
          <a:solidFill>
            <a:srgbClr val="FD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5440680"/>
            <a:ext cx="9144000" cy="365760"/>
          </a:xfrm>
          <a:prstGeom prst="rect">
            <a:avLst/>
          </a:prstGeom>
          <a:noFill/>
        </p:spPr>
        <p:txBody>
          <a:bodyPr wrap="square">
            <a:spAutoFit/>
          </a:bodyPr>
          <a:lstStyle/>
          <a:p>
            <a:pPr algn="l"/>
            <a:r>
              <a:rPr sz="2000" b="1" i="0">
                <a:solidFill>
                  <a:srgbClr val="1A1612"/>
                </a:solidFill>
                <a:latin typeface="Calibri"/>
              </a:rPr>
              <a:t>Estudiante de Educación</a:t>
            </a:r>
          </a:p>
        </p:txBody>
      </p:sp>
      <p:sp>
        <p:nvSpPr>
          <p:cNvPr id="11" name="TextBox 10"/>
          <p:cNvSpPr txBox="1"/>
          <p:nvPr/>
        </p:nvSpPr>
        <p:spPr>
          <a:xfrm>
            <a:off x="1554480" y="5852160"/>
            <a:ext cx="9144000" cy="274320"/>
          </a:xfrm>
          <a:prstGeom prst="rect">
            <a:avLst/>
          </a:prstGeom>
          <a:noFill/>
        </p:spPr>
        <p:txBody>
          <a:bodyPr wrap="square">
            <a:spAutoFit/>
          </a:bodyPr>
          <a:lstStyle/>
          <a:p>
            <a:pPr algn="l"/>
            <a:r>
              <a:rPr sz="1200" b="0" i="1">
                <a:solidFill>
                  <a:srgbClr val="7A7368"/>
                </a:solidFill>
                <a:latin typeface="Calibri"/>
              </a:rPr>
              <a:t>Background físico-deportivo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DF8F1"/>
        </a:solidFill>
        <a:effectLst/>
      </p:bgPr>
    </p:bg>
    <p:spTree>
      <p:nvGrpSpPr>
        <p:cNvPr id="1" name=""/>
        <p:cNvGrpSpPr/>
        <p:nvPr/>
      </p:nvGrpSpPr>
      <p:grpSpPr/>
      <p:sp>
        <p:nvSpPr>
          <p:cNvPr id="2" name="Rectangle 1"/>
          <p:cNvSpPr/>
          <p:nvPr/>
        </p:nvSpPr>
        <p:spPr>
          <a:xfrm>
            <a:off x="0" y="0"/>
            <a:ext cx="12188952" cy="50292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320040"/>
          </a:xfrm>
          <a:prstGeom prst="rect">
            <a:avLst/>
          </a:prstGeom>
          <a:noFill/>
        </p:spPr>
        <p:txBody>
          <a:bodyPr wrap="square">
            <a:spAutoFit/>
          </a:bodyPr>
          <a:lstStyle/>
          <a:p>
            <a:pPr algn="l"/>
            <a:r>
              <a:rPr sz="1000" b="0" i="0">
                <a:solidFill>
                  <a:srgbClr val="B8862A"/>
                </a:solidFill>
                <a:latin typeface="Consolas"/>
              </a:rPr>
              <a:t>CIERRE</a:t>
            </a:r>
          </a:p>
        </p:txBody>
      </p:sp>
      <p:sp>
        <p:nvSpPr>
          <p:cNvPr id="4" name="TextBox 3"/>
          <p:cNvSpPr txBox="1"/>
          <p:nvPr/>
        </p:nvSpPr>
        <p:spPr>
          <a:xfrm>
            <a:off x="548640" y="777240"/>
            <a:ext cx="10972800" cy="548640"/>
          </a:xfrm>
          <a:prstGeom prst="rect">
            <a:avLst/>
          </a:prstGeom>
          <a:noFill/>
        </p:spPr>
        <p:txBody>
          <a:bodyPr wrap="square">
            <a:spAutoFit/>
          </a:bodyPr>
          <a:lstStyle/>
          <a:p>
            <a:pPr algn="l"/>
            <a:r>
              <a:rPr sz="3600" b="1" i="0">
                <a:solidFill>
                  <a:srgbClr val="1A1612"/>
                </a:solidFill>
                <a:latin typeface="Calibri"/>
              </a:rPr>
              <a:t>De los datos a las aulas.</a:t>
            </a:r>
          </a:p>
        </p:txBody>
      </p:sp>
      <p:sp>
        <p:nvSpPr>
          <p:cNvPr id="5" name="TextBox 4"/>
          <p:cNvSpPr txBox="1"/>
          <p:nvPr/>
        </p:nvSpPr>
        <p:spPr>
          <a:xfrm>
            <a:off x="548640" y="1371600"/>
            <a:ext cx="10972800" cy="457200"/>
          </a:xfrm>
          <a:prstGeom prst="rect">
            <a:avLst/>
          </a:prstGeom>
          <a:noFill/>
        </p:spPr>
        <p:txBody>
          <a:bodyPr wrap="square">
            <a:spAutoFit/>
          </a:bodyPr>
          <a:lstStyle/>
          <a:p>
            <a:pPr algn="l"/>
            <a:r>
              <a:rPr sz="1800" b="0" i="1">
                <a:solidFill>
                  <a:srgbClr val="B8332A"/>
                </a:solidFill>
                <a:latin typeface="Calibri"/>
              </a:rPr>
              <a:t>Una propuesta basada en evidencia para la salud infantil en México.</a:t>
            </a:r>
          </a:p>
        </p:txBody>
      </p:sp>
      <p:sp>
        <p:nvSpPr>
          <p:cNvPr id="6" name="Rectangle 5"/>
          <p:cNvSpPr/>
          <p:nvPr/>
        </p:nvSpPr>
        <p:spPr>
          <a:xfrm>
            <a:off x="548640" y="2377440"/>
            <a:ext cx="3474720" cy="22860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2514600"/>
            <a:ext cx="3200400" cy="457200"/>
          </a:xfrm>
          <a:prstGeom prst="rect">
            <a:avLst/>
          </a:prstGeom>
          <a:noFill/>
        </p:spPr>
        <p:txBody>
          <a:bodyPr wrap="square">
            <a:spAutoFit/>
          </a:bodyPr>
          <a:lstStyle/>
          <a:p>
            <a:pPr algn="l"/>
            <a:r>
              <a:rPr sz="2000" b="1" i="0">
                <a:solidFill>
                  <a:srgbClr val="FDF8F1"/>
                </a:solidFill>
                <a:latin typeface="Calibri"/>
              </a:rPr>
              <a:t>Fernanda Ita</a:t>
            </a:r>
          </a:p>
        </p:txBody>
      </p:sp>
      <p:sp>
        <p:nvSpPr>
          <p:cNvPr id="8" name="TextBox 7"/>
          <p:cNvSpPr txBox="1"/>
          <p:nvPr/>
        </p:nvSpPr>
        <p:spPr>
          <a:xfrm>
            <a:off x="731520" y="3017520"/>
            <a:ext cx="3200400" cy="320040"/>
          </a:xfrm>
          <a:prstGeom prst="rect">
            <a:avLst/>
          </a:prstGeom>
          <a:noFill/>
        </p:spPr>
        <p:txBody>
          <a:bodyPr wrap="square">
            <a:spAutoFit/>
          </a:bodyPr>
          <a:lstStyle/>
          <a:p>
            <a:pPr algn="l"/>
            <a:r>
              <a:rPr sz="1000" b="0" i="0">
                <a:solidFill>
                  <a:srgbClr val="B8862A"/>
                </a:solidFill>
                <a:latin typeface="Consolas"/>
              </a:rPr>
              <a:t>Investigación Educativa</a:t>
            </a:r>
          </a:p>
        </p:txBody>
      </p:sp>
      <p:sp>
        <p:nvSpPr>
          <p:cNvPr id="9" name="TextBox 8"/>
          <p:cNvSpPr txBox="1"/>
          <p:nvPr/>
        </p:nvSpPr>
        <p:spPr>
          <a:xfrm>
            <a:off x="731520" y="3520440"/>
            <a:ext cx="3200400" cy="914400"/>
          </a:xfrm>
          <a:prstGeom prst="rect">
            <a:avLst/>
          </a:prstGeom>
          <a:noFill/>
        </p:spPr>
        <p:txBody>
          <a:bodyPr wrap="square">
            <a:spAutoFit/>
          </a:bodyPr>
          <a:lstStyle/>
          <a:p>
            <a:pPr algn="l"/>
            <a:r>
              <a:rPr sz="1200" b="0" i="0">
                <a:solidFill>
                  <a:srgbClr val="C8BEB0"/>
                </a:solidFill>
                <a:latin typeface="Calibri"/>
              </a:rPr>
              <a:t>Literatura · NEM · Codificación</a:t>
            </a:r>
          </a:p>
        </p:txBody>
      </p:sp>
      <p:sp>
        <p:nvSpPr>
          <p:cNvPr id="10" name="Rectangle 9"/>
          <p:cNvSpPr/>
          <p:nvPr/>
        </p:nvSpPr>
        <p:spPr>
          <a:xfrm>
            <a:off x="4572000" y="2377440"/>
            <a:ext cx="3474720" cy="22860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80" y="2514600"/>
            <a:ext cx="3200400" cy="457200"/>
          </a:xfrm>
          <a:prstGeom prst="rect">
            <a:avLst/>
          </a:prstGeom>
          <a:noFill/>
        </p:spPr>
        <p:txBody>
          <a:bodyPr wrap="square">
            <a:spAutoFit/>
          </a:bodyPr>
          <a:lstStyle/>
          <a:p>
            <a:pPr algn="l"/>
            <a:r>
              <a:rPr sz="2000" b="1" i="0">
                <a:solidFill>
                  <a:srgbClr val="FDF8F1"/>
                </a:solidFill>
                <a:latin typeface="Calibri"/>
              </a:rPr>
              <a:t>Alexis Marcos</a:t>
            </a:r>
          </a:p>
        </p:txBody>
      </p:sp>
      <p:sp>
        <p:nvSpPr>
          <p:cNvPr id="12" name="TextBox 11"/>
          <p:cNvSpPr txBox="1"/>
          <p:nvPr/>
        </p:nvSpPr>
        <p:spPr>
          <a:xfrm>
            <a:off x="4754880" y="3017520"/>
            <a:ext cx="3200400" cy="320040"/>
          </a:xfrm>
          <a:prstGeom prst="rect">
            <a:avLst/>
          </a:prstGeom>
          <a:noFill/>
        </p:spPr>
        <p:txBody>
          <a:bodyPr wrap="square">
            <a:spAutoFit/>
          </a:bodyPr>
          <a:lstStyle/>
          <a:p>
            <a:pPr algn="l"/>
            <a:r>
              <a:rPr sz="1000" b="0" i="0">
                <a:solidFill>
                  <a:srgbClr val="B8862A"/>
                </a:solidFill>
                <a:latin typeface="Consolas"/>
              </a:rPr>
              <a:t>Investigación de Campo</a:t>
            </a:r>
          </a:p>
        </p:txBody>
      </p:sp>
      <p:sp>
        <p:nvSpPr>
          <p:cNvPr id="13" name="TextBox 12"/>
          <p:cNvSpPr txBox="1"/>
          <p:nvPr/>
        </p:nvSpPr>
        <p:spPr>
          <a:xfrm>
            <a:off x="4754880" y="3520440"/>
            <a:ext cx="3200400" cy="914400"/>
          </a:xfrm>
          <a:prstGeom prst="rect">
            <a:avLst/>
          </a:prstGeom>
          <a:noFill/>
        </p:spPr>
        <p:txBody>
          <a:bodyPr wrap="square">
            <a:spAutoFit/>
          </a:bodyPr>
          <a:lstStyle/>
          <a:p>
            <a:pPr algn="l"/>
            <a:r>
              <a:rPr sz="1200" b="0" i="0">
                <a:solidFill>
                  <a:srgbClr val="C8BEB0"/>
                </a:solidFill>
                <a:latin typeface="Calibri"/>
              </a:rPr>
              <a:t>Encuesta · Expertos · Síntesis</a:t>
            </a:r>
          </a:p>
        </p:txBody>
      </p:sp>
      <p:sp>
        <p:nvSpPr>
          <p:cNvPr id="14" name="Rectangle 13"/>
          <p:cNvSpPr/>
          <p:nvPr/>
        </p:nvSpPr>
        <p:spPr>
          <a:xfrm>
            <a:off x="8595360" y="2377440"/>
            <a:ext cx="3474720" cy="2286000"/>
          </a:xfrm>
          <a:prstGeom prst="rect">
            <a:avLst/>
          </a:prstGeom>
          <a:solidFill>
            <a:srgbClr val="1A16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0" y="2514600"/>
            <a:ext cx="3200400" cy="457200"/>
          </a:xfrm>
          <a:prstGeom prst="rect">
            <a:avLst/>
          </a:prstGeom>
          <a:noFill/>
        </p:spPr>
        <p:txBody>
          <a:bodyPr wrap="square">
            <a:spAutoFit/>
          </a:bodyPr>
          <a:lstStyle/>
          <a:p>
            <a:pPr algn="l"/>
            <a:r>
              <a:rPr sz="2000" b="1" i="0">
                <a:solidFill>
                  <a:srgbClr val="FDF8F1"/>
                </a:solidFill>
                <a:latin typeface="Calibri"/>
              </a:rPr>
              <a:t>Carlos Torres</a:t>
            </a:r>
          </a:p>
        </p:txBody>
      </p:sp>
      <p:sp>
        <p:nvSpPr>
          <p:cNvPr id="16" name="TextBox 15"/>
          <p:cNvSpPr txBox="1"/>
          <p:nvPr/>
        </p:nvSpPr>
        <p:spPr>
          <a:xfrm>
            <a:off x="8778240" y="3017520"/>
            <a:ext cx="3200400" cy="320040"/>
          </a:xfrm>
          <a:prstGeom prst="rect">
            <a:avLst/>
          </a:prstGeom>
          <a:noFill/>
        </p:spPr>
        <p:txBody>
          <a:bodyPr wrap="square">
            <a:spAutoFit/>
          </a:bodyPr>
          <a:lstStyle/>
          <a:p>
            <a:pPr algn="l"/>
            <a:r>
              <a:rPr sz="1000" b="0" i="0">
                <a:solidFill>
                  <a:srgbClr val="B8862A"/>
                </a:solidFill>
                <a:latin typeface="Consolas"/>
              </a:rPr>
              <a:t>Modelado Cuantitativo</a:t>
            </a:r>
          </a:p>
        </p:txBody>
      </p:sp>
      <p:sp>
        <p:nvSpPr>
          <p:cNvPr id="17" name="TextBox 16"/>
          <p:cNvSpPr txBox="1"/>
          <p:nvPr/>
        </p:nvSpPr>
        <p:spPr>
          <a:xfrm>
            <a:off x="8778240" y="3520440"/>
            <a:ext cx="3200400" cy="914400"/>
          </a:xfrm>
          <a:prstGeom prst="rect">
            <a:avLst/>
          </a:prstGeom>
          <a:noFill/>
        </p:spPr>
        <p:txBody>
          <a:bodyPr wrap="square">
            <a:spAutoFit/>
          </a:bodyPr>
          <a:lstStyle/>
          <a:p>
            <a:pPr algn="l"/>
            <a:r>
              <a:rPr sz="1200" b="0" i="0">
                <a:solidFill>
                  <a:srgbClr val="C8BEB0"/>
                </a:solidFill>
                <a:latin typeface="Calibri"/>
              </a:rPr>
              <a:t>Regresión · Monte Carlo · Plataforma</a:t>
            </a:r>
          </a:p>
        </p:txBody>
      </p:sp>
      <p:sp>
        <p:nvSpPr>
          <p:cNvPr id="18" name="Rectangle 17"/>
          <p:cNvSpPr/>
          <p:nvPr/>
        </p:nvSpPr>
        <p:spPr>
          <a:xfrm>
            <a:off x="548640" y="4937760"/>
            <a:ext cx="11064240" cy="9144"/>
          </a:xfrm>
          <a:prstGeom prst="rect">
            <a:avLst/>
          </a:prstGeom>
          <a:solidFill>
            <a:srgbClr val="C8BE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120640"/>
            <a:ext cx="10972800" cy="365760"/>
          </a:xfrm>
          <a:prstGeom prst="rect">
            <a:avLst/>
          </a:prstGeom>
          <a:noFill/>
        </p:spPr>
        <p:txBody>
          <a:bodyPr wrap="square">
            <a:spAutoFit/>
          </a:bodyPr>
          <a:lstStyle/>
          <a:p>
            <a:pPr algn="ctr"/>
            <a:r>
              <a:rPr sz="1200" b="0" i="0">
                <a:solidFill>
                  <a:srgbClr val="7A7368"/>
                </a:solidFill>
                <a:latin typeface="Calibri"/>
              </a:rPr>
              <a:t>Tecnológico de Monterrey  ·  Campus San Luis Potosí  ·  Ingeniería Mecatrónica  ·  4° Semestre</a:t>
            </a:r>
          </a:p>
        </p:txBody>
      </p:sp>
      <p:sp>
        <p:nvSpPr>
          <p:cNvPr id="20" name="TextBox 19"/>
          <p:cNvSpPr txBox="1"/>
          <p:nvPr/>
        </p:nvSpPr>
        <p:spPr>
          <a:xfrm>
            <a:off x="548640" y="5532120"/>
            <a:ext cx="10972800" cy="457200"/>
          </a:xfrm>
          <a:prstGeom prst="rect">
            <a:avLst/>
          </a:prstGeom>
          <a:noFill/>
        </p:spPr>
        <p:txBody>
          <a:bodyPr wrap="square">
            <a:spAutoFit/>
          </a:bodyPr>
          <a:lstStyle/>
          <a:p>
            <a:pPr algn="ctr"/>
            <a:r>
              <a:rPr sz="1800" b="1" i="0">
                <a:solidFill>
                  <a:srgbClr val="1A1612"/>
                </a:solidFill>
                <a:latin typeface="Calibri"/>
              </a:rPr>
              <a:t>MIT LIFTLAB NATIONAL COMPETITION 2026</a:t>
            </a:r>
          </a:p>
        </p:txBody>
      </p:sp>
      <p:sp>
        <p:nvSpPr>
          <p:cNvPr id="21" name="TextBox 20"/>
          <p:cNvSpPr txBox="1"/>
          <p:nvPr/>
        </p:nvSpPr>
        <p:spPr>
          <a:xfrm>
            <a:off x="548640" y="5989320"/>
            <a:ext cx="10972800" cy="320040"/>
          </a:xfrm>
          <a:prstGeom prst="rect">
            <a:avLst/>
          </a:prstGeom>
          <a:noFill/>
        </p:spPr>
        <p:txBody>
          <a:bodyPr wrap="square">
            <a:spAutoFit/>
          </a:bodyPr>
          <a:lstStyle/>
          <a:p>
            <a:pPr algn="ctr"/>
            <a:r>
              <a:rPr sz="1000" b="0" i="0">
                <a:solidFill>
                  <a:srgbClr val="B8862A"/>
                </a:solidFill>
                <a:latin typeface="Consolas"/>
              </a:rPr>
              <a:t>DATOS ABIERTOS  ·  CÓDIGO ABIERTO  ·  LICENCIA MIT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